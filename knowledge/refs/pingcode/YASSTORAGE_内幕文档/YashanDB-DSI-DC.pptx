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310" r:id="rId3"/>
    <p:sldId id="321" r:id="rId5"/>
    <p:sldId id="312" r:id="rId6"/>
    <p:sldId id="314" r:id="rId7"/>
    <p:sldId id="315" r:id="rId8"/>
    <p:sldId id="316" r:id="rId9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ccv" initials="z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CE"/>
    <a:srgbClr val="0070C0"/>
    <a:srgbClr val="09BBDB"/>
    <a:srgbClr val="9DC3E6"/>
    <a:srgbClr val="F08F4F"/>
    <a:srgbClr val="1F4E79"/>
    <a:srgbClr val="1D5487"/>
    <a:srgbClr val="FFFFFF"/>
    <a:srgbClr val="5B9BD5"/>
    <a:srgbClr val="ED7D3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84297" autoAdjust="0"/>
  </p:normalViewPr>
  <p:slideViewPr>
    <p:cSldViewPr snapToGrid="0">
      <p:cViewPr varScale="1">
        <p:scale>
          <a:sx n="105" d="100"/>
          <a:sy n="105" d="100"/>
        </p:scale>
        <p:origin x="1306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10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cs typeface="Verdana" panose="020B060403050404020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cs typeface="Verdana" panose="020B0604030504040204" charset="0"/>
              </a:defRPr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Verdana" panose="020B060403050404020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每个锁的用途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tags" Target="../tags/tag7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2"/>
            </p:custDataLst>
          </p:nvPr>
        </p:nvSpPr>
        <p:spPr>
          <a:xfrm>
            <a:off x="5253990" y="2762885"/>
            <a:ext cx="6268085" cy="724535"/>
          </a:xfrm>
        </p:spPr>
        <p:txBody>
          <a:bodyPr lIns="101600" tIns="38100" rIns="25400" bIns="38100" anchor="t" anchorCtr="0">
            <a:noAutofit/>
          </a:bodyPr>
          <a:lstStyle>
            <a:lvl1pPr algn="ctr">
              <a:defRPr sz="4400" b="0" spc="60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879742" y="6349833"/>
            <a:ext cx="2700000" cy="316800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4116000" y="6349833"/>
            <a:ext cx="3960000" cy="3168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五边形 6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直角三角形 7"/>
          <p:cNvSpPr/>
          <p:nvPr userDrawn="1"/>
        </p:nvSpPr>
        <p:spPr>
          <a:xfrm rot="16200000">
            <a:off x="10759440" y="541464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五边形 8"/>
          <p:cNvSpPr/>
          <p:nvPr userDrawn="1"/>
        </p:nvSpPr>
        <p:spPr>
          <a:xfrm rot="10800000">
            <a:off x="5810250" y="-2540"/>
            <a:ext cx="63747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直角三角形 9"/>
          <p:cNvSpPr/>
          <p:nvPr userDrawn="1"/>
        </p:nvSpPr>
        <p:spPr>
          <a:xfrm rot="5400000">
            <a:off x="2496185" y="-2504440"/>
            <a:ext cx="1924050" cy="692785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69882" y="432000"/>
            <a:ext cx="10852237" cy="648000"/>
          </a:xfrm>
        </p:spPr>
        <p:txBody>
          <a:bodyPr vert="horz" lIns="101600" tIns="38100" rIns="76200" bIns="38100" rtlCol="0" anchor="ctr" anchorCtr="0">
            <a:no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2800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+mj-lt"/>
                <a:ea typeface="+mj-ea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69882" y="1296000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830060" y="1489710"/>
            <a:ext cx="4692015" cy="4847590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文本框 3"/>
          <p:cNvSpPr txBox="1"/>
          <p:nvPr userDrawn="1"/>
        </p:nvSpPr>
        <p:spPr>
          <a:xfrm>
            <a:off x="10261963" y="316572"/>
            <a:ext cx="1402080" cy="8299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 fontAlgn="base">
              <a:spcBef>
                <a:spcPct val="0"/>
              </a:spcBef>
              <a:spcAft>
                <a:spcPct val="0"/>
              </a:spcAft>
            </a:pPr>
            <a:r>
              <a:rPr lang="zh-CN" altLang="en-US" sz="48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微软雅黑" panose="020B0503020204020204" charset="-122"/>
                <a:ea typeface="微软雅黑" panose="020B0503020204020204" charset="-122"/>
                <a:cs typeface="Verdana" panose="020B0604030504040204" charset="0"/>
              </a:rPr>
              <a:t>目录</a:t>
            </a:r>
            <a:endParaRPr lang="zh-CN" altLang="en-US" sz="48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微软雅黑" panose="020B0503020204020204" charset="-122"/>
              <a:ea typeface="微软雅黑" panose="020B0503020204020204" charset="-122"/>
              <a:cs typeface="Verdana" panose="020B0604030504040204" charset="0"/>
            </a:endParaRPr>
          </a:p>
        </p:txBody>
      </p:sp>
      <p:sp>
        <p:nvSpPr>
          <p:cNvPr id="8" name="文本框 7"/>
          <p:cNvSpPr txBox="1"/>
          <p:nvPr userDrawn="1"/>
        </p:nvSpPr>
        <p:spPr>
          <a:xfrm>
            <a:off x="9281052" y="984642"/>
            <a:ext cx="2357591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fontAlgn="base">
              <a:spcBef>
                <a:spcPct val="0"/>
              </a:spcBef>
              <a:spcAft>
                <a:spcPct val="0"/>
              </a:spcAft>
            </a:pPr>
            <a:r>
              <a:rPr lang="en-US" altLang="zh-CN" sz="1600" dirty="0">
                <a:solidFill>
                  <a:schemeClr val="tx1"/>
                </a:solidFill>
                <a:latin typeface="+mj-lt"/>
                <a:ea typeface="微软雅黑" panose="020B0503020204020204" charset="-122"/>
                <a:cs typeface="+mj-lt"/>
              </a:rPr>
              <a:t>contents</a:t>
            </a:r>
            <a:endParaRPr lang="en-US" altLang="zh-CN" sz="1600" dirty="0">
              <a:solidFill>
                <a:schemeClr val="tx1"/>
              </a:solidFill>
              <a:latin typeface="+mj-lt"/>
              <a:ea typeface="微软雅黑" panose="020B0503020204020204" charset="-122"/>
              <a:cs typeface="+mj-lt"/>
            </a:endParaRPr>
          </a:p>
        </p:txBody>
      </p:sp>
      <p:cxnSp>
        <p:nvCxnSpPr>
          <p:cNvPr id="21" name="直接连接符 20"/>
          <p:cNvCxnSpPr/>
          <p:nvPr userDrawn="1"/>
        </p:nvCxnSpPr>
        <p:spPr>
          <a:xfrm>
            <a:off x="11054443" y="1393046"/>
            <a:ext cx="520700" cy="0"/>
          </a:xfrm>
          <a:prstGeom prst="line">
            <a:avLst/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直角三角形 8"/>
          <p:cNvSpPr/>
          <p:nvPr userDrawn="1"/>
        </p:nvSpPr>
        <p:spPr>
          <a:xfrm rot="5400000">
            <a:off x="790575" y="-790575"/>
            <a:ext cx="1389380" cy="2962910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直角三角形 4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8" name="五边形 7"/>
          <p:cNvSpPr/>
          <p:nvPr userDrawn="1"/>
        </p:nvSpPr>
        <p:spPr>
          <a:xfrm rot="10800000">
            <a:off x="1123950" y="63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直角三角形 8"/>
          <p:cNvSpPr/>
          <p:nvPr userDrawn="1"/>
        </p:nvSpPr>
        <p:spPr>
          <a:xfrm rot="5400000">
            <a:off x="772795" y="-768985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69882" y="1203925"/>
            <a:ext cx="10852237" cy="5041355"/>
          </a:xfrm>
        </p:spPr>
        <p:txBody>
          <a:bodyPr vert="horz" lIns="101600" tIns="0" rIns="82550" bIns="0" rtlCol="0">
            <a:noAutofit/>
          </a:bodyPr>
          <a:lstStyle>
            <a:lvl1pPr marL="228600" marR="0" lvl="0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1pPr>
            <a:lvl2pPr marL="685800" marR="0" lvl="1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143000" marR="0" lvl="2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1600200" marR="0" lvl="3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057400" marR="0" lvl="4" indent="-22860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1600" b="0" i="0" u="none" strike="noStrike" kern="1200" cap="none" spc="150" normalizeH="0" baseline="0" noProof="1" dirty="0">
                <a:solidFill>
                  <a:schemeClr val="tx1">
                    <a:lumMod val="75000"/>
                    <a:lumOff val="25000"/>
                  </a:schemeClr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fld id="{D997B5FA-0921-464F-AAE1-844C04324D75}" type="datetime1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>
                <a:cs typeface="Verdana" panose="020B0604030504040204" charset="0"/>
              </a:defRPr>
            </a:lvl1pPr>
          </a:lstStyle>
          <a:p>
            <a:r>
              <a:rPr lang="zh-CN" altLang="en-US"/>
              <a:t>深圳计算科学研究院CoD研究室</a:t>
            </a:r>
            <a:endParaRPr lang="zh-CN" altLang="en-US"/>
          </a:p>
        </p:txBody>
      </p:sp>
      <p:sp>
        <p:nvSpPr>
          <p:cNvPr id="14" name="五边形 13"/>
          <p:cNvSpPr/>
          <p:nvPr userDrawn="1"/>
        </p:nvSpPr>
        <p:spPr>
          <a:xfrm>
            <a:off x="3810" y="6245225"/>
            <a:ext cx="11061065" cy="612140"/>
          </a:xfrm>
          <a:prstGeom prst="homePlate">
            <a:avLst>
              <a:gd name="adj" fmla="val 181016"/>
            </a:avLst>
          </a:prstGeom>
          <a:gradFill>
            <a:gsLst>
              <a:gs pos="84000">
                <a:srgbClr val="1D5487">
                  <a:alpha val="100000"/>
                </a:srgbClr>
              </a:gs>
              <a:gs pos="15000">
                <a:schemeClr val="accent1"/>
              </a:gs>
              <a:gs pos="100000">
                <a:srgbClr val="034373"/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直角三角形 15"/>
          <p:cNvSpPr/>
          <p:nvPr userDrawn="1"/>
        </p:nvSpPr>
        <p:spPr>
          <a:xfrm rot="16200000">
            <a:off x="10752455" y="5425440"/>
            <a:ext cx="662940" cy="2201545"/>
          </a:xfrm>
          <a:prstGeom prst="rtTriangle">
            <a:avLst/>
          </a:prstGeom>
          <a:gradFill>
            <a:gsLst>
              <a:gs pos="15000">
                <a:srgbClr val="09BBDB"/>
              </a:gs>
              <a:gs pos="100000">
                <a:schemeClr val="accent1">
                  <a:lumMod val="75000"/>
                </a:schemeClr>
              </a:gs>
            </a:gsLst>
            <a:lin ang="54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11460480" y="6433820"/>
            <a:ext cx="6127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  <a:latin typeface="+mj-ea"/>
                <a:ea typeface="+mj-ea"/>
              </a:defRPr>
            </a:lvl1pPr>
          </a:lstStyle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tags" Target="../tags/tag8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KSO_TEMPLATE" hidden="1"/>
          <p:cNvSpPr/>
          <p:nvPr userDrawn="1">
            <p:custDataLst>
              <p:tags r:id="rId6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-1118235" y="580390"/>
            <a:ext cx="274955" cy="32004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9" name="矩形 8"/>
          <p:cNvSpPr/>
          <p:nvPr userDrawn="1"/>
        </p:nvSpPr>
        <p:spPr>
          <a:xfrm>
            <a:off x="-1128395" y="220980"/>
            <a:ext cx="285115" cy="320040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0" name="矩形 9"/>
          <p:cNvSpPr/>
          <p:nvPr userDrawn="1"/>
        </p:nvSpPr>
        <p:spPr>
          <a:xfrm>
            <a:off x="-1772920" y="580390"/>
            <a:ext cx="285115" cy="320040"/>
          </a:xfrm>
          <a:prstGeom prst="rect">
            <a:avLst/>
          </a:prstGeom>
          <a:solidFill>
            <a:srgbClr val="09BBD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1" name="矩形 10"/>
          <p:cNvSpPr/>
          <p:nvPr userDrawn="1"/>
        </p:nvSpPr>
        <p:spPr>
          <a:xfrm>
            <a:off x="-1443990" y="220980"/>
            <a:ext cx="285115" cy="320040"/>
          </a:xfrm>
          <a:prstGeom prst="rect">
            <a:avLst/>
          </a:prstGeom>
          <a:solidFill>
            <a:schemeClr val="accent1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2" name="矩形 11"/>
          <p:cNvSpPr/>
          <p:nvPr userDrawn="1"/>
        </p:nvSpPr>
        <p:spPr>
          <a:xfrm>
            <a:off x="-805180" y="220980"/>
            <a:ext cx="285115" cy="320040"/>
          </a:xfrm>
          <a:prstGeom prst="rect">
            <a:avLst/>
          </a:prstGeom>
          <a:solidFill>
            <a:schemeClr val="bg2">
              <a:lumMod val="5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3" name="矩形 12"/>
          <p:cNvSpPr/>
          <p:nvPr userDrawn="1"/>
        </p:nvSpPr>
        <p:spPr>
          <a:xfrm>
            <a:off x="-1437005" y="580390"/>
            <a:ext cx="285115" cy="32004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4" name="矩形 13"/>
          <p:cNvSpPr/>
          <p:nvPr userDrawn="1"/>
        </p:nvSpPr>
        <p:spPr>
          <a:xfrm>
            <a:off x="-800100" y="580390"/>
            <a:ext cx="285115" cy="320040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5" name="矩形 14"/>
          <p:cNvSpPr/>
          <p:nvPr userDrawn="1"/>
        </p:nvSpPr>
        <p:spPr>
          <a:xfrm>
            <a:off x="-1437005" y="1405890"/>
            <a:ext cx="285115" cy="32004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6" name="矩形 15"/>
          <p:cNvSpPr/>
          <p:nvPr userDrawn="1"/>
        </p:nvSpPr>
        <p:spPr>
          <a:xfrm>
            <a:off x="-1118235" y="1405890"/>
            <a:ext cx="285115" cy="32004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7" name="矩形 16"/>
          <p:cNvSpPr/>
          <p:nvPr userDrawn="1"/>
        </p:nvSpPr>
        <p:spPr>
          <a:xfrm>
            <a:off x="-1772920" y="1405890"/>
            <a:ext cx="285115" cy="320040"/>
          </a:xfrm>
          <a:prstGeom prst="rect">
            <a:avLst/>
          </a:prstGeom>
          <a:solidFill>
            <a:srgbClr val="F08F4F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8" name="矩形 17"/>
          <p:cNvSpPr/>
          <p:nvPr userDrawn="1"/>
        </p:nvSpPr>
        <p:spPr>
          <a:xfrm>
            <a:off x="-1760220" y="220980"/>
            <a:ext cx="285115" cy="32004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Verdana" panose="020B0604030504040204" charset="0"/>
            </a:endParaRPr>
          </a:p>
        </p:txBody>
      </p:sp>
      <p:sp>
        <p:nvSpPr>
          <p:cNvPr id="19" name="文本框 18"/>
          <p:cNvSpPr txBox="1"/>
          <p:nvPr userDrawn="1"/>
        </p:nvSpPr>
        <p:spPr>
          <a:xfrm>
            <a:off x="-1822450" y="-55880"/>
            <a:ext cx="123825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rPr>
              <a:t>配色方案：</a:t>
            </a:r>
            <a:endParaRPr lang="zh-CN" altLang="en-US" sz="1200" b="1" dirty="0">
              <a:solidFill>
                <a:schemeClr val="accent1">
                  <a:lumMod val="75000"/>
                </a:schemeClr>
              </a:solidFill>
              <a:cs typeface="Verdana" panose="020B0604030504040204" charset="0"/>
            </a:endParaRPr>
          </a:p>
        </p:txBody>
      </p:sp>
      <p:sp>
        <p:nvSpPr>
          <p:cNvPr id="20" name="文本框 19"/>
          <p:cNvSpPr txBox="1"/>
          <p:nvPr userDrawn="1"/>
        </p:nvSpPr>
        <p:spPr>
          <a:xfrm>
            <a:off x="-1838325" y="20053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字体：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1" name="文本框 20"/>
          <p:cNvSpPr txBox="1"/>
          <p:nvPr userDrawn="1"/>
        </p:nvSpPr>
        <p:spPr>
          <a:xfrm>
            <a:off x="-1873885" y="2209165"/>
            <a:ext cx="1588770" cy="6451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中文：微软雅黑</a:t>
            </a:r>
            <a:endParaRPr lang="zh-CN" altLang="en-US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西文：</a:t>
            </a:r>
            <a:r>
              <a:rPr lang="en-US" altLang="zh-CN" sz="1200" dirty="0">
                <a:cs typeface="Verdana" panose="020B0604030504040204" charset="0"/>
              </a:rPr>
              <a:t>Verdana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2" name="文本框 21"/>
          <p:cNvSpPr txBox="1"/>
          <p:nvPr userDrawn="1"/>
        </p:nvSpPr>
        <p:spPr>
          <a:xfrm>
            <a:off x="-1838325" y="307721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字号：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3" name="文本框 22"/>
          <p:cNvSpPr txBox="1"/>
          <p:nvPr userDrawn="1"/>
        </p:nvSpPr>
        <p:spPr>
          <a:xfrm>
            <a:off x="-1842770" y="3394075"/>
            <a:ext cx="1845945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封面页标题：</a:t>
            </a:r>
            <a:r>
              <a:rPr lang="en-US" altLang="zh-CN" sz="1200" dirty="0">
                <a:cs typeface="Verdana" panose="020B0604030504040204" charset="0"/>
              </a:rPr>
              <a:t>40-48px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正文标题：</a:t>
            </a:r>
            <a:r>
              <a:rPr lang="en-US" altLang="zh-CN" sz="1200" dirty="0">
                <a:cs typeface="Verdana" panose="020B0604030504040204" charset="0"/>
              </a:rPr>
              <a:t>16-24px</a:t>
            </a:r>
            <a:endParaRPr lang="en-US" altLang="zh-CN" sz="1200" dirty="0">
              <a:cs typeface="Verdana" panose="020B0604030504040204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200" dirty="0">
                <a:cs typeface="Verdana" panose="020B0604030504040204" charset="0"/>
              </a:rPr>
              <a:t>正文内容：</a:t>
            </a:r>
            <a:r>
              <a:rPr lang="en-US" altLang="zh-CN" sz="1200" dirty="0">
                <a:cs typeface="Verdana" panose="020B0604030504040204" charset="0"/>
              </a:rPr>
              <a:t>12-18px</a:t>
            </a:r>
            <a:endParaRPr lang="en-US" altLang="zh-CN" sz="1200" dirty="0">
              <a:cs typeface="Verdana" panose="020B0604030504040204" charset="0"/>
            </a:endParaRPr>
          </a:p>
        </p:txBody>
      </p:sp>
      <p:sp>
        <p:nvSpPr>
          <p:cNvPr id="24" name="文本框 23"/>
          <p:cNvSpPr txBox="1"/>
          <p:nvPr userDrawn="1"/>
        </p:nvSpPr>
        <p:spPr>
          <a:xfrm>
            <a:off x="-1838325" y="1065530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>
              <a:defRPr sz="1200" b="1">
                <a:solidFill>
                  <a:schemeClr val="accent1">
                    <a:lumMod val="75000"/>
                  </a:schemeClr>
                </a:solidFill>
                <a:cs typeface="Verdana" panose="020B0604030504040204" charset="0"/>
              </a:defRPr>
            </a:lvl1pPr>
          </a:lstStyle>
          <a:p>
            <a:pPr lvl="0"/>
            <a:r>
              <a:rPr lang="zh-CN" altLang="en-US" dirty="0"/>
              <a:t>强调色：</a:t>
            </a:r>
            <a:endParaRPr lang="zh-CN" altLang="en-US" dirty="0"/>
          </a:p>
        </p:txBody>
      </p:sp>
      <p:sp>
        <p:nvSpPr>
          <p:cNvPr id="25" name="文本框 24"/>
          <p:cNvSpPr txBox="1"/>
          <p:nvPr userDrawn="1"/>
        </p:nvSpPr>
        <p:spPr>
          <a:xfrm>
            <a:off x="-1760220" y="4460875"/>
            <a:ext cx="113982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>
                <a:solidFill>
                  <a:srgbClr val="2E689D"/>
                </a:solidFill>
                <a:cs typeface="Verdana" panose="020B0604030504040204" charset="0"/>
              </a:rPr>
              <a:t>形状：</a:t>
            </a:r>
            <a:endParaRPr lang="zh-CN" altLang="en-US" sz="1200" b="1" dirty="0">
              <a:solidFill>
                <a:srgbClr val="2E689D"/>
              </a:solidFill>
              <a:cs typeface="Verdana" panose="020B0604030504040204" charset="0"/>
            </a:endParaRPr>
          </a:p>
        </p:txBody>
      </p:sp>
      <p:sp>
        <p:nvSpPr>
          <p:cNvPr id="26" name="矩形 25"/>
          <p:cNvSpPr/>
          <p:nvPr userDrawn="1"/>
        </p:nvSpPr>
        <p:spPr>
          <a:xfrm>
            <a:off x="-1762125" y="5020945"/>
            <a:ext cx="1400810" cy="396240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形状一</a:t>
            </a:r>
            <a:endParaRPr lang="zh-CN" altLang="en-US" sz="1600"/>
          </a:p>
        </p:txBody>
      </p:sp>
      <p:sp>
        <p:nvSpPr>
          <p:cNvPr id="27" name="矩形 26"/>
          <p:cNvSpPr/>
          <p:nvPr userDrawn="1"/>
        </p:nvSpPr>
        <p:spPr>
          <a:xfrm>
            <a:off x="-1772920" y="5556250"/>
            <a:ext cx="1400810" cy="3962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形状二</a:t>
            </a:r>
            <a:endParaRPr lang="zh-CN" altLang="en-US" sz="1600"/>
          </a:p>
        </p:txBody>
      </p:sp>
      <p:sp>
        <p:nvSpPr>
          <p:cNvPr id="28" name="矩形 27"/>
          <p:cNvSpPr/>
          <p:nvPr userDrawn="1"/>
        </p:nvSpPr>
        <p:spPr>
          <a:xfrm>
            <a:off x="-1772920" y="6153150"/>
            <a:ext cx="1400810" cy="396240"/>
          </a:xfrm>
          <a:prstGeom prst="rect">
            <a:avLst/>
          </a:prstGeom>
          <a:solidFill>
            <a:srgbClr val="F08F4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形状三</a:t>
            </a:r>
            <a:endParaRPr lang="zh-CN" altLang="en-US" sz="1600"/>
          </a:p>
        </p:txBody>
      </p:sp>
      <p:sp>
        <p:nvSpPr>
          <p:cNvPr id="29" name="矩形 28"/>
          <p:cNvSpPr/>
          <p:nvPr userDrawn="1"/>
        </p:nvSpPr>
        <p:spPr>
          <a:xfrm>
            <a:off x="-1772920" y="6727190"/>
            <a:ext cx="1400810" cy="396240"/>
          </a:xfrm>
          <a:prstGeom prst="rect">
            <a:avLst/>
          </a:prstGeom>
          <a:solidFill>
            <a:srgbClr val="76717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形状四</a:t>
            </a:r>
            <a:endParaRPr lang="zh-CN" altLang="en-US" sz="1600"/>
          </a:p>
        </p:txBody>
      </p:sp>
      <p:sp>
        <p:nvSpPr>
          <p:cNvPr id="30" name="矩形 29"/>
          <p:cNvSpPr/>
          <p:nvPr userDrawn="1"/>
        </p:nvSpPr>
        <p:spPr>
          <a:xfrm>
            <a:off x="-1772920" y="7311390"/>
            <a:ext cx="1400810" cy="39624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/>
              <a:t>形状五</a:t>
            </a:r>
            <a:endParaRPr lang="zh-CN" altLang="en-US" sz="1600"/>
          </a:p>
        </p:txBody>
      </p:sp>
      <p:sp>
        <p:nvSpPr>
          <p:cNvPr id="31" name="矩形 30"/>
          <p:cNvSpPr/>
          <p:nvPr userDrawn="1"/>
        </p:nvSpPr>
        <p:spPr>
          <a:xfrm>
            <a:off x="-1772920" y="7856220"/>
            <a:ext cx="1400810" cy="396240"/>
          </a:xfrm>
          <a:prstGeom prst="rect">
            <a:avLst/>
          </a:prstGeom>
          <a:solidFill>
            <a:srgbClr val="F0F0F0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chemeClr val="tx1"/>
                </a:solidFill>
              </a:rPr>
              <a:t>形状六</a:t>
            </a:r>
            <a:endParaRPr lang="zh-CN" altLang="en-US" sz="1600">
              <a:solidFill>
                <a:schemeClr val="tx1"/>
              </a:solidFill>
            </a:endParaRPr>
          </a:p>
        </p:txBody>
      </p:sp>
      <p:sp>
        <p:nvSpPr>
          <p:cNvPr id="32" name="矩形 31"/>
          <p:cNvSpPr/>
          <p:nvPr userDrawn="1"/>
        </p:nvSpPr>
        <p:spPr>
          <a:xfrm>
            <a:off x="-1772920" y="8418830"/>
            <a:ext cx="1400810" cy="396240"/>
          </a:xfrm>
          <a:prstGeom prst="rect">
            <a:avLst/>
          </a:prstGeom>
          <a:solidFill>
            <a:srgbClr val="09BBDB"/>
          </a:solidFill>
          <a:ln>
            <a:solidFill>
              <a:srgbClr val="76717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600">
                <a:solidFill>
                  <a:srgbClr val="F0F0F0"/>
                </a:solidFill>
              </a:rPr>
              <a:t>形状七</a:t>
            </a:r>
            <a:endParaRPr lang="zh-CN" altLang="en-US" sz="1600">
              <a:solidFill>
                <a:srgbClr val="F0F0F0"/>
              </a:solid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2800" b="1" u="none" strike="noStrike" kern="1200" cap="none" spc="200" normalizeH="0">
          <a:solidFill>
            <a:schemeClr val="tx1"/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1609725" algn="l"/>
        </a:tabLst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1600" u="none" strike="noStrike" kern="1200" cap="none" spc="150" normalizeH="0" baseline="0">
          <a:solidFill>
            <a:schemeClr val="tx1"/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.xml"/><Relationship Id="rId3" Type="http://schemas.openxmlformats.org/officeDocument/2006/relationships/slideLayout" Target="../slideLayouts/slideLayout5.xml"/><Relationship Id="rId2" Type="http://schemas.openxmlformats.org/officeDocument/2006/relationships/image" Target="../media/image1.jpeg"/><Relationship Id="rId1" Type="http://schemas.openxmlformats.org/officeDocument/2006/relationships/tags" Target="../tags/tag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8455"/>
            <a:ext cx="2841483" cy="525785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en-US" altLang="zh-CN" sz="2800" b="1" kern="5000" spc="600" dirty="0" err="1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YashanDB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55943" y="5210055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5" name="矩形 4"/>
          <p:cNvSpPr/>
          <p:nvPr/>
        </p:nvSpPr>
        <p:spPr>
          <a:xfrm>
            <a:off x="4389869" y="2751760"/>
            <a:ext cx="23393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元数据</a:t>
            </a:r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管理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数据字典设计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55943" y="5210055"/>
            <a:ext cx="351211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00" name="图片 99"/>
          <p:cNvPicPr/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1918335" y="1008380"/>
            <a:ext cx="6109335" cy="34417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1" name="文本框 100"/>
          <p:cNvSpPr txBox="1"/>
          <p:nvPr/>
        </p:nvSpPr>
        <p:spPr>
          <a:xfrm>
            <a:off x="1771015" y="4513580"/>
            <a:ext cx="7576820" cy="1753235"/>
          </a:xfrm>
          <a:prstGeom prst="rect">
            <a:avLst/>
          </a:prstGeom>
          <a:noFill/>
          <a:ln w="9525">
            <a:noFill/>
          </a:ln>
        </p:spPr>
        <p:txBody>
          <a:bodyPr wrap="square">
            <a:spAutoFit/>
          </a:bodyPr>
          <a:p>
            <a:pPr indent="0"/>
            <a:r>
              <a:rPr lang="en-US" b="0">
                <a:latin typeface="+mn-ea"/>
                <a:cs typeface="+mn-ea"/>
              </a:rPr>
              <a:t>YashanDB</a:t>
            </a:r>
            <a:r>
              <a:rPr lang="zh-CN" b="0">
                <a:latin typeface="+mn-ea"/>
                <a:cs typeface="+mn-ea"/>
              </a:rPr>
              <a:t>内建诸多系统表用来管理数据库用户及数据库对象的元数据。其中，</a:t>
            </a:r>
            <a:r>
              <a:rPr lang="en-US" b="0">
                <a:latin typeface="+mn-ea"/>
                <a:cs typeface="+mn-ea"/>
              </a:rPr>
              <a:t>USER$</a:t>
            </a:r>
            <a:r>
              <a:rPr lang="zh-CN" b="0">
                <a:latin typeface="+mn-ea"/>
                <a:cs typeface="+mn-ea"/>
              </a:rPr>
              <a:t>系统表记录了数据库所有用户的元数据。</a:t>
            </a:r>
            <a:r>
              <a:rPr lang="en-US" b="0">
                <a:latin typeface="+mn-ea"/>
                <a:cs typeface="+mn-ea"/>
              </a:rPr>
              <a:t>OBJ$</a:t>
            </a:r>
            <a:r>
              <a:rPr lang="zh-CN" b="0">
                <a:latin typeface="+mn-ea"/>
                <a:cs typeface="+mn-ea"/>
              </a:rPr>
              <a:t>记录了所有数据库对象的元数据，</a:t>
            </a:r>
            <a:r>
              <a:rPr lang="en-US" b="0">
                <a:latin typeface="+mn-ea"/>
                <a:cs typeface="+mn-ea"/>
              </a:rPr>
              <a:t>TAB$</a:t>
            </a:r>
            <a:r>
              <a:rPr lang="zh-CN" b="0">
                <a:latin typeface="+mn-ea"/>
                <a:cs typeface="+mn-ea"/>
              </a:rPr>
              <a:t>记录了所有数据库表对象的元数据，</a:t>
            </a:r>
            <a:r>
              <a:rPr lang="en-US" b="0">
                <a:latin typeface="+mn-ea"/>
                <a:cs typeface="+mn-ea"/>
              </a:rPr>
              <a:t>COLUMN$</a:t>
            </a:r>
            <a:r>
              <a:rPr lang="zh-CN" b="0">
                <a:latin typeface="+mn-ea"/>
                <a:cs typeface="+mn-ea"/>
              </a:rPr>
              <a:t>记录了所有表对象的列的元数据。</a:t>
            </a:r>
            <a:r>
              <a:rPr lang="en-US" b="0">
                <a:latin typeface="+mn-ea"/>
                <a:cs typeface="+mn-ea"/>
              </a:rPr>
              <a:t>IND$</a:t>
            </a:r>
            <a:r>
              <a:rPr lang="zh-CN" b="0">
                <a:latin typeface="+mn-ea"/>
                <a:cs typeface="+mn-ea"/>
              </a:rPr>
              <a:t>记录了所有索引对象的元数据。这些系统表是</a:t>
            </a:r>
            <a:r>
              <a:rPr lang="en-US" b="0">
                <a:latin typeface="+mn-ea"/>
                <a:cs typeface="+mn-ea"/>
              </a:rPr>
              <a:t>YashanDB</a:t>
            </a:r>
            <a:r>
              <a:rPr lang="zh-CN" b="0">
                <a:latin typeface="+mn-ea"/>
                <a:cs typeface="+mn-ea"/>
              </a:rPr>
              <a:t>的核心系统表，除此之外，还有很多非核心系统表。</a:t>
            </a:r>
            <a:endParaRPr lang="zh-CN" altLang="en-US">
              <a:latin typeface="+mn-ea"/>
              <a:cs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对象入口管理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35580" y="838835"/>
            <a:ext cx="4987290" cy="3255010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文本框 9"/>
          <p:cNvSpPr txBox="1"/>
          <p:nvPr/>
        </p:nvSpPr>
        <p:spPr>
          <a:xfrm>
            <a:off x="989330" y="4413250"/>
            <a:ext cx="10213975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zh-CN" altLang="en-US"/>
              <a:t>YashanDB内存中常驻了所有可以独立存在的数据库对象的OBJ$元数据。这些对象包括表，视图，触发器，同义词，存储过程，PACKAGE等。为了能够在内存中快速查找这些对象，通过哈希桶的方式管理这些对象的信息。用户查找对象时都是通过schema和对象名字确定，数据库内部存在通过对象ID查找的场景。因此，元数据模块在内存中以用户维度，维护了对象名称的哈希桶，同时在全局维护了对象ID的哈希桶。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数据字典缓存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5375182" y="3092242"/>
            <a:ext cx="6575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bg1"/>
                </a:solidFill>
              </a:rPr>
              <a:t>团队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9715" y="1135380"/>
            <a:ext cx="5446395" cy="4246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>
              <a:lnSpc>
                <a:spcPct val="150000"/>
              </a:lnSpc>
              <a:buFont typeface="Arial" panose="020B0604020202020204" pitchFamily="34" charset="0"/>
              <a:buNone/>
            </a:pPr>
            <a:r>
              <a:t>YashanDB在操作数据库对象时，需要将该对象的数据字典加载到内存中，如使用表时，需要加载表的对象信息，列信息，索引信息等等。为了加速数据字典的访问，YashanDB将对象的数据字典以逻辑结构缓存在数据字典缓存池中。当会话A访问表1时，假如数据字典缓存池中没有表1的数据字典信息，会话A需要将表1的数据字典信息从系统表中读取进内存，此时数据字典缓存池会将表1的数据字典缓存。当会话B访问表1时，数据字典中已经存在表1的信息，无需再次读取系统表。</a:t>
            </a:r>
          </a:p>
        </p:txBody>
      </p:sp>
      <p:pic>
        <p:nvPicPr>
          <p:cNvPr id="5" name="图片 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05793" y="610553"/>
            <a:ext cx="5272405" cy="56368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32029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多版本数据字典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259715" y="1007110"/>
            <a:ext cx="6007735" cy="4661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对象数据字典缓存是全局的，当使用某个对象时，需要找到对象的入口，继而找到对象的数据字典以进行后续操作。当执行对象的DDL修改了对象的数据字典，缓存池中的数据字典标记为失效状态，对象入口与数据字典缓存断连。对于失效状态的数据字典，可以进行查询操作，不可以进行修改操作。失效状态的数据字典内存是由最后一个使用该字典的用户释放。</a:t>
            </a:r>
            <a:endParaRPr lang="zh-CN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lang="zh-CN" altLang="zh-CN" sz="1800" kern="100" dirty="0">
                <a:effectLst/>
                <a:latin typeface="+mn-ea"/>
                <a:cs typeface="Times New Roman" panose="02020603050405020304" pitchFamily="18" charset="0"/>
              </a:rPr>
              <a:t>因为对象入口与失效的数据字典已经断连，因此后续的数据字典访问请求不会再访问到失效的数据字典，此时会重新加载数据字典信息，形成新版本的缓存，因此数据字典缓存池中存在同一个对象的多个版本的数据字典信息。</a:t>
            </a:r>
            <a:endParaRPr lang="zh-CN" altLang="zh-CN" sz="1800" kern="100" dirty="0">
              <a:effectLst/>
              <a:latin typeface="+mn-ea"/>
              <a:cs typeface="Times New Roman" panose="02020603050405020304" pitchFamily="18" charset="0"/>
            </a:endParaRPr>
          </a:p>
        </p:txBody>
      </p:sp>
      <p:pic>
        <p:nvPicPr>
          <p:cNvPr id="6" name="图片 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52540" y="771843"/>
            <a:ext cx="4805680" cy="4848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59898" y="89093"/>
            <a:ext cx="2771140" cy="524510"/>
          </a:xfrm>
          <a:prstGeom prst="rect">
            <a:avLst/>
          </a:prstGeom>
        </p:spPr>
        <p:txBody>
          <a:bodyPr wrap="none" lIns="90170" tIns="46990" rIns="90170" bIns="46990" anchor="ctr" anchorCtr="0">
            <a:spAutoFit/>
          </a:bodyPr>
          <a:lstStyle/>
          <a:p>
            <a:pPr algn="l"/>
            <a:r>
              <a:rPr lang="zh-CN" altLang="en-US" sz="2800" b="1" kern="5000" spc="600" dirty="0">
                <a:gradFill>
                  <a:gsLst>
                    <a:gs pos="0">
                      <a:srgbClr val="007BD3"/>
                    </a:gs>
                    <a:gs pos="100000">
                      <a:srgbClr val="034373"/>
                    </a:gs>
                  </a:gsLst>
                  <a:lin scaled="0"/>
                </a:gradFill>
                <a:latin typeface="Verdana" panose="020B0604030504040204" charset="0"/>
                <a:ea typeface="微软雅黑" panose="020B0503020204020204" charset="-122"/>
                <a:cs typeface="Verdana" panose="020B0604030504040204" charset="0"/>
                <a:sym typeface="Verdana" panose="020B0604030504040204" charset="0"/>
              </a:rPr>
              <a:t>数据字典回收</a:t>
            </a:r>
            <a:endParaRPr lang="zh-CN" altLang="en-US" sz="2800" b="1" kern="5000" spc="600" dirty="0">
              <a:gradFill>
                <a:gsLst>
                  <a:gs pos="0">
                    <a:srgbClr val="007BD3"/>
                  </a:gs>
                  <a:gs pos="100000">
                    <a:srgbClr val="034373"/>
                  </a:gs>
                </a:gsLst>
                <a:lin scaled="0"/>
              </a:gradFill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19" name="灯片编号占位符 18"/>
          <p:cNvSpPr>
            <a:spLocks noGrp="1"/>
          </p:cNvSpPr>
          <p:nvPr>
            <p:ph type="sldNum" sz="quarter" idx="4"/>
          </p:nvPr>
        </p:nvSpPr>
        <p:spPr>
          <a:xfrm>
            <a:off x="10622735" y="6266905"/>
            <a:ext cx="612775" cy="365125"/>
          </a:xfrm>
        </p:spPr>
        <p:txBody>
          <a:bodyPr/>
          <a:lstStyle/>
          <a:p>
            <a:fld id="{7D9BB5D0-35E4-459D-AEF3-FE4D7C45CC19}" type="slidenum">
              <a:rPr lang="zh-CN" altLang="en-US" smtClean="0">
                <a:latin typeface="Verdana" panose="020B0604030504040204" charset="0"/>
                <a:ea typeface="微软雅黑" panose="020B0503020204020204" charset="-122"/>
                <a:sym typeface="Verdana" panose="020B0604030504040204" charset="0"/>
              </a:rPr>
            </a:fld>
            <a:endParaRPr lang="zh-CN" altLang="en-US">
              <a:latin typeface="Verdana" panose="020B0604030504040204" charset="0"/>
              <a:ea typeface="微软雅黑" panose="020B0503020204020204" charset="-122"/>
              <a:sym typeface="Verdana" panose="020B0604030504040204" charset="0"/>
            </a:endParaRPr>
          </a:p>
        </p:txBody>
      </p:sp>
      <p:cxnSp>
        <p:nvCxnSpPr>
          <p:cNvPr id="8" name="直接连接符 7"/>
          <p:cNvCxnSpPr/>
          <p:nvPr/>
        </p:nvCxnSpPr>
        <p:spPr>
          <a:xfrm flipV="1">
            <a:off x="259898" y="613602"/>
            <a:ext cx="2748915" cy="10160"/>
          </a:xfrm>
          <a:prstGeom prst="line">
            <a:avLst/>
          </a:prstGeom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23" name="直接连接符 22"/>
          <p:cNvCxnSpPr/>
          <p:nvPr/>
        </p:nvCxnSpPr>
        <p:spPr>
          <a:xfrm flipV="1">
            <a:off x="1110163" y="682817"/>
            <a:ext cx="2654935" cy="18415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矩形 27"/>
          <p:cNvSpPr/>
          <p:nvPr/>
        </p:nvSpPr>
        <p:spPr>
          <a:xfrm>
            <a:off x="455943" y="1796426"/>
            <a:ext cx="3512110" cy="639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  <a:p>
            <a:endParaRPr lang="en-US" altLang="zh-CN" sz="1400" b="0" i="0" dirty="0">
              <a:solidFill>
                <a:schemeClr val="tx1"/>
              </a:solidFill>
              <a:effectLst/>
              <a:latin typeface="Verdana" panose="020B0604030504040204" charset="0"/>
              <a:ea typeface="微软雅黑" panose="020B0503020204020204" charset="-122"/>
              <a:cs typeface="Verdana" panose="020B0604030504040204" charset="0"/>
              <a:sym typeface="Verdana" panose="020B0604030504040204" charset="0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7567411" y="1626145"/>
            <a:ext cx="319119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/>
            <a:endParaRPr lang="en-US" altLang="zh-CN" sz="1400" b="0" i="0" dirty="0">
              <a:solidFill>
                <a:srgbClr val="172B4D"/>
              </a:solidFill>
              <a:effectLst/>
              <a:latin typeface="+mn-ea"/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932828" y="1860819"/>
            <a:ext cx="9886252" cy="29997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altLang="zh-CN" sz="1800" dirty="0">
                <a:effectLst/>
                <a:latin typeface="+mn-ea"/>
                <a:cs typeface="Times New Roman" panose="02020603050405020304" pitchFamily="18" charset="0"/>
              </a:rPr>
              <a:t>数据字典缓存池的内存是有限的，当其内存不足时，需要回收一些数据字典缓存占用的内存空间。内存回收有两种情况。</a:t>
            </a:r>
            <a:endParaRPr altLang="zh-CN" sz="18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altLang="zh-CN" sz="1800" dirty="0">
                <a:effectLst/>
                <a:latin typeface="+mn-ea"/>
                <a:cs typeface="Times New Roman" panose="02020603050405020304" pitchFamily="18" charset="0"/>
              </a:rPr>
              <a:t>1)当关闭数据字典时，如果数据字典是失效的，并且没有别人使用，此时可以直接回收数据字典内存。</a:t>
            </a:r>
            <a:endParaRPr altLang="zh-CN" sz="1800" dirty="0">
              <a:effectLst/>
              <a:latin typeface="+mn-ea"/>
              <a:cs typeface="Times New Roman" panose="02020603050405020304" pitchFamily="18" charset="0"/>
            </a:endParaRPr>
          </a:p>
          <a:p>
            <a:pPr indent="0" algn="just">
              <a:lnSpc>
                <a:spcPct val="150000"/>
              </a:lnSpc>
              <a:buFont typeface="Arial" panose="020B0604020202020204" pitchFamily="34" charset="0"/>
              <a:buNone/>
            </a:pPr>
            <a:r>
              <a:rPr altLang="zh-CN" sz="1800" dirty="0">
                <a:effectLst/>
                <a:latin typeface="+mn-ea"/>
                <a:cs typeface="Times New Roman" panose="02020603050405020304" pitchFamily="18" charset="0"/>
              </a:rPr>
              <a:t>2)当数据字典内存池不够的情况下，遍历所有存在的数据字典，当数据字典没有人使用，并且数组字典是有效的情况下，回收该数据字典内存。如果没有可以回收的数据字典，通知执行计划缓存池进行级联淘汰。</a:t>
            </a:r>
            <a:endParaRPr altLang="zh-CN" sz="1800" dirty="0">
              <a:effectLst/>
              <a:latin typeface="+mn-ea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TEMPLATE_THUMBS_INDEX" val="1"/>
  <p:tag name="KSO_WM_TEMPLATE_SUBCATEGORY" val="0"/>
  <p:tag name="KSO_WM_TAG_VERSION" val="1.0"/>
  <p:tag name="KSO_WM_BEAUTIFY_FLAG" val="#wm#"/>
  <p:tag name="KSO_WM_TEMPLATE_CATEGORY" val="custom"/>
  <p:tag name="KSO_WM_TEMPLATE_INDEX" val="20187308"/>
</p:tagLst>
</file>

<file path=ppt/tags/tag9.xml><?xml version="1.0" encoding="utf-8"?>
<p:tagLst xmlns:p="http://schemas.openxmlformats.org/presentationml/2006/main">
  <p:tag name="KSO_WM_UNIT_PLACING_PICTURE_USER_VIEWPORT" val="{&quot;height&quot;:4632,&quot;width&quot;:6636}"/>
</p:tagLst>
</file>

<file path=ppt/tags/tag10.xml><?xml version="1.0" encoding="utf-8"?>
<p:tagLst xmlns:p="http://schemas.openxmlformats.org/presentationml/2006/main">
  <p:tag name="COMMONDATA" val="eyJoZGlkIjoiMzY3OWY0MmRjYzQ5NjE5MmM4YWFjZDIyM2I2NGM2ZDIifQ=="/>
</p:tagLst>
</file>

<file path=ppt/theme/theme1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Verdana"/>
        <a:font script="Hebr" typeface="Verdana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1109</Words>
  <Application>WPS 演示</Application>
  <PresentationFormat>宽屏</PresentationFormat>
  <Paragraphs>53</Paragraphs>
  <Slides>6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5" baseType="lpstr">
      <vt:lpstr>Arial</vt:lpstr>
      <vt:lpstr>宋体</vt:lpstr>
      <vt:lpstr>Wingdings</vt:lpstr>
      <vt:lpstr>Verdana</vt:lpstr>
      <vt:lpstr>微软雅黑</vt:lpstr>
      <vt:lpstr>Times New Roman</vt:lpstr>
      <vt:lpstr>Arial Unicode MS</vt:lpstr>
      <vt:lpstr>Calibri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zhangjh</dc:creator>
  <cp:lastModifiedBy>tongep</cp:lastModifiedBy>
  <cp:revision>229</cp:revision>
  <dcterms:created xsi:type="dcterms:W3CDTF">2021-03-09T02:51:00Z</dcterms:created>
  <dcterms:modified xsi:type="dcterms:W3CDTF">2022-08-15T12:25:44Z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2052-11.1.0.12302</vt:lpwstr>
  </property>
  <property fmtid="{D5CDD505-2E9C-101B-9397-08002B2CF9AE}" pid="3" name="ICV">
    <vt:lpwstr>A3107A1FA4B84FD5AA61026A4D552FC4</vt:lpwstr>
  </property>
</Properties>
</file>