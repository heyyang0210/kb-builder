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310" r:id="rId3"/>
    <p:sldId id="315" r:id="rId5"/>
    <p:sldId id="316" r:id="rId6"/>
    <p:sldId id="317" r:id="rId7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ccv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CE"/>
    <a:srgbClr val="0070C0"/>
    <a:srgbClr val="09BBDB"/>
    <a:srgbClr val="9DC3E6"/>
    <a:srgbClr val="F08F4F"/>
    <a:srgbClr val="1F4E79"/>
    <a:srgbClr val="1D5487"/>
    <a:srgbClr val="FFFFFF"/>
    <a:srgbClr val="5B9BD5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4297" autoAdjust="0"/>
  </p:normalViewPr>
  <p:slideViewPr>
    <p:cSldViewPr snapToGrid="0">
      <p:cViewPr varScale="1">
        <p:scale>
          <a:sx n="77" d="100"/>
          <a:sy n="77" d="100"/>
        </p:scale>
        <p:origin x="18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0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53990" y="2762885"/>
            <a:ext cx="6268085" cy="72453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400" b="0" spc="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直角三角形 7"/>
          <p:cNvSpPr/>
          <p:nvPr userDrawn="1"/>
        </p:nvSpPr>
        <p:spPr>
          <a:xfrm rot="16200000">
            <a:off x="10759440" y="541464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五边形 8"/>
          <p:cNvSpPr/>
          <p:nvPr userDrawn="1"/>
        </p:nvSpPr>
        <p:spPr>
          <a:xfrm rot="10800000">
            <a:off x="5810250" y="-2540"/>
            <a:ext cx="63747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5400000">
            <a:off x="2496185" y="-2504440"/>
            <a:ext cx="1924050" cy="692785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30060" y="1489710"/>
            <a:ext cx="4692015" cy="484759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261963" y="316572"/>
            <a:ext cx="1402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8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Verdana" panose="020B0604030504040204" charset="0"/>
              </a:rPr>
              <a:t>目录</a:t>
            </a:r>
            <a:endParaRPr lang="zh-CN" altLang="en-US" sz="48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Verdana" panose="020B0604030504040204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9281052" y="984642"/>
            <a:ext cx="235759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contents</a:t>
            </a:r>
            <a:endParaRPr lang="en-US" altLang="zh-CN" sz="1600" dirty="0">
              <a:solidFill>
                <a:schemeClr val="tx1"/>
              </a:solidFill>
              <a:latin typeface="+mj-lt"/>
              <a:ea typeface="微软雅黑" panose="020B0503020204020204" charset="-122"/>
              <a:cs typeface="+mj-lt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11054443" y="1393046"/>
            <a:ext cx="520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直角三角形 8"/>
          <p:cNvSpPr/>
          <p:nvPr userDrawn="1"/>
        </p:nvSpPr>
        <p:spPr>
          <a:xfrm rot="5400000">
            <a:off x="790575" y="-790575"/>
            <a:ext cx="1389380" cy="296291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五边形 7"/>
          <p:cNvSpPr/>
          <p:nvPr userDrawn="1"/>
        </p:nvSpPr>
        <p:spPr>
          <a:xfrm rot="10800000">
            <a:off x="1123950" y="63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5400000">
            <a:off x="772795" y="-76898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03925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  <a:endParaRPr lang="zh-CN" altLang="en-US"/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tags" Target="../tags/tag8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1118235" y="580390"/>
            <a:ext cx="274955" cy="3200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128395" y="220980"/>
            <a:ext cx="285115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772920" y="580390"/>
            <a:ext cx="285115" cy="320040"/>
          </a:xfrm>
          <a:prstGeom prst="rect">
            <a:avLst/>
          </a:prstGeom>
          <a:solidFill>
            <a:srgbClr val="09B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443990" y="220980"/>
            <a:ext cx="285115" cy="3200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-805180" y="220980"/>
            <a:ext cx="285115" cy="3200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437005" y="580390"/>
            <a:ext cx="285115" cy="3200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-800100" y="580390"/>
            <a:ext cx="285115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1437005" y="1405890"/>
            <a:ext cx="285115" cy="320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-1118235" y="1405890"/>
            <a:ext cx="285115" cy="3200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1772920" y="1405890"/>
            <a:ext cx="285115" cy="320040"/>
          </a:xfrm>
          <a:prstGeom prst="rect">
            <a:avLst/>
          </a:prstGeom>
          <a:solidFill>
            <a:srgbClr val="F08F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-1760220" y="220980"/>
            <a:ext cx="285115" cy="320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1822450" y="-55880"/>
            <a:ext cx="12382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rPr>
              <a:t>配色方案：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cs typeface="Verdana" panose="020B0604030504040204" charset="0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1838325" y="20053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字体：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-1873885" y="2209165"/>
            <a:ext cx="1588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中文：微软雅黑</a:t>
            </a:r>
            <a:endParaRPr lang="zh-CN" altLang="en-US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西文：</a:t>
            </a:r>
            <a:r>
              <a:rPr lang="en-US" altLang="zh-CN" sz="1200" dirty="0">
                <a:cs typeface="Verdana" panose="020B0604030504040204" charset="0"/>
              </a:rPr>
              <a:t>Verdana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-1838325" y="307721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字号：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-1842770" y="3394075"/>
            <a:ext cx="1845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封面页标题：</a:t>
            </a:r>
            <a:r>
              <a:rPr lang="en-US" altLang="zh-CN" sz="1200" dirty="0">
                <a:cs typeface="Verdana" panose="020B0604030504040204" charset="0"/>
              </a:rPr>
              <a:t>40-48px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正文标题：</a:t>
            </a:r>
            <a:r>
              <a:rPr lang="en-US" altLang="zh-CN" sz="1200" dirty="0">
                <a:cs typeface="Verdana" panose="020B0604030504040204" charset="0"/>
              </a:rPr>
              <a:t>16-24px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正文内容：</a:t>
            </a:r>
            <a:r>
              <a:rPr lang="en-US" altLang="zh-CN" sz="1200" dirty="0">
                <a:cs typeface="Verdana" panose="020B0604030504040204" charset="0"/>
              </a:rPr>
              <a:t>12-18px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-1838325" y="10655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b="1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defRPr>
            </a:lvl1pPr>
          </a:lstStyle>
          <a:p>
            <a:pPr lvl="0"/>
            <a:r>
              <a:rPr lang="zh-CN" altLang="en-US" dirty="0"/>
              <a:t>强调色：</a:t>
            </a:r>
            <a:endParaRPr lang="zh-CN" altLang="en-US" dirty="0"/>
          </a:p>
        </p:txBody>
      </p:sp>
      <p:sp>
        <p:nvSpPr>
          <p:cNvPr id="25" name="文本框 24"/>
          <p:cNvSpPr txBox="1"/>
          <p:nvPr userDrawn="1"/>
        </p:nvSpPr>
        <p:spPr>
          <a:xfrm>
            <a:off x="-1760220" y="4460875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形状：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-1762125" y="5020945"/>
            <a:ext cx="140081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形状一</a:t>
            </a:r>
            <a:endParaRPr lang="zh-CN" altLang="en-US" sz="1600"/>
          </a:p>
        </p:txBody>
      </p:sp>
      <p:sp>
        <p:nvSpPr>
          <p:cNvPr id="27" name="矩形 26"/>
          <p:cNvSpPr/>
          <p:nvPr userDrawn="1"/>
        </p:nvSpPr>
        <p:spPr>
          <a:xfrm>
            <a:off x="-1772920" y="5556250"/>
            <a:ext cx="1400810" cy="396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形状二</a:t>
            </a:r>
            <a:endParaRPr lang="zh-CN" altLang="en-US" sz="1600"/>
          </a:p>
        </p:txBody>
      </p:sp>
      <p:sp>
        <p:nvSpPr>
          <p:cNvPr id="28" name="矩形 27"/>
          <p:cNvSpPr/>
          <p:nvPr userDrawn="1"/>
        </p:nvSpPr>
        <p:spPr>
          <a:xfrm>
            <a:off x="-1772920" y="6153150"/>
            <a:ext cx="1400810" cy="396240"/>
          </a:xfrm>
          <a:prstGeom prst="rect">
            <a:avLst/>
          </a:prstGeom>
          <a:solidFill>
            <a:srgbClr val="F08F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形状三</a:t>
            </a:r>
            <a:endParaRPr lang="zh-CN" altLang="en-US" sz="1600"/>
          </a:p>
        </p:txBody>
      </p:sp>
      <p:sp>
        <p:nvSpPr>
          <p:cNvPr id="29" name="矩形 28"/>
          <p:cNvSpPr/>
          <p:nvPr userDrawn="1"/>
        </p:nvSpPr>
        <p:spPr>
          <a:xfrm>
            <a:off x="-1772920" y="6727190"/>
            <a:ext cx="1400810" cy="39624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形状四</a:t>
            </a:r>
            <a:endParaRPr lang="zh-CN" altLang="en-US" sz="1600"/>
          </a:p>
        </p:txBody>
      </p:sp>
      <p:sp>
        <p:nvSpPr>
          <p:cNvPr id="30" name="矩形 29"/>
          <p:cNvSpPr/>
          <p:nvPr userDrawn="1"/>
        </p:nvSpPr>
        <p:spPr>
          <a:xfrm>
            <a:off x="-1772920" y="7311390"/>
            <a:ext cx="1400810" cy="396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形状五</a:t>
            </a:r>
            <a:endParaRPr lang="zh-CN" altLang="en-US" sz="1600"/>
          </a:p>
        </p:txBody>
      </p:sp>
      <p:sp>
        <p:nvSpPr>
          <p:cNvPr id="31" name="矩形 30"/>
          <p:cNvSpPr/>
          <p:nvPr userDrawn="1"/>
        </p:nvSpPr>
        <p:spPr>
          <a:xfrm>
            <a:off x="-1772920" y="7856220"/>
            <a:ext cx="1400810" cy="396240"/>
          </a:xfrm>
          <a:prstGeom prst="rect">
            <a:avLst/>
          </a:prstGeom>
          <a:solidFill>
            <a:srgbClr val="F0F0F0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</a:rPr>
              <a:t>形状六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-1772920" y="8418830"/>
            <a:ext cx="1400810" cy="396240"/>
          </a:xfrm>
          <a:prstGeom prst="rect">
            <a:avLst/>
          </a:prstGeom>
          <a:solidFill>
            <a:srgbClr val="09BBDB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F0F0F0"/>
                </a:solidFill>
              </a:rPr>
              <a:t>形状七</a:t>
            </a:r>
            <a:endParaRPr lang="zh-CN" altLang="en-US" sz="1600">
              <a:solidFill>
                <a:srgbClr val="F0F0F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160401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REDO</a:t>
            </a:r>
            <a:endParaRPr 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截图_2022033010072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9715" y="1290955"/>
            <a:ext cx="7020560" cy="42005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473315" y="1270635"/>
            <a:ext cx="3892550" cy="42208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600"/>
              <a:t>YashanDb的Redo文件记录了数据库产生的物理日志，用于数据库宕机重演和主备复制。</a:t>
            </a:r>
            <a:endParaRPr lang="zh-CN" altLang="en-US" sz="1600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600"/>
              <a:t>Redo文件的结构如左图，由Redo head和Redo pack组成。</a:t>
            </a:r>
            <a:endParaRPr lang="zh-CN" altLang="en-US" sz="1600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600"/>
              <a:t>Redo head记录元数据，包括序列号，块大小，时间等。</a:t>
            </a:r>
            <a:endParaRPr lang="zh-CN" altLang="en-US" sz="1600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600"/>
              <a:t>Redo pack是日志数据，是日志刷盘的基本单位，它内部包含若干个分区，每个分区内包含多个Redo group。</a:t>
            </a:r>
            <a:endParaRPr lang="zh-CN" altLang="en-US" sz="1600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600"/>
              <a:t>Redo group是一个session执行业务产生的一批record集合，record是一条具体的日志操作，比如insert，update等</a:t>
            </a:r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4347025" y="767241"/>
            <a:ext cx="220266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REDO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结构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4347025" y="767241"/>
            <a:ext cx="220266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REDO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生成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9898" y="89093"/>
            <a:ext cx="160401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REDO</a:t>
            </a:r>
            <a:endParaRPr 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85" y="1163955"/>
            <a:ext cx="5187950" cy="19939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6904990" y="1210945"/>
            <a:ext cx="4086860" cy="44843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session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都有一个私有缓冲区来存放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Redo group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，执行业务时，每个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session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在各自的私有内存中写入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record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，当需要提交事务时，会将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Redo group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拷贝到全局日志缓冲区的某个分区上。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全局日志缓冲区被分为多个分区，是为了提高并发性能，减少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session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之间的锁冲突。然后全局缓冲区内的分区将被合并为一个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Redo pack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，按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Redo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的块大小对齐后，写入磁盘，并唤醒正在等待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Redo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刷盘的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session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，让这些</a:t>
            </a:r>
            <a:r>
              <a:rPr 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session</a:t>
            </a:r>
            <a:r>
              <a:rPr 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完成事务提交流程。</a:t>
            </a:r>
            <a:endParaRPr 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Redo group在拷贝到全局日志缓冲区的时候，会设置唯一且递增的日志系列号LSN, 同时会将该Redo group修改过的脏页挂在脏页队列上，并且更新这些的页面LSN，以便将页面和Redo关联起来。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72440" y="3081020"/>
            <a:ext cx="6105525" cy="273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400"/>
              <a:t>YashanDb至少包含3个Redo文件，Redo文件是循环复用的，每个Redo文件有四种状态。NEW表示新创建且未使用的Redo。</a:t>
            </a:r>
            <a:endParaRPr lang="zh-CN" altLang="en-US" sz="1400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400"/>
              <a:t>CURRENT表示当前正在写的Redo，当CURRENT文件写满，或者手动执行切换操作后，会把下一个Redo文件状态设为CURRENT，然后该文件状态变为ACTIVE。</a:t>
            </a:r>
            <a:endParaRPr lang="zh-CN" altLang="en-US" sz="1400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400"/>
              <a:t>ACTIVE状态的Redo文件，在Checkpoint推进到该Redo文件之后，并且该Redo归档之后，会变成INACTIVE状态，表示可以回收和丢弃。</a:t>
            </a:r>
            <a:endParaRPr lang="zh-CN" altLang="en-US" sz="1400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400"/>
              <a:t>Redo切换时，会找一个INACTIVE或者NEW状态Redo文件作为下一个Redo文件，如果找不到，业务将会阻塞，同时触发Checkpoint，直到某个ACTIVE的Redo转换为INACTIVE状态。</a:t>
            </a:r>
            <a:endParaRPr lang="zh-CN" alt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4347025" y="767241"/>
            <a:ext cx="220266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REDO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回放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9898" y="89093"/>
            <a:ext cx="160401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REDO</a:t>
            </a:r>
            <a:endParaRPr 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651000" y="1821180"/>
            <a:ext cx="8792845" cy="2745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600"/>
              <a:t>YashanDb支持多线程回放Redo，包括页面级回放和session级回放两种模式。这两种模式的基本流程一样，包括Redo加载，Redo分析，Redo回放。</a:t>
            </a:r>
            <a:endParaRPr lang="zh-CN" altLang="en-US" sz="1600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600"/>
              <a:t>页面级回放是通过分析Redo日志，将不同的页面分配到不同的线程去回放，页面之间没有锁冲突，能大幅提高回放性能。但是页面级回放无法保证瞬时一致性，所以只能用于重启回放。</a:t>
            </a:r>
            <a:endParaRPr lang="zh-CN" altLang="en-US" sz="1600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600"/>
              <a:t>Session级回放是通过分析Redo日志，将不同的Redo group分配到不同线程去回放。因为每个Redo group是由一个session产生的，每个Redo group对应于一个session，所以session级回放模拟了session的并发执行，在处理事务的逻辑上和Redo生成时保持一致，因此能保证事务的瞬时一致性，用于只读备机的回放。因为session级回放需要考虑页面的顺序性和锁冲突，所以性能没有页面级回放高。</a:t>
            </a:r>
            <a:endParaRPr lang="zh-CN" altLang="en-US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160401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REDO</a:t>
            </a:r>
            <a:endParaRPr 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3"/>
          <p:cNvPicPr>
            <a:picLocks noChangeAspect="1"/>
          </p:cNvPicPr>
          <p:nvPr/>
        </p:nvPicPr>
        <p:blipFill>
          <a:blip r:embed="rId1"/>
          <a:srcRect l="-265" t="3524" r="8502" b="2940"/>
          <a:stretch>
            <a:fillRect/>
          </a:stretch>
        </p:blipFill>
        <p:spPr>
          <a:xfrm>
            <a:off x="592455" y="1337945"/>
            <a:ext cx="4838700" cy="31521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640715" y="4559300"/>
            <a:ext cx="4630420" cy="17475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1400"/>
              <a:t>上图是一个Redo group的内部结构示意图，其中attach这条记录表示访问某个页面，并将该页面压栈，随后的一系列record是对该页面的修改，detach这条记录表示出栈。</a:t>
            </a:r>
            <a:endParaRPr lang="zh-CN" altLang="en-US" sz="1400"/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l"/>
            </a:pPr>
            <a:r>
              <a:rPr lang="zh-CN" altLang="en-US" sz="1400"/>
              <a:t>上图中有三个页面，将每个页面的record拆分后，就可以将这些record按页面id哈希分配给不同的回放线程，并行的执行回放。</a:t>
            </a:r>
            <a:endParaRPr lang="zh-CN" altLang="en-US" sz="1400"/>
          </a:p>
        </p:txBody>
      </p:sp>
      <p:pic>
        <p:nvPicPr>
          <p:cNvPr id="5" name="图片 5"/>
          <p:cNvPicPr>
            <a:picLocks noChangeAspect="1"/>
          </p:cNvPicPr>
          <p:nvPr/>
        </p:nvPicPr>
        <p:blipFill>
          <a:blip r:embed="rId2"/>
          <a:srcRect r="2135"/>
          <a:stretch>
            <a:fillRect/>
          </a:stretch>
        </p:blipFill>
        <p:spPr>
          <a:xfrm>
            <a:off x="6441440" y="1777365"/>
            <a:ext cx="5123815" cy="154876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6549390" y="3529330"/>
            <a:ext cx="4852670" cy="24168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400"/>
              <a:t>如上图，每个Redo group对应于一个session id，不同的Redo group会根据session id分配到不同的回放线程。</a:t>
            </a:r>
            <a:endParaRPr lang="zh-CN" altLang="en-US" sz="1400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l"/>
            </a:pPr>
            <a:r>
              <a:rPr lang="zh-CN" altLang="en-US" sz="1400"/>
              <a:t>不同的Redo group可能会修改相同的页面，所以还需要保证页面修改的顺序，因此在Redo分析的时候，会对每个页面设置一个排序锁，当某个线程需要对页面修改时，要根据Redo所记录的页面修改次序，尝试加排序锁，加上锁之后才能进行修改。这样就保证了不同Redo group修改页面是有序的，从而保证瞬时一致性。</a:t>
            </a:r>
            <a:endParaRPr lang="zh-CN" altLang="en-US" sz="1400"/>
          </a:p>
        </p:txBody>
      </p:sp>
      <p:sp>
        <p:nvSpPr>
          <p:cNvPr id="11" name="文本框 10"/>
          <p:cNvSpPr txBox="1"/>
          <p:nvPr/>
        </p:nvSpPr>
        <p:spPr>
          <a:xfrm>
            <a:off x="4347025" y="767241"/>
            <a:ext cx="220266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REDO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回放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9.xml><?xml version="1.0" encoding="utf-8"?>
<p:tagLst xmlns:p="http://schemas.openxmlformats.org/presentationml/2006/main">
  <p:tag name="KSO_WM_UNIT_PLACING_PICTURE_USER_VIEWPORT" val="{&quot;height&quot;:5962,&quot;width&quot;:9965}"/>
</p:tagLst>
</file>

<file path=ppt/tags/tag10.xml><?xml version="1.0" encoding="utf-8"?>
<p:tagLst xmlns:p="http://schemas.openxmlformats.org/presentationml/2006/main">
  <p:tag name="COMMONDATA" val="eyJoZGlkIjoiYzhmNzM5YTkwNTEwOTNkNTMyODUxNjFjZjgxNDUwYmM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1690</Words>
  <Application>WPS 演示</Application>
  <PresentationFormat>宽屏</PresentationFormat>
  <Paragraphs>42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宋体</vt:lpstr>
      <vt:lpstr>Wingdings</vt:lpstr>
      <vt:lpstr>Verdana</vt:lpstr>
      <vt:lpstr>微软雅黑</vt:lpstr>
      <vt:lpstr>-apple-system</vt:lpstr>
      <vt:lpstr>Segoe Print</vt:lpstr>
      <vt:lpstr>Arial Unicode MS</vt:lpstr>
      <vt:lpstr>Calibri</vt:lpstr>
      <vt:lpstr>Wingdings</vt:lpstr>
      <vt:lpstr>方正姚体</vt:lpstr>
      <vt:lpstr>自定义设计方案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zhangjh</dc:creator>
  <cp:lastModifiedBy>mazh</cp:lastModifiedBy>
  <cp:revision>214</cp:revision>
  <dcterms:created xsi:type="dcterms:W3CDTF">2021-03-09T02:51:00Z</dcterms:created>
  <dcterms:modified xsi:type="dcterms:W3CDTF">2022-08-15T07:07:31Z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2052-11.1.0.12302</vt:lpwstr>
  </property>
  <property fmtid="{D5CDD505-2E9C-101B-9397-08002B2CF9AE}" pid="3" name="ICV">
    <vt:lpwstr>BEA7140DEEB043B6A806E0ABB4CBCB67</vt:lpwstr>
  </property>
</Properties>
</file>