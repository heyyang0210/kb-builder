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17" r:id="rId3"/>
    <p:sldId id="312" r:id="rId4"/>
    <p:sldId id="314" r:id="rId5"/>
    <p:sldId id="315" r:id="rId6"/>
    <p:sldId id="316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ccv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CE"/>
    <a:srgbClr val="0070C0"/>
    <a:srgbClr val="09BBDB"/>
    <a:srgbClr val="9DC3E6"/>
    <a:srgbClr val="F08F4F"/>
    <a:srgbClr val="1F4E79"/>
    <a:srgbClr val="1D5487"/>
    <a:srgbClr val="FFFFFF"/>
    <a:srgbClr val="5B9BD5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297" autoAdjust="0"/>
  </p:normalViewPr>
  <p:slideViewPr>
    <p:cSldViewPr snapToGrid="0">
      <p:cViewPr varScale="1">
        <p:scale>
          <a:sx n="77" d="100"/>
          <a:sy n="77" d="100"/>
        </p:scale>
        <p:origin x="18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0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53990" y="2762885"/>
            <a:ext cx="6268085" cy="72453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400" b="0" spc="6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直角三角形 7"/>
          <p:cNvSpPr/>
          <p:nvPr userDrawn="1"/>
        </p:nvSpPr>
        <p:spPr>
          <a:xfrm rot="16200000">
            <a:off x="10759440" y="541464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五边形 8"/>
          <p:cNvSpPr/>
          <p:nvPr userDrawn="1"/>
        </p:nvSpPr>
        <p:spPr>
          <a:xfrm rot="10800000">
            <a:off x="5810250" y="-2540"/>
            <a:ext cx="63747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5400000">
            <a:off x="2496185" y="-2504440"/>
            <a:ext cx="1924050" cy="692785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30060" y="1489710"/>
            <a:ext cx="4692015" cy="484759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261963" y="316572"/>
            <a:ext cx="1402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8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Verdana" panose="020B0604030504040204" charset="0"/>
              </a:rPr>
              <a:t>目录</a:t>
            </a:r>
            <a:endParaRPr lang="zh-CN" altLang="en-US" sz="48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cs typeface="Verdana" panose="020B0604030504040204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9281052" y="984642"/>
            <a:ext cx="235759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j-lt"/>
                <a:ea typeface="微软雅黑" panose="020B0503020204020204" charset="-122"/>
                <a:cs typeface="+mj-lt"/>
              </a:rPr>
              <a:t>contents</a:t>
            </a:r>
            <a:endParaRPr lang="en-US" altLang="zh-CN" sz="1600" dirty="0">
              <a:solidFill>
                <a:schemeClr val="tx1"/>
              </a:solidFill>
              <a:latin typeface="+mj-lt"/>
              <a:ea typeface="微软雅黑" panose="020B0503020204020204" charset="-122"/>
              <a:cs typeface="+mj-lt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11054443" y="1393046"/>
            <a:ext cx="520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直角三角形 8"/>
          <p:cNvSpPr/>
          <p:nvPr userDrawn="1"/>
        </p:nvSpPr>
        <p:spPr>
          <a:xfrm rot="5400000">
            <a:off x="790575" y="-790575"/>
            <a:ext cx="1389380" cy="296291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五边形 7"/>
          <p:cNvSpPr/>
          <p:nvPr userDrawn="1"/>
        </p:nvSpPr>
        <p:spPr>
          <a:xfrm rot="10800000">
            <a:off x="1123950" y="63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5400000">
            <a:off x="772795" y="-76898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03925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fld id="{D997B5FA-0921-464F-AAE1-844C04324D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r>
              <a:rPr lang="zh-CN" altLang="en-US"/>
              <a:t>深圳计算科学研究院CoD研究室</a:t>
            </a:r>
            <a:endParaRPr lang="zh-CN" altLang="en-US"/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tags" Target="../tags/tag8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1118235" y="580390"/>
            <a:ext cx="274955" cy="3200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128395" y="220980"/>
            <a:ext cx="285115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772920" y="580390"/>
            <a:ext cx="285115" cy="320040"/>
          </a:xfrm>
          <a:prstGeom prst="rect">
            <a:avLst/>
          </a:prstGeom>
          <a:solidFill>
            <a:srgbClr val="09B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443990" y="220980"/>
            <a:ext cx="285115" cy="3200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-805180" y="220980"/>
            <a:ext cx="285115" cy="3200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1437005" y="580390"/>
            <a:ext cx="285115" cy="3200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-800100" y="580390"/>
            <a:ext cx="285115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1437005" y="1405890"/>
            <a:ext cx="285115" cy="3200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-1118235" y="1405890"/>
            <a:ext cx="285115" cy="3200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-1772920" y="1405890"/>
            <a:ext cx="285115" cy="320040"/>
          </a:xfrm>
          <a:prstGeom prst="rect">
            <a:avLst/>
          </a:prstGeom>
          <a:solidFill>
            <a:srgbClr val="F08F4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-1760220" y="220980"/>
            <a:ext cx="285115" cy="320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-1822450" y="-55880"/>
            <a:ext cx="12382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rPr>
              <a:t>配色方案：</a:t>
            </a:r>
            <a:endParaRPr lang="zh-CN" altLang="en-US" sz="1200" b="1" dirty="0">
              <a:solidFill>
                <a:schemeClr val="accent1">
                  <a:lumMod val="75000"/>
                </a:schemeClr>
              </a:solidFill>
              <a:cs typeface="Verdana" panose="020B0604030504040204" charset="0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1838325" y="20053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字体：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-1873885" y="2209165"/>
            <a:ext cx="1588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中文：微软雅黑</a:t>
            </a:r>
            <a:endParaRPr lang="zh-CN" altLang="en-US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西文：</a:t>
            </a:r>
            <a:r>
              <a:rPr lang="en-US" altLang="zh-CN" sz="1200" dirty="0">
                <a:cs typeface="Verdana" panose="020B0604030504040204" charset="0"/>
              </a:rPr>
              <a:t>Verdana</a:t>
            </a:r>
            <a:endParaRPr lang="en-US" altLang="zh-CN" sz="1200" dirty="0">
              <a:cs typeface="Verdana" panose="020B0604030504040204" charset="0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-1838325" y="307721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字号：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-1842770" y="3394075"/>
            <a:ext cx="1845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封面页标题：</a:t>
            </a:r>
            <a:r>
              <a:rPr lang="en-US" altLang="zh-CN" sz="1200" dirty="0">
                <a:cs typeface="Verdana" panose="020B0604030504040204" charset="0"/>
              </a:rPr>
              <a:t>40-48px</a:t>
            </a:r>
            <a:endParaRPr lang="en-US" altLang="zh-CN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正文标题：</a:t>
            </a:r>
            <a:r>
              <a:rPr lang="en-US" altLang="zh-CN" sz="1200" dirty="0">
                <a:cs typeface="Verdana" panose="020B0604030504040204" charset="0"/>
              </a:rPr>
              <a:t>16-24px</a:t>
            </a:r>
            <a:endParaRPr lang="en-US" altLang="zh-CN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正文内容：</a:t>
            </a:r>
            <a:r>
              <a:rPr lang="en-US" altLang="zh-CN" sz="1200" dirty="0">
                <a:cs typeface="Verdana" panose="020B0604030504040204" charset="0"/>
              </a:rPr>
              <a:t>12-18px</a:t>
            </a:r>
            <a:endParaRPr lang="en-US" altLang="zh-CN" sz="1200" dirty="0">
              <a:cs typeface="Verdana" panose="020B0604030504040204" charset="0"/>
            </a:endParaRP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-1838325" y="10655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b="1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defRPr>
            </a:lvl1pPr>
          </a:lstStyle>
          <a:p>
            <a:pPr lvl="0"/>
            <a:r>
              <a:rPr lang="zh-CN" altLang="en-US" dirty="0"/>
              <a:t>强调色：</a:t>
            </a:r>
            <a:endParaRPr lang="zh-CN" altLang="en-US" dirty="0"/>
          </a:p>
        </p:txBody>
      </p:sp>
      <p:sp>
        <p:nvSpPr>
          <p:cNvPr id="25" name="文本框 24"/>
          <p:cNvSpPr txBox="1"/>
          <p:nvPr userDrawn="1"/>
        </p:nvSpPr>
        <p:spPr>
          <a:xfrm>
            <a:off x="-1760220" y="4460875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形状：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-1762125" y="5020945"/>
            <a:ext cx="140081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形状一</a:t>
            </a:r>
            <a:endParaRPr lang="zh-CN" altLang="en-US" sz="1600"/>
          </a:p>
        </p:txBody>
      </p:sp>
      <p:sp>
        <p:nvSpPr>
          <p:cNvPr id="27" name="矩形 26"/>
          <p:cNvSpPr/>
          <p:nvPr userDrawn="1"/>
        </p:nvSpPr>
        <p:spPr>
          <a:xfrm>
            <a:off x="-1772920" y="5556250"/>
            <a:ext cx="1400810" cy="396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形状二</a:t>
            </a:r>
            <a:endParaRPr lang="zh-CN" altLang="en-US" sz="1600"/>
          </a:p>
        </p:txBody>
      </p:sp>
      <p:sp>
        <p:nvSpPr>
          <p:cNvPr id="28" name="矩形 27"/>
          <p:cNvSpPr/>
          <p:nvPr userDrawn="1"/>
        </p:nvSpPr>
        <p:spPr>
          <a:xfrm>
            <a:off x="-1772920" y="6153150"/>
            <a:ext cx="1400810" cy="396240"/>
          </a:xfrm>
          <a:prstGeom prst="rect">
            <a:avLst/>
          </a:prstGeom>
          <a:solidFill>
            <a:srgbClr val="F08F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形状三</a:t>
            </a:r>
            <a:endParaRPr lang="zh-CN" altLang="en-US" sz="1600"/>
          </a:p>
        </p:txBody>
      </p:sp>
      <p:sp>
        <p:nvSpPr>
          <p:cNvPr id="29" name="矩形 28"/>
          <p:cNvSpPr/>
          <p:nvPr userDrawn="1"/>
        </p:nvSpPr>
        <p:spPr>
          <a:xfrm>
            <a:off x="-1772920" y="6727190"/>
            <a:ext cx="1400810" cy="39624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形状四</a:t>
            </a:r>
            <a:endParaRPr lang="zh-CN" altLang="en-US" sz="1600"/>
          </a:p>
        </p:txBody>
      </p:sp>
      <p:sp>
        <p:nvSpPr>
          <p:cNvPr id="30" name="矩形 29"/>
          <p:cNvSpPr/>
          <p:nvPr userDrawn="1"/>
        </p:nvSpPr>
        <p:spPr>
          <a:xfrm>
            <a:off x="-1772920" y="7311390"/>
            <a:ext cx="1400810" cy="396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形状五</a:t>
            </a:r>
            <a:endParaRPr lang="zh-CN" altLang="en-US" sz="1600"/>
          </a:p>
        </p:txBody>
      </p:sp>
      <p:sp>
        <p:nvSpPr>
          <p:cNvPr id="31" name="矩形 30"/>
          <p:cNvSpPr/>
          <p:nvPr userDrawn="1"/>
        </p:nvSpPr>
        <p:spPr>
          <a:xfrm>
            <a:off x="-1772920" y="7856220"/>
            <a:ext cx="1400810" cy="396240"/>
          </a:xfrm>
          <a:prstGeom prst="rect">
            <a:avLst/>
          </a:prstGeom>
          <a:solidFill>
            <a:srgbClr val="F0F0F0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</a:rPr>
              <a:t>形状六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-1772920" y="8418830"/>
            <a:ext cx="1400810" cy="396240"/>
          </a:xfrm>
          <a:prstGeom prst="rect">
            <a:avLst/>
          </a:prstGeom>
          <a:solidFill>
            <a:srgbClr val="09BBDB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F0F0F0"/>
                </a:solidFill>
              </a:rPr>
              <a:t>形状七</a:t>
            </a:r>
            <a:endParaRPr lang="zh-CN" altLang="en-US" sz="1600">
              <a:solidFill>
                <a:srgbClr val="F0F0F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57195" y="2419350"/>
            <a:ext cx="6278245" cy="647700"/>
          </a:xfrm>
        </p:spPr>
        <p:txBody>
          <a:bodyPr/>
          <a:p>
            <a:pPr algn="ctr"/>
            <a:r>
              <a:rPr lang="en-US" altLang="zh-CN" sz="3600"/>
              <a:t>Coast</a:t>
            </a:r>
            <a:endParaRPr lang="en-US" altLang="zh-CN"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Coast </a:t>
            </a:r>
            <a:r>
              <a:rPr lang="en-US" altLang="zh-CN"/>
              <a:t>Format</a:t>
            </a:r>
            <a:endParaRPr lang="en-US" altLang="zh-CN"/>
          </a:p>
        </p:txBody>
      </p:sp>
      <p:pic>
        <p:nvPicPr>
          <p:cNvPr id="4" name="图片 1" descr="coast_format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81710" y="1280795"/>
            <a:ext cx="7648575" cy="49098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名</a:t>
            </a:r>
            <a:r>
              <a:rPr lang="zh-CN" altLang="en-US"/>
              <a:t>称概念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1080100"/>
            <a:ext cx="10852237" cy="5041355"/>
          </a:xfrm>
        </p:spPr>
        <p:txBody>
          <a:bodyPr/>
          <a:p>
            <a:r>
              <a:rPr lang="en-US" altLang="zh-CN" sz="1200"/>
              <a:t>Slice</a:t>
            </a:r>
            <a:endParaRPr lang="en-US" altLang="zh-CN" sz="1200"/>
          </a:p>
          <a:p>
            <a:pPr marL="0" indent="0">
              <a:buNone/>
            </a:pPr>
            <a:r>
              <a:rPr lang="en-US" altLang="zh-CN" sz="1200"/>
              <a:t>   </a:t>
            </a:r>
            <a:r>
              <a:rPr sz="1200">
                <a:sym typeface="+mn-ea"/>
              </a:rPr>
              <a:t>一个数据片段，默认是2M行数据。在其他产品中有叫</a:t>
            </a:r>
            <a:r>
              <a:rPr lang="en-US" altLang="zh-CN" sz="1200">
                <a:sym typeface="+mn-ea"/>
              </a:rPr>
              <a:t>micro part</a:t>
            </a:r>
            <a:r>
              <a:rPr sz="1200">
                <a:sym typeface="+mn-ea"/>
              </a:rPr>
              <a:t>，</a:t>
            </a:r>
            <a:r>
              <a:rPr lang="en-US" altLang="zh-CN" sz="1200">
                <a:sym typeface="+mn-ea"/>
              </a:rPr>
              <a:t>rowset</a:t>
            </a:r>
            <a:r>
              <a:rPr sz="1200">
                <a:sym typeface="+mn-ea"/>
              </a:rPr>
              <a:t>等。</a:t>
            </a:r>
            <a:endParaRPr sz="1200">
              <a:sym typeface="+mn-ea"/>
            </a:endParaRPr>
          </a:p>
          <a:p>
            <a:pPr algn="l">
              <a:buClrTx/>
              <a:buSzTx/>
            </a:pPr>
            <a:r>
              <a:rPr lang="en-US" altLang="zh-CN" sz="1200">
                <a:sym typeface="+mn-ea"/>
              </a:rPr>
              <a:t>Slice Meta</a:t>
            </a:r>
            <a:endParaRPr lang="en-US" altLang="zh-CN" sz="1200">
              <a:sym typeface="+mn-ea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 sz="1200">
                <a:sym typeface="+mn-ea"/>
              </a:rPr>
              <a:t>   存放Slice的元数据信息，其中包括coast format version，slice meta的crc校验值，总的列数，以及每列的存储位置信息。</a:t>
            </a:r>
            <a:endParaRPr lang="en-US" altLang="zh-CN" sz="1200">
              <a:sym typeface="+mn-ea"/>
            </a:endParaRPr>
          </a:p>
          <a:p>
            <a:pPr algn="l">
              <a:buClrTx/>
              <a:buSzTx/>
            </a:pPr>
            <a:r>
              <a:rPr lang="en-US" altLang="zh-CN" sz="1200">
                <a:sym typeface="+mn-ea"/>
              </a:rPr>
              <a:t>Column Meta</a:t>
            </a:r>
            <a:endParaRPr lang="en-US" altLang="zh-CN" sz="1200">
              <a:sym typeface="+mn-ea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 sz="1200">
                <a:sym typeface="+mn-ea"/>
              </a:rPr>
              <a:t>   存放该列的所有Extent和block信息，以及统计信息，字典等</a:t>
            </a:r>
            <a:r>
              <a:rPr sz="1200">
                <a:sym typeface="+mn-ea"/>
              </a:rPr>
              <a:t>。</a:t>
            </a:r>
            <a:endParaRPr sz="1200">
              <a:sym typeface="+mn-ea"/>
            </a:endParaRPr>
          </a:p>
          <a:p>
            <a:pPr algn="l">
              <a:buClrTx/>
              <a:buSzTx/>
            </a:pPr>
            <a:r>
              <a:rPr lang="en-US" altLang="zh-CN" sz="1200">
                <a:sym typeface="+mn-ea"/>
              </a:rPr>
              <a:t>Extent</a:t>
            </a:r>
            <a:endParaRPr lang="en-US" altLang="zh-CN" sz="1200">
              <a:sym typeface="+mn-ea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 sz="1200">
                <a:sym typeface="+mn-ea"/>
              </a:rPr>
              <a:t>   一个IO单元，同时也是压缩和解压的单元，默认是1MB。</a:t>
            </a:r>
            <a:endParaRPr lang="en-US" altLang="zh-CN" sz="1200">
              <a:sym typeface="+mn-ea"/>
            </a:endParaRPr>
          </a:p>
          <a:p>
            <a:pPr algn="l">
              <a:buClrTx/>
              <a:buSzTx/>
            </a:pPr>
            <a:r>
              <a:rPr lang="en-US" altLang="zh-CN" sz="1200">
                <a:sym typeface="+mn-ea"/>
              </a:rPr>
              <a:t>EBF</a:t>
            </a:r>
            <a:endParaRPr lang="en-US" altLang="zh-CN" sz="1200">
              <a:sym typeface="+mn-ea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 sz="1200">
                <a:sym typeface="+mn-ea"/>
              </a:rPr>
              <a:t>   布隆过滤器，按Extent为单位构建。</a:t>
            </a:r>
            <a:endParaRPr lang="en-US" altLang="zh-CN" sz="1200">
              <a:sym typeface="+mn-ea"/>
            </a:endParaRPr>
          </a:p>
          <a:p>
            <a:pPr algn="l">
              <a:buClrTx/>
              <a:buSzTx/>
            </a:pPr>
            <a:r>
              <a:rPr lang="en-US" altLang="zh-CN" sz="1200">
                <a:sym typeface="+mn-ea"/>
              </a:rPr>
              <a:t>Block</a:t>
            </a:r>
            <a:endParaRPr lang="en-US" altLang="zh-CN" sz="1200">
              <a:sym typeface="+mn-ea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 sz="1200">
                <a:sym typeface="+mn-ea"/>
              </a:rPr>
              <a:t>   某列按行对齐的一组数据，是编解码的单位，默认包含4096个值。</a:t>
            </a:r>
            <a:endParaRPr lang="en-US" altLang="zh-CN" sz="1200">
              <a:sym typeface="+mn-ea"/>
            </a:endParaRPr>
          </a:p>
          <a:p>
            <a:pPr algn="l">
              <a:buClrTx/>
              <a:buSzTx/>
            </a:pPr>
            <a:r>
              <a:rPr lang="en-US" altLang="zh-CN" sz="1200">
                <a:sym typeface="+mn-ea"/>
              </a:rPr>
              <a:t>Zonemap</a:t>
            </a:r>
            <a:endParaRPr lang="en-US" altLang="zh-CN" sz="1200">
              <a:sym typeface="+mn-ea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 sz="1200">
                <a:sym typeface="+mn-ea"/>
              </a:rPr>
              <a:t>   按block粒度统计的min/max值, </a:t>
            </a:r>
            <a:r>
              <a:rPr sz="1200">
                <a:sym typeface="+mn-ea"/>
              </a:rPr>
              <a:t>也叫稀疏</a:t>
            </a:r>
            <a:r>
              <a:rPr sz="1200">
                <a:sym typeface="+mn-ea"/>
              </a:rPr>
              <a:t>索引。</a:t>
            </a:r>
            <a:endParaRPr sz="1200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字典</a:t>
            </a:r>
            <a:r>
              <a:rPr lang="zh-CN" altLang="en-US"/>
              <a:t>编码</a:t>
            </a:r>
            <a:endParaRPr lang="zh-CN" altLang="en-US"/>
          </a:p>
        </p:txBody>
      </p:sp>
      <p:pic>
        <p:nvPicPr>
          <p:cNvPr id="4" name="图片 3" descr="coral-Page-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" y="1195705"/>
            <a:ext cx="4557395" cy="315087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209030" y="1341120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6523355" y="1341120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837680" y="1341120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7152005" y="1341120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f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7466330" y="1341120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7780655" y="1341120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8094980" y="1341120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f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8409305" y="1341120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8723630" y="1341120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</a:t>
            </a:r>
            <a:endParaRPr lang="en-US" altLang="zh-CN"/>
          </a:p>
        </p:txBody>
      </p:sp>
      <p:sp>
        <p:nvSpPr>
          <p:cNvPr id="14" name="矩形 13"/>
          <p:cNvSpPr/>
          <p:nvPr/>
        </p:nvSpPr>
        <p:spPr>
          <a:xfrm>
            <a:off x="9037955" y="1341120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5" name="矩形 14"/>
          <p:cNvSpPr/>
          <p:nvPr/>
        </p:nvSpPr>
        <p:spPr>
          <a:xfrm>
            <a:off x="6466205" y="2558415"/>
            <a:ext cx="314325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6466205" y="2844165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6466205" y="3148330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6466205" y="3452495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f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6466205" y="3756660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7011670" y="2558415"/>
            <a:ext cx="314325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7011670" y="2844165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7011670" y="3148330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23" name="矩形 22"/>
          <p:cNvSpPr/>
          <p:nvPr/>
        </p:nvSpPr>
        <p:spPr>
          <a:xfrm>
            <a:off x="7011670" y="3452495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24" name="矩形 23"/>
          <p:cNvSpPr/>
          <p:nvPr/>
        </p:nvSpPr>
        <p:spPr>
          <a:xfrm>
            <a:off x="7011670" y="3756660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25" name="矩形 24"/>
          <p:cNvSpPr/>
          <p:nvPr/>
        </p:nvSpPr>
        <p:spPr>
          <a:xfrm>
            <a:off x="7639050" y="2558415"/>
            <a:ext cx="314325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26" name="矩形 25"/>
          <p:cNvSpPr/>
          <p:nvPr/>
        </p:nvSpPr>
        <p:spPr>
          <a:xfrm>
            <a:off x="7639050" y="2844165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27" name="矩形 26"/>
          <p:cNvSpPr/>
          <p:nvPr/>
        </p:nvSpPr>
        <p:spPr>
          <a:xfrm>
            <a:off x="7639050" y="3148330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8" name="矩形 27"/>
          <p:cNvSpPr/>
          <p:nvPr/>
        </p:nvSpPr>
        <p:spPr>
          <a:xfrm>
            <a:off x="7639050" y="3452495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29" name="矩形 28"/>
          <p:cNvSpPr/>
          <p:nvPr/>
        </p:nvSpPr>
        <p:spPr>
          <a:xfrm>
            <a:off x="7639050" y="3756660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0" name="矩形 29"/>
          <p:cNvSpPr/>
          <p:nvPr/>
        </p:nvSpPr>
        <p:spPr>
          <a:xfrm>
            <a:off x="8656955" y="2558415"/>
            <a:ext cx="314325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1" name="矩形 30"/>
          <p:cNvSpPr/>
          <p:nvPr/>
        </p:nvSpPr>
        <p:spPr>
          <a:xfrm>
            <a:off x="8656955" y="2844165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32" name="矩形 31"/>
          <p:cNvSpPr/>
          <p:nvPr/>
        </p:nvSpPr>
        <p:spPr>
          <a:xfrm>
            <a:off x="8656955" y="3148330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3" name="矩形 32"/>
          <p:cNvSpPr/>
          <p:nvPr/>
        </p:nvSpPr>
        <p:spPr>
          <a:xfrm>
            <a:off x="8656955" y="3452495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4" name="矩形 33"/>
          <p:cNvSpPr/>
          <p:nvPr/>
        </p:nvSpPr>
        <p:spPr>
          <a:xfrm>
            <a:off x="8656955" y="3756660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35" name="矩形 34"/>
          <p:cNvSpPr/>
          <p:nvPr/>
        </p:nvSpPr>
        <p:spPr>
          <a:xfrm>
            <a:off x="8656955" y="4060825"/>
            <a:ext cx="314325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36" name="矩形 35"/>
          <p:cNvSpPr/>
          <p:nvPr/>
        </p:nvSpPr>
        <p:spPr>
          <a:xfrm>
            <a:off x="8656955" y="4346575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7" name="矩形 36"/>
          <p:cNvSpPr/>
          <p:nvPr/>
        </p:nvSpPr>
        <p:spPr>
          <a:xfrm>
            <a:off x="8656955" y="4650740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8" name="矩形 37"/>
          <p:cNvSpPr/>
          <p:nvPr/>
        </p:nvSpPr>
        <p:spPr>
          <a:xfrm>
            <a:off x="8656955" y="4954905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9" name="矩形 38"/>
          <p:cNvSpPr/>
          <p:nvPr/>
        </p:nvSpPr>
        <p:spPr>
          <a:xfrm>
            <a:off x="8656955" y="5259070"/>
            <a:ext cx="314325" cy="30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40" name="下箭头 39"/>
          <p:cNvSpPr/>
          <p:nvPr/>
        </p:nvSpPr>
        <p:spPr>
          <a:xfrm>
            <a:off x="7466330" y="1826260"/>
            <a:ext cx="311785" cy="4375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792480" y="4632960"/>
            <a:ext cx="621855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/>
              <a:t>排序索引</a:t>
            </a:r>
            <a:endParaRPr lang="zh-CN" altLang="en-US" sz="1400"/>
          </a:p>
          <a:p>
            <a:pPr marL="285750" indent="-285750"/>
            <a:r>
              <a:rPr lang="zh-CN" altLang="en-US" sz="1400">
                <a:sym typeface="+mn-ea"/>
              </a:rPr>
              <a:t>字典值数组的</a:t>
            </a:r>
            <a:r>
              <a:rPr lang="zh-CN" altLang="en-US" sz="1400"/>
              <a:t>排序。</a:t>
            </a:r>
            <a:r>
              <a:rPr lang="zh-CN" altLang="en-US" sz="1400">
                <a:sym typeface="+mn-ea"/>
              </a:rPr>
              <a:t>通过排序索引，可以</a:t>
            </a:r>
            <a:r>
              <a:rPr lang="zh-CN" altLang="en-US" sz="1400">
                <a:sym typeface="+mn-ea"/>
              </a:rPr>
              <a:t>快速找到一个值在字典中的字典项。</a:t>
            </a:r>
            <a:endParaRPr lang="zh-CN" altLang="en-US" sz="1400"/>
          </a:p>
          <a:p>
            <a:endParaRPr lang="zh-CN" altLang="en-US" sz="1400"/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altLang="en-US" sz="1400"/>
              <a:t>倒排索引</a:t>
            </a:r>
            <a:endParaRPr lang="zh-CN" altLang="en-US" sz="1400"/>
          </a:p>
          <a:p>
            <a:r>
              <a:rPr lang="zh-CN" altLang="en-US" sz="1400"/>
              <a:t>针对排序索引的倒排索引。通过倒排索引，可以快速确定字典项的排序索引值，即找到字典项的排序</a:t>
            </a:r>
            <a:r>
              <a:rPr lang="zh-CN" altLang="en-US" sz="1400"/>
              <a:t>位置，用于范围比较。</a:t>
            </a:r>
            <a:endParaRPr lang="zh-CN" alt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Bit pack &amp; RLE编码</a:t>
            </a:r>
            <a:endParaRPr lang="zh-CN" altLang="en-US"/>
          </a:p>
        </p:txBody>
      </p:sp>
      <p:pic>
        <p:nvPicPr>
          <p:cNvPr id="4" name="图片 4" descr="coral-r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495" y="1376045"/>
            <a:ext cx="7677785" cy="19862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62330" y="4330700"/>
            <a:ext cx="69678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Bit pack</a:t>
            </a:r>
            <a:r>
              <a:rPr lang="zh-CN" altLang="en-US"/>
              <a:t>编码</a:t>
            </a:r>
            <a:endParaRPr lang="zh-CN" altLang="en-US"/>
          </a:p>
          <a:p>
            <a:pPr marL="285750" indent="-285750"/>
            <a:r>
              <a:rPr lang="en-US" altLang="zh-CN"/>
              <a:t>    </a:t>
            </a:r>
            <a:r>
              <a:rPr lang="zh-CN" altLang="en-US"/>
              <a:t>针对一组值，按照最大值所需要的bit位来对其进行定长位编码。</a:t>
            </a:r>
            <a:endParaRPr lang="zh-CN" altLang="en-US"/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altLang="en-US"/>
              <a:t>RLE</a:t>
            </a:r>
            <a:r>
              <a:rPr lang="zh-CN" altLang="en-US"/>
              <a:t>编码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这里仅实现了重复值编码。比如存在100个重复值，可以只记录一个值，然后记录重复数量。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9.xml><?xml version="1.0" encoding="utf-8"?>
<p:tagLst xmlns:p="http://schemas.openxmlformats.org/presentationml/2006/main">
  <p:tag name="KSO_WM_UNIT_PLACING_PICTURE_USER_VIEWPORT" val="{&quot;height&quot;:6346,&quot;width&quot;:8298}"/>
</p:tagLst>
</file>

<file path=ppt/tags/tag10.xml><?xml version="1.0" encoding="utf-8"?>
<p:tagLst xmlns:p="http://schemas.openxmlformats.org/presentationml/2006/main">
  <p:tag name="COMMONDATA" val="eyJoZGlkIjoiNTk4NjhmNjAwZWUzNGEwNjQ0M2Q2ZDJkMGI1MjcxNDc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590</Words>
  <Application>WPS 演示</Application>
  <PresentationFormat>宽屏</PresentationFormat>
  <Paragraphs>106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Verdana</vt:lpstr>
      <vt:lpstr>微软雅黑</vt:lpstr>
      <vt:lpstr>Wingdings</vt:lpstr>
      <vt:lpstr>Arial Unicode MS</vt:lpstr>
      <vt:lpstr>Calibri</vt:lpstr>
      <vt:lpstr>自定义设计方案</vt:lpstr>
      <vt:lpstr>PowerPoint 演示文稿</vt:lpstr>
      <vt:lpstr>Coast Format</vt:lpstr>
      <vt:lpstr>名称概念</vt:lpstr>
      <vt:lpstr>字典编码</vt:lpstr>
      <vt:lpstr>Bit pack &amp; RLE编码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zhangjh</dc:creator>
  <cp:lastModifiedBy>xier</cp:lastModifiedBy>
  <cp:revision>228</cp:revision>
  <dcterms:created xsi:type="dcterms:W3CDTF">2021-03-09T02:51:00Z</dcterms:created>
  <dcterms:modified xsi:type="dcterms:W3CDTF">2022-08-15T08:54:29Z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2052-11.1.0.11875</vt:lpwstr>
  </property>
  <property fmtid="{D5CDD505-2E9C-101B-9397-08002B2CF9AE}" pid="3" name="ICV">
    <vt:lpwstr>04114A2D82B34454AE686A47A509BCE9</vt:lpwstr>
  </property>
</Properties>
</file>