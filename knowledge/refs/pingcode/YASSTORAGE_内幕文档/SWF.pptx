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3" r:id="rId1"/>
  </p:sldMasterIdLst>
  <p:notesMasterIdLst>
    <p:notesMasterId r:id="rId6"/>
  </p:notesMasterIdLst>
  <p:handoutMasterIdLst>
    <p:handoutMasterId r:id="rId7"/>
  </p:handoutMasterIdLst>
  <p:sldIdLst>
    <p:sldId id="315" r:id="rId2"/>
    <p:sldId id="310" r:id="rId3"/>
    <p:sldId id="311" r:id="rId4"/>
    <p:sldId id="31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0070C0"/>
    <a:srgbClr val="09BBDB"/>
    <a:srgbClr val="9DC3E6"/>
    <a:srgbClr val="F08F4F"/>
    <a:srgbClr val="1F4E79"/>
    <a:srgbClr val="1D5487"/>
    <a:srgbClr val="FFFFFF"/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4297" autoAdjust="0"/>
  </p:normalViewPr>
  <p:slideViewPr>
    <p:cSldViewPr snapToGrid="0">
      <p:cViewPr varScale="1">
        <p:scale>
          <a:sx n="106" d="100"/>
          <a:sy n="106" d="100"/>
        </p:scale>
        <p:origin x="131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40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000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283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773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083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830060" y="1489710"/>
            <a:ext cx="4692015" cy="484759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69882" y="1203925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68870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437005" y="140589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118235" y="140589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772920" y="140589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838325" y="20053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873885" y="220916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1838325" y="307721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-1842770" y="339407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1838325" y="10655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</a:p>
        </p:txBody>
      </p:sp>
      <p:sp>
        <p:nvSpPr>
          <p:cNvPr id="25" name="文本框 24"/>
          <p:cNvSpPr txBox="1"/>
          <p:nvPr userDrawn="1"/>
        </p:nvSpPr>
        <p:spPr>
          <a:xfrm>
            <a:off x="-1760220" y="446087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</a:p>
        </p:txBody>
      </p:sp>
      <p:sp>
        <p:nvSpPr>
          <p:cNvPr id="26" name="矩形 25"/>
          <p:cNvSpPr/>
          <p:nvPr userDrawn="1"/>
        </p:nvSpPr>
        <p:spPr>
          <a:xfrm>
            <a:off x="-1762125" y="5020945"/>
            <a:ext cx="140081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形状一</a:t>
            </a:r>
          </a:p>
        </p:txBody>
      </p:sp>
      <p:sp>
        <p:nvSpPr>
          <p:cNvPr id="27" name="矩形 26"/>
          <p:cNvSpPr/>
          <p:nvPr userDrawn="1"/>
        </p:nvSpPr>
        <p:spPr>
          <a:xfrm>
            <a:off x="-1772920" y="5556250"/>
            <a:ext cx="1400810" cy="396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形状二</a:t>
            </a:r>
          </a:p>
        </p:txBody>
      </p:sp>
      <p:sp>
        <p:nvSpPr>
          <p:cNvPr id="28" name="矩形 27"/>
          <p:cNvSpPr/>
          <p:nvPr userDrawn="1"/>
        </p:nvSpPr>
        <p:spPr>
          <a:xfrm>
            <a:off x="-1772920" y="6153150"/>
            <a:ext cx="1400810" cy="396240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形状三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-1772920" y="6727190"/>
            <a:ext cx="1400810" cy="39624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形状四</a:t>
            </a:r>
          </a:p>
        </p:txBody>
      </p:sp>
      <p:sp>
        <p:nvSpPr>
          <p:cNvPr id="30" name="矩形 29"/>
          <p:cNvSpPr/>
          <p:nvPr userDrawn="1"/>
        </p:nvSpPr>
        <p:spPr>
          <a:xfrm>
            <a:off x="-1772920" y="7311390"/>
            <a:ext cx="1400810" cy="39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形状五</a:t>
            </a:r>
          </a:p>
        </p:txBody>
      </p:sp>
      <p:sp>
        <p:nvSpPr>
          <p:cNvPr id="31" name="矩形 30"/>
          <p:cNvSpPr/>
          <p:nvPr userDrawn="1"/>
        </p:nvSpPr>
        <p:spPr>
          <a:xfrm>
            <a:off x="-1772920" y="7856220"/>
            <a:ext cx="1400810" cy="396240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形状六</a:t>
            </a:r>
          </a:p>
        </p:txBody>
      </p:sp>
      <p:sp>
        <p:nvSpPr>
          <p:cNvPr id="32" name="矩形 31"/>
          <p:cNvSpPr/>
          <p:nvPr userDrawn="1"/>
        </p:nvSpPr>
        <p:spPr>
          <a:xfrm>
            <a:off x="-1772920" y="8418830"/>
            <a:ext cx="1400810" cy="396240"/>
          </a:xfrm>
          <a:prstGeom prst="rect">
            <a:avLst/>
          </a:prstGeom>
          <a:solidFill>
            <a:srgbClr val="09BBDB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0F0F0"/>
                </a:solidFill>
              </a:rPr>
              <a:t>形状七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60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062298" y="2666055"/>
            <a:ext cx="1196802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TAC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1</a:t>
            </a:fld>
            <a:endParaRPr lang="zh-CN" altLang="en-US" dirty="0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A56B54-91A1-492F-9D46-2793ED0F7D36}"/>
              </a:ext>
            </a:extLst>
          </p:cNvPr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7775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8455"/>
            <a:ext cx="4935005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TAC-</a:t>
            </a:r>
            <a:r>
              <a:rPr lang="zh-CN" altLang="en-US" sz="2800" b="1" kern="5000" spc="600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事务分析型列存表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2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52BD9199-ED2B-4837-AFA0-8620474F3C5D}"/>
              </a:ext>
            </a:extLst>
          </p:cNvPr>
          <p:cNvSpPr/>
          <p:nvPr/>
        </p:nvSpPr>
        <p:spPr>
          <a:xfrm>
            <a:off x="379843" y="4660534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784E545-F25A-4BC6-88F7-470DCCE8CF2A}"/>
              </a:ext>
            </a:extLst>
          </p:cNvPr>
          <p:cNvSpPr/>
          <p:nvPr/>
        </p:nvSpPr>
        <p:spPr>
          <a:xfrm>
            <a:off x="350475" y="1498884"/>
            <a:ext cx="36080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A56B54-91A1-492F-9D46-2793ED0F7D36}"/>
              </a:ext>
            </a:extLst>
          </p:cNvPr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90BD02D-57FE-4AFB-BACF-894744461F3E}"/>
              </a:ext>
            </a:extLst>
          </p:cNvPr>
          <p:cNvSpPr txBox="1"/>
          <p:nvPr/>
        </p:nvSpPr>
        <p:spPr>
          <a:xfrm>
            <a:off x="296992" y="1024615"/>
            <a:ext cx="11547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TAC</a:t>
            </a:r>
            <a:r>
              <a:rPr lang="zh-CN" altLang="zh-CN" dirty="0"/>
              <a:t>（</a:t>
            </a:r>
            <a:r>
              <a:rPr lang="en-US" altLang="zh-CN" dirty="0"/>
              <a:t>Transaction Analytics Columnar Table</a:t>
            </a:r>
            <a:r>
              <a:rPr lang="zh-CN" altLang="zh-CN" dirty="0"/>
              <a:t>， 事务分析型列存表）是基于</a:t>
            </a:r>
            <a:r>
              <a:rPr lang="en-US" altLang="zh-CN" dirty="0"/>
              <a:t>MCOL</a:t>
            </a:r>
            <a:r>
              <a:rPr lang="zh-CN" altLang="zh-CN" dirty="0"/>
              <a:t>（</a:t>
            </a:r>
            <a:r>
              <a:rPr lang="en-US" altLang="zh-CN" dirty="0"/>
              <a:t>Mutable Columnar Storage Engine</a:t>
            </a:r>
            <a:r>
              <a:rPr lang="zh-CN" altLang="zh-CN" dirty="0"/>
              <a:t>， 可变列式存储引擎）实现的一种列存表类型。</a:t>
            </a:r>
            <a:r>
              <a:rPr lang="en-US" altLang="zh-CN" dirty="0"/>
              <a:t>TAC</a:t>
            </a:r>
            <a:r>
              <a:rPr lang="zh-CN" altLang="zh-CN" dirty="0"/>
              <a:t>提供原生</a:t>
            </a:r>
            <a:r>
              <a:rPr lang="en-US" altLang="zh-CN" dirty="0"/>
              <a:t>HTAP</a:t>
            </a:r>
            <a:r>
              <a:rPr lang="zh-CN" altLang="zh-CN" dirty="0"/>
              <a:t>能力，面向实时分析场景，同时提供高效的分析能力与完整的事务</a:t>
            </a:r>
            <a:r>
              <a:rPr lang="en-US" altLang="zh-CN" dirty="0"/>
              <a:t>ACID</a:t>
            </a:r>
            <a:r>
              <a:rPr lang="zh-CN" altLang="zh-CN" dirty="0"/>
              <a:t>处理能力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2BD9199-ED2B-4837-AFA0-8620474F3C5D}"/>
              </a:ext>
            </a:extLst>
          </p:cNvPr>
          <p:cNvSpPr/>
          <p:nvPr/>
        </p:nvSpPr>
        <p:spPr>
          <a:xfrm>
            <a:off x="1045024" y="1025273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2BD9199-ED2B-4837-AFA0-8620474F3C5D}"/>
              </a:ext>
            </a:extLst>
          </p:cNvPr>
          <p:cNvSpPr/>
          <p:nvPr/>
        </p:nvSpPr>
        <p:spPr>
          <a:xfrm>
            <a:off x="296992" y="2362159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pic>
        <p:nvPicPr>
          <p:cNvPr id="2050" name="Picture 2" descr="内幕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349" y="2150023"/>
            <a:ext cx="8101067" cy="3796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1815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4935005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TAC-</a:t>
            </a:r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事务分析型列存表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3B2473F9-6426-4FD7-AD26-85B271A8F9E8}"/>
              </a:ext>
            </a:extLst>
          </p:cNvPr>
          <p:cNvSpPr/>
          <p:nvPr/>
        </p:nvSpPr>
        <p:spPr>
          <a:xfrm>
            <a:off x="123710" y="933068"/>
            <a:ext cx="1076989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In-place </a:t>
            </a: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Update</a:t>
            </a:r>
            <a:endParaRPr lang="en-US" altLang="zh-CN" dirty="0" smtClean="0"/>
          </a:p>
          <a:p>
            <a:r>
              <a:rPr lang="zh-CN" altLang="en-US" sz="1400" dirty="0" smtClean="0">
                <a:latin typeface="+mn-ea"/>
              </a:rPr>
              <a:t>传统</a:t>
            </a:r>
            <a:r>
              <a:rPr lang="zh-CN" altLang="en-US" sz="1400" dirty="0">
                <a:latin typeface="+mn-ea"/>
              </a:rPr>
              <a:t>的分析型数据库采用列式存储时，对插入和更新都是在末端插入一个新值，并标记被替代的数据。</a:t>
            </a:r>
            <a:r>
              <a:rPr lang="en-US" altLang="zh-CN" sz="1400" dirty="0" smtClean="0">
                <a:latin typeface="+mn-ea"/>
              </a:rPr>
              <a:t>TAC</a:t>
            </a:r>
            <a:r>
              <a:rPr lang="zh-CN" altLang="en-US" sz="1400" dirty="0" smtClean="0">
                <a:latin typeface="+mn-ea"/>
              </a:rPr>
              <a:t>与</a:t>
            </a:r>
            <a:r>
              <a:rPr lang="zh-CN" altLang="en-US" sz="1400" dirty="0">
                <a:latin typeface="+mn-ea"/>
              </a:rPr>
              <a:t>之不同的是实现了原位更新（</a:t>
            </a:r>
            <a:r>
              <a:rPr lang="en-US" altLang="zh-CN" sz="1400" dirty="0">
                <a:latin typeface="+mn-ea"/>
              </a:rPr>
              <a:t>in-place update</a:t>
            </a:r>
            <a:r>
              <a:rPr lang="zh-CN" altLang="en-US" sz="1400" dirty="0">
                <a:latin typeface="+mn-ea"/>
              </a:rPr>
              <a:t>），这样的好处是避免在存储区域产生“墓碑”，避免空间膨胀与垃圾扫描，极大地提升存储和检索数据的效率</a:t>
            </a:r>
            <a:r>
              <a:rPr lang="zh-CN" altLang="en-US" sz="1400" b="0" i="0" dirty="0" smtClean="0">
                <a:solidFill>
                  <a:schemeClr val="tx1"/>
                </a:solidFill>
                <a:effectLst/>
                <a:latin typeface="+mn-ea"/>
                <a:cs typeface="Verdana" panose="020B0604030504040204" charset="0"/>
                <a:sym typeface="Verdana" panose="020B0604030504040204" charset="0"/>
              </a:rPr>
              <a:t>。</a:t>
            </a:r>
            <a:endParaRPr lang="en-US" altLang="zh-CN" sz="1400" b="0" i="0" dirty="0">
              <a:solidFill>
                <a:schemeClr val="tx1"/>
              </a:solidFill>
              <a:effectLst/>
              <a:latin typeface="+mn-ea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64800" y="3772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25" name="Picture 1" descr="存储结构-upda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30" y="1828800"/>
            <a:ext cx="5280025" cy="212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4049976"/>
            <a:ext cx="10822671" cy="215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09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4935005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TAC-</a:t>
            </a:r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事务分析型列存表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3B2473F9-6426-4FD7-AD26-85B271A8F9E8}"/>
              </a:ext>
            </a:extLst>
          </p:cNvPr>
          <p:cNvSpPr/>
          <p:nvPr/>
        </p:nvSpPr>
        <p:spPr>
          <a:xfrm>
            <a:off x="123710" y="933068"/>
            <a:ext cx="10769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Batch Insert</a:t>
            </a:r>
            <a:endParaRPr lang="en-US" altLang="zh-CN" dirty="0" smtClean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64800" y="3772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074" name="Picture 2" descr="存储结构-inse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262" y="1399916"/>
            <a:ext cx="8198138" cy="4745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90558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3927</TotalTime>
  <Words>177</Words>
  <Application>Microsoft Office PowerPoint</Application>
  <PresentationFormat>宽屏</PresentationFormat>
  <Paragraphs>18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宋体</vt:lpstr>
      <vt:lpstr>微软雅黑</vt:lpstr>
      <vt:lpstr>Arial</vt:lpstr>
      <vt:lpstr>Calibri</vt:lpstr>
      <vt:lpstr>Verdana</vt:lpstr>
      <vt:lpstr>自定义设计方案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汪鹏</cp:lastModifiedBy>
  <cp:revision>217</cp:revision>
  <dcterms:created xsi:type="dcterms:W3CDTF">2021-03-09T02:51:00Z</dcterms:created>
  <dcterms:modified xsi:type="dcterms:W3CDTF">2022-08-15T09:19:35Z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