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0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311" r:id="rId2"/>
    <p:sldId id="312" r:id="rId3"/>
    <p:sldId id="321" r:id="rId4"/>
    <p:sldId id="315" r:id="rId5"/>
    <p:sldId id="317" r:id="rId6"/>
    <p:sldId id="313" r:id="rId7"/>
  </p:sldIdLst>
  <p:sldSz cx="12192000" cy="6858000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ccv" initials="z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CECE"/>
    <a:srgbClr val="0070C0"/>
    <a:srgbClr val="09BBDB"/>
    <a:srgbClr val="9DC3E6"/>
    <a:srgbClr val="F08F4F"/>
    <a:srgbClr val="1F4E79"/>
    <a:srgbClr val="1D5487"/>
    <a:srgbClr val="FFFFFF"/>
    <a:srgbClr val="5B9BD5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4297" autoAdjust="0"/>
  </p:normalViewPr>
  <p:slideViewPr>
    <p:cSldViewPr snapToGrid="0">
      <p:cViewPr varScale="1">
        <p:scale>
          <a:sx n="105" d="100"/>
          <a:sy n="105" d="100"/>
        </p:scale>
        <p:origin x="13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2022/8/15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Verdana" panose="020B0604030504040204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Verdana" panose="020B0604030504040204" charset="0"/>
              </a:defRPr>
            </a:lvl1pPr>
          </a:lstStyle>
          <a:p>
            <a:fld id="{D2A48B96-639E-45A3-A0BA-2464DFDB1FAA}" type="datetimeFigureOut">
              <a:rPr lang="zh-CN" altLang="en-US" smtClean="0"/>
              <a:t>2022/8/15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Verdana" panose="020B0604030504040204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cs typeface="Verdana" panose="020B0604030504040204" charset="0"/>
              </a:defRPr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Verdana" panose="020B060403050404020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Verdana" panose="020B060403050404020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Verdana" panose="020B060403050404020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Verdana" panose="020B060403050404020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Verdana" panose="020B060403050404020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每个锁的用途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每个锁的用途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每个锁的用途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每个锁的用途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每个锁的用途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每个锁的用途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5253990" y="2762885"/>
            <a:ext cx="6268085" cy="72453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400" b="0" spc="60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79742" y="6349833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2022/8/15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49833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五边形 6"/>
          <p:cNvSpPr/>
          <p:nvPr userDrawn="1"/>
        </p:nvSpPr>
        <p:spPr>
          <a:xfrm>
            <a:off x="3810" y="6245225"/>
            <a:ext cx="11061065" cy="612140"/>
          </a:xfrm>
          <a:prstGeom prst="homePlate">
            <a:avLst>
              <a:gd name="adj" fmla="val 181016"/>
            </a:avLst>
          </a:prstGeom>
          <a:gradFill>
            <a:gsLst>
              <a:gs pos="84000">
                <a:srgbClr val="1D5487">
                  <a:alpha val="100000"/>
                </a:srgbClr>
              </a:gs>
              <a:gs pos="15000">
                <a:schemeClr val="accent1"/>
              </a:gs>
              <a:gs pos="100000">
                <a:srgbClr val="03437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8" name="直角三角形 7"/>
          <p:cNvSpPr/>
          <p:nvPr userDrawn="1"/>
        </p:nvSpPr>
        <p:spPr>
          <a:xfrm rot="16200000">
            <a:off x="10759440" y="5414645"/>
            <a:ext cx="662940" cy="2201545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9" name="五边形 8"/>
          <p:cNvSpPr/>
          <p:nvPr userDrawn="1"/>
        </p:nvSpPr>
        <p:spPr>
          <a:xfrm rot="10800000">
            <a:off x="5810250" y="-2540"/>
            <a:ext cx="6374765" cy="612140"/>
          </a:xfrm>
          <a:prstGeom prst="homePlate">
            <a:avLst>
              <a:gd name="adj" fmla="val 181016"/>
            </a:avLst>
          </a:prstGeom>
          <a:gradFill>
            <a:gsLst>
              <a:gs pos="84000">
                <a:srgbClr val="1D5487">
                  <a:alpha val="100000"/>
                </a:srgbClr>
              </a:gs>
              <a:gs pos="15000">
                <a:schemeClr val="accent1"/>
              </a:gs>
              <a:gs pos="100000">
                <a:srgbClr val="03437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0" name="直角三角形 9"/>
          <p:cNvSpPr/>
          <p:nvPr userDrawn="1"/>
        </p:nvSpPr>
        <p:spPr>
          <a:xfrm rot="5400000">
            <a:off x="2496185" y="-2504440"/>
            <a:ext cx="1924050" cy="6927850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69882" y="1296000"/>
            <a:ext cx="10852237" cy="504135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14" name="五边形 13"/>
          <p:cNvSpPr/>
          <p:nvPr userDrawn="1"/>
        </p:nvSpPr>
        <p:spPr>
          <a:xfrm>
            <a:off x="3810" y="6245225"/>
            <a:ext cx="11061065" cy="612140"/>
          </a:xfrm>
          <a:prstGeom prst="homePlate">
            <a:avLst>
              <a:gd name="adj" fmla="val 181016"/>
            </a:avLst>
          </a:prstGeom>
          <a:gradFill>
            <a:gsLst>
              <a:gs pos="84000">
                <a:srgbClr val="1D5487">
                  <a:alpha val="100000"/>
                </a:srgbClr>
              </a:gs>
              <a:gs pos="15000">
                <a:schemeClr val="accent1"/>
              </a:gs>
              <a:gs pos="100000">
                <a:srgbClr val="03437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6" name="直角三角形 15"/>
          <p:cNvSpPr/>
          <p:nvPr userDrawn="1"/>
        </p:nvSpPr>
        <p:spPr>
          <a:xfrm rot="16200000">
            <a:off x="10752455" y="5425440"/>
            <a:ext cx="662940" cy="2201545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11460480" y="6433820"/>
            <a:ext cx="612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6830060" y="1489710"/>
            <a:ext cx="4692015" cy="484759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文本框 3"/>
          <p:cNvSpPr txBox="1"/>
          <p:nvPr userDrawn="1"/>
        </p:nvSpPr>
        <p:spPr>
          <a:xfrm>
            <a:off x="10261963" y="316572"/>
            <a:ext cx="14020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48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  <a:cs typeface="Verdana" panose="020B0604030504040204" charset="0"/>
              </a:rPr>
              <a:t>目录</a:t>
            </a:r>
          </a:p>
        </p:txBody>
      </p:sp>
      <p:sp>
        <p:nvSpPr>
          <p:cNvPr id="8" name="文本框 7"/>
          <p:cNvSpPr txBox="1"/>
          <p:nvPr userDrawn="1"/>
        </p:nvSpPr>
        <p:spPr>
          <a:xfrm>
            <a:off x="9281052" y="984642"/>
            <a:ext cx="2357591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chemeClr val="tx1"/>
                </a:solidFill>
                <a:latin typeface="+mj-lt"/>
                <a:ea typeface="微软雅黑" panose="020B0503020204020204" charset="-122"/>
                <a:cs typeface="+mj-lt"/>
              </a:rPr>
              <a:t>contents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11054443" y="1393046"/>
            <a:ext cx="5207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直角三角形 8"/>
          <p:cNvSpPr/>
          <p:nvPr userDrawn="1"/>
        </p:nvSpPr>
        <p:spPr>
          <a:xfrm rot="5400000">
            <a:off x="790575" y="-790575"/>
            <a:ext cx="1389380" cy="2962910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5" name="直角三角形 4"/>
          <p:cNvSpPr/>
          <p:nvPr userDrawn="1"/>
        </p:nvSpPr>
        <p:spPr>
          <a:xfrm rot="16200000">
            <a:off x="10752455" y="5425440"/>
            <a:ext cx="662940" cy="2201545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460480" y="6433820"/>
            <a:ext cx="612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五边形 13"/>
          <p:cNvSpPr/>
          <p:nvPr userDrawn="1"/>
        </p:nvSpPr>
        <p:spPr>
          <a:xfrm>
            <a:off x="3810" y="6245225"/>
            <a:ext cx="11061065" cy="612140"/>
          </a:xfrm>
          <a:prstGeom prst="homePlate">
            <a:avLst>
              <a:gd name="adj" fmla="val 181016"/>
            </a:avLst>
          </a:prstGeom>
          <a:gradFill>
            <a:gsLst>
              <a:gs pos="84000">
                <a:srgbClr val="1D5487">
                  <a:alpha val="100000"/>
                </a:srgbClr>
              </a:gs>
              <a:gs pos="15000">
                <a:schemeClr val="accent1"/>
              </a:gs>
              <a:gs pos="100000">
                <a:srgbClr val="03437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6" name="直角三角形 15"/>
          <p:cNvSpPr/>
          <p:nvPr userDrawn="1"/>
        </p:nvSpPr>
        <p:spPr>
          <a:xfrm rot="16200000">
            <a:off x="10752455" y="5425440"/>
            <a:ext cx="662940" cy="2201545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8" name="五边形 7"/>
          <p:cNvSpPr/>
          <p:nvPr userDrawn="1"/>
        </p:nvSpPr>
        <p:spPr>
          <a:xfrm rot="10800000">
            <a:off x="1123950" y="635"/>
            <a:ext cx="11061065" cy="612140"/>
          </a:xfrm>
          <a:prstGeom prst="homePlate">
            <a:avLst>
              <a:gd name="adj" fmla="val 181016"/>
            </a:avLst>
          </a:prstGeom>
          <a:gradFill>
            <a:gsLst>
              <a:gs pos="84000">
                <a:srgbClr val="1D5487">
                  <a:alpha val="100000"/>
                </a:srgbClr>
              </a:gs>
              <a:gs pos="15000">
                <a:schemeClr val="accent1"/>
              </a:gs>
              <a:gs pos="100000">
                <a:srgbClr val="03437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9" name="直角三角形 8"/>
          <p:cNvSpPr/>
          <p:nvPr userDrawn="1"/>
        </p:nvSpPr>
        <p:spPr>
          <a:xfrm rot="5400000">
            <a:off x="772795" y="-768985"/>
            <a:ext cx="662940" cy="2201545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11460480" y="6433820"/>
            <a:ext cx="612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669882" y="1203925"/>
            <a:ext cx="10852237" cy="504135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cs typeface="Verdana" panose="020B0604030504040204" charset="0"/>
              </a:defRPr>
            </a:lvl1pPr>
          </a:lstStyle>
          <a:p>
            <a:fld id="{D997B5FA-0921-464F-AAE1-844C04324D75}" type="datetime1">
              <a:rPr lang="zh-CN" altLang="en-US" smtClean="0"/>
              <a:t>2022/8/15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cs typeface="Verdana" panose="020B0604030504040204" charset="0"/>
              </a:defRPr>
            </a:lvl1pPr>
          </a:lstStyle>
          <a:p>
            <a:r>
              <a:rPr lang="zh-CN" altLang="en-US"/>
              <a:t>深圳计算科学研究院CoD研究室</a:t>
            </a:r>
          </a:p>
        </p:txBody>
      </p:sp>
      <p:sp>
        <p:nvSpPr>
          <p:cNvPr id="14" name="五边形 13"/>
          <p:cNvSpPr/>
          <p:nvPr userDrawn="1"/>
        </p:nvSpPr>
        <p:spPr>
          <a:xfrm>
            <a:off x="3810" y="6245225"/>
            <a:ext cx="11061065" cy="612140"/>
          </a:xfrm>
          <a:prstGeom prst="homePlate">
            <a:avLst>
              <a:gd name="adj" fmla="val 181016"/>
            </a:avLst>
          </a:prstGeom>
          <a:gradFill>
            <a:gsLst>
              <a:gs pos="84000">
                <a:srgbClr val="1D5487">
                  <a:alpha val="100000"/>
                </a:srgbClr>
              </a:gs>
              <a:gs pos="15000">
                <a:schemeClr val="accent1"/>
              </a:gs>
              <a:gs pos="100000">
                <a:srgbClr val="03437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6" name="直角三角形 15"/>
          <p:cNvSpPr/>
          <p:nvPr userDrawn="1"/>
        </p:nvSpPr>
        <p:spPr>
          <a:xfrm rot="16200000">
            <a:off x="10752455" y="5425440"/>
            <a:ext cx="662940" cy="2201545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11460480" y="6433820"/>
            <a:ext cx="612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KSO_TEMPLATE" hidden="1"/>
          <p:cNvSpPr/>
          <p:nvPr userDrawn="1">
            <p:custDataLst>
              <p:tags r:id="rId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-1118235" y="580390"/>
            <a:ext cx="274955" cy="3200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1128395" y="220980"/>
            <a:ext cx="285115" cy="3200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1772920" y="580390"/>
            <a:ext cx="285115" cy="320040"/>
          </a:xfrm>
          <a:prstGeom prst="rect">
            <a:avLst/>
          </a:prstGeom>
          <a:solidFill>
            <a:srgbClr val="09BB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1443990" y="220980"/>
            <a:ext cx="285115" cy="32004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-805180" y="220980"/>
            <a:ext cx="285115" cy="32004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-1437005" y="580390"/>
            <a:ext cx="285115" cy="32004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4" name="矩形 13"/>
          <p:cNvSpPr/>
          <p:nvPr userDrawn="1"/>
        </p:nvSpPr>
        <p:spPr>
          <a:xfrm>
            <a:off x="-800100" y="580390"/>
            <a:ext cx="285115" cy="32004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-1437005" y="1405890"/>
            <a:ext cx="285115" cy="3200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-1118235" y="1405890"/>
            <a:ext cx="285115" cy="32004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-1772920" y="1405890"/>
            <a:ext cx="285115" cy="320040"/>
          </a:xfrm>
          <a:prstGeom prst="rect">
            <a:avLst/>
          </a:prstGeom>
          <a:solidFill>
            <a:srgbClr val="F08F4F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8" name="矩形 17"/>
          <p:cNvSpPr/>
          <p:nvPr userDrawn="1"/>
        </p:nvSpPr>
        <p:spPr>
          <a:xfrm>
            <a:off x="-1760220" y="220980"/>
            <a:ext cx="285115" cy="320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-1822450" y="-55880"/>
            <a:ext cx="12382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chemeClr val="accent1">
                    <a:lumMod val="75000"/>
                  </a:schemeClr>
                </a:solidFill>
                <a:cs typeface="Verdana" panose="020B0604030504040204" charset="0"/>
              </a:rPr>
              <a:t>配色方案：</a:t>
            </a: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-1838325" y="2005330"/>
            <a:ext cx="11398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rgbClr val="2E689D"/>
                </a:solidFill>
                <a:cs typeface="Verdana" panose="020B0604030504040204" charset="0"/>
              </a:rPr>
              <a:t>字体：</a:t>
            </a:r>
          </a:p>
        </p:txBody>
      </p:sp>
      <p:sp>
        <p:nvSpPr>
          <p:cNvPr id="21" name="文本框 20"/>
          <p:cNvSpPr txBox="1"/>
          <p:nvPr userDrawn="1"/>
        </p:nvSpPr>
        <p:spPr>
          <a:xfrm>
            <a:off x="-1873885" y="2209165"/>
            <a:ext cx="15887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cs typeface="Verdana" panose="020B0604030504040204" charset="0"/>
              </a:rPr>
              <a:t>中文：微软雅黑</a:t>
            </a:r>
          </a:p>
          <a:p>
            <a:pPr>
              <a:lnSpc>
                <a:spcPct val="150000"/>
              </a:lnSpc>
            </a:pPr>
            <a:r>
              <a:rPr lang="zh-CN" altLang="en-US" sz="1200" dirty="0">
                <a:cs typeface="Verdana" panose="020B0604030504040204" charset="0"/>
              </a:rPr>
              <a:t>西文：</a:t>
            </a:r>
            <a:r>
              <a:rPr lang="en-US" altLang="zh-CN" sz="1200" dirty="0">
                <a:cs typeface="Verdana" panose="020B0604030504040204" charset="0"/>
              </a:rPr>
              <a:t>Verdana</a:t>
            </a:r>
          </a:p>
        </p:txBody>
      </p:sp>
      <p:sp>
        <p:nvSpPr>
          <p:cNvPr id="22" name="文本框 21"/>
          <p:cNvSpPr txBox="1"/>
          <p:nvPr userDrawn="1"/>
        </p:nvSpPr>
        <p:spPr>
          <a:xfrm>
            <a:off x="-1838325" y="3077210"/>
            <a:ext cx="11398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rgbClr val="2E689D"/>
                </a:solidFill>
                <a:cs typeface="Verdana" panose="020B0604030504040204" charset="0"/>
              </a:rPr>
              <a:t>字号：</a:t>
            </a:r>
          </a:p>
        </p:txBody>
      </p:sp>
      <p:sp>
        <p:nvSpPr>
          <p:cNvPr id="23" name="文本框 22"/>
          <p:cNvSpPr txBox="1"/>
          <p:nvPr userDrawn="1"/>
        </p:nvSpPr>
        <p:spPr>
          <a:xfrm>
            <a:off x="-1842770" y="3394075"/>
            <a:ext cx="18459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cs typeface="Verdana" panose="020B0604030504040204" charset="0"/>
              </a:rPr>
              <a:t>封面页标题：</a:t>
            </a:r>
            <a:r>
              <a:rPr lang="en-US" altLang="zh-CN" sz="1200" dirty="0">
                <a:cs typeface="Verdana" panose="020B0604030504040204" charset="0"/>
              </a:rPr>
              <a:t>40-48px</a:t>
            </a:r>
          </a:p>
          <a:p>
            <a:pPr>
              <a:lnSpc>
                <a:spcPct val="150000"/>
              </a:lnSpc>
            </a:pPr>
            <a:r>
              <a:rPr lang="zh-CN" altLang="en-US" sz="1200" dirty="0">
                <a:cs typeface="Verdana" panose="020B0604030504040204" charset="0"/>
              </a:rPr>
              <a:t>正文标题：</a:t>
            </a:r>
            <a:r>
              <a:rPr lang="en-US" altLang="zh-CN" sz="1200" dirty="0">
                <a:cs typeface="Verdana" panose="020B0604030504040204" charset="0"/>
              </a:rPr>
              <a:t>16-24px</a:t>
            </a:r>
          </a:p>
          <a:p>
            <a:pPr>
              <a:lnSpc>
                <a:spcPct val="150000"/>
              </a:lnSpc>
            </a:pPr>
            <a:r>
              <a:rPr lang="zh-CN" altLang="en-US" sz="1200" dirty="0">
                <a:cs typeface="Verdana" panose="020B0604030504040204" charset="0"/>
              </a:rPr>
              <a:t>正文内容：</a:t>
            </a:r>
            <a:r>
              <a:rPr lang="en-US" altLang="zh-CN" sz="1200" dirty="0">
                <a:cs typeface="Verdana" panose="020B0604030504040204" charset="0"/>
              </a:rPr>
              <a:t>12-18px</a:t>
            </a:r>
          </a:p>
        </p:txBody>
      </p:sp>
      <p:sp>
        <p:nvSpPr>
          <p:cNvPr id="24" name="文本框 23"/>
          <p:cNvSpPr txBox="1"/>
          <p:nvPr userDrawn="1"/>
        </p:nvSpPr>
        <p:spPr>
          <a:xfrm>
            <a:off x="-1838325" y="1065530"/>
            <a:ext cx="11398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b="1">
                <a:solidFill>
                  <a:schemeClr val="accent1">
                    <a:lumMod val="75000"/>
                  </a:schemeClr>
                </a:solidFill>
                <a:cs typeface="Verdana" panose="020B0604030504040204" charset="0"/>
              </a:defRPr>
            </a:lvl1pPr>
          </a:lstStyle>
          <a:p>
            <a:pPr lvl="0"/>
            <a:r>
              <a:rPr lang="zh-CN" altLang="en-US" dirty="0"/>
              <a:t>强调色：</a:t>
            </a:r>
          </a:p>
        </p:txBody>
      </p:sp>
      <p:sp>
        <p:nvSpPr>
          <p:cNvPr id="25" name="文本框 24"/>
          <p:cNvSpPr txBox="1"/>
          <p:nvPr userDrawn="1"/>
        </p:nvSpPr>
        <p:spPr>
          <a:xfrm>
            <a:off x="-1760220" y="4460875"/>
            <a:ext cx="11398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rgbClr val="2E689D"/>
                </a:solidFill>
                <a:cs typeface="Verdana" panose="020B0604030504040204" charset="0"/>
              </a:rPr>
              <a:t>形状：</a:t>
            </a:r>
          </a:p>
        </p:txBody>
      </p:sp>
      <p:sp>
        <p:nvSpPr>
          <p:cNvPr id="26" name="矩形 25"/>
          <p:cNvSpPr/>
          <p:nvPr userDrawn="1"/>
        </p:nvSpPr>
        <p:spPr>
          <a:xfrm>
            <a:off x="-1762125" y="5020945"/>
            <a:ext cx="1400810" cy="39624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形状一</a:t>
            </a:r>
          </a:p>
        </p:txBody>
      </p:sp>
      <p:sp>
        <p:nvSpPr>
          <p:cNvPr id="27" name="矩形 26"/>
          <p:cNvSpPr/>
          <p:nvPr userDrawn="1"/>
        </p:nvSpPr>
        <p:spPr>
          <a:xfrm>
            <a:off x="-1772920" y="5556250"/>
            <a:ext cx="1400810" cy="3962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形状二</a:t>
            </a:r>
          </a:p>
        </p:txBody>
      </p:sp>
      <p:sp>
        <p:nvSpPr>
          <p:cNvPr id="28" name="矩形 27"/>
          <p:cNvSpPr/>
          <p:nvPr userDrawn="1"/>
        </p:nvSpPr>
        <p:spPr>
          <a:xfrm>
            <a:off x="-1772920" y="6153150"/>
            <a:ext cx="1400810" cy="396240"/>
          </a:xfrm>
          <a:prstGeom prst="rect">
            <a:avLst/>
          </a:prstGeom>
          <a:solidFill>
            <a:srgbClr val="F08F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形状三</a:t>
            </a:r>
          </a:p>
        </p:txBody>
      </p:sp>
      <p:sp>
        <p:nvSpPr>
          <p:cNvPr id="29" name="矩形 28"/>
          <p:cNvSpPr/>
          <p:nvPr userDrawn="1"/>
        </p:nvSpPr>
        <p:spPr>
          <a:xfrm>
            <a:off x="-1772920" y="6727190"/>
            <a:ext cx="1400810" cy="396240"/>
          </a:xfrm>
          <a:prstGeom prst="rect">
            <a:avLst/>
          </a:prstGeom>
          <a:solidFill>
            <a:srgbClr val="7671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形状四</a:t>
            </a:r>
          </a:p>
        </p:txBody>
      </p:sp>
      <p:sp>
        <p:nvSpPr>
          <p:cNvPr id="30" name="矩形 29"/>
          <p:cNvSpPr/>
          <p:nvPr userDrawn="1"/>
        </p:nvSpPr>
        <p:spPr>
          <a:xfrm>
            <a:off x="-1772920" y="7311390"/>
            <a:ext cx="1400810" cy="3962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形状五</a:t>
            </a:r>
          </a:p>
        </p:txBody>
      </p:sp>
      <p:sp>
        <p:nvSpPr>
          <p:cNvPr id="31" name="矩形 30"/>
          <p:cNvSpPr/>
          <p:nvPr userDrawn="1"/>
        </p:nvSpPr>
        <p:spPr>
          <a:xfrm>
            <a:off x="-1772920" y="7856220"/>
            <a:ext cx="1400810" cy="396240"/>
          </a:xfrm>
          <a:prstGeom prst="rect">
            <a:avLst/>
          </a:prstGeom>
          <a:solidFill>
            <a:srgbClr val="F0F0F0"/>
          </a:solidFill>
          <a:ln>
            <a:solidFill>
              <a:srgbClr val="767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chemeClr val="tx1"/>
                </a:solidFill>
              </a:rPr>
              <a:t>形状六</a:t>
            </a:r>
          </a:p>
        </p:txBody>
      </p:sp>
      <p:sp>
        <p:nvSpPr>
          <p:cNvPr id="32" name="矩形 31"/>
          <p:cNvSpPr/>
          <p:nvPr userDrawn="1"/>
        </p:nvSpPr>
        <p:spPr>
          <a:xfrm>
            <a:off x="-1772920" y="8418830"/>
            <a:ext cx="1400810" cy="396240"/>
          </a:xfrm>
          <a:prstGeom prst="rect">
            <a:avLst/>
          </a:prstGeom>
          <a:solidFill>
            <a:srgbClr val="09BBDB"/>
          </a:solidFill>
          <a:ln>
            <a:solidFill>
              <a:srgbClr val="767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rgbClr val="F0F0F0"/>
                </a:solidFill>
              </a:rPr>
              <a:t>形状七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0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8700" y="58200"/>
            <a:ext cx="3202940" cy="524510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zh-CN" altLang="en-US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数据库存储结构</a:t>
            </a: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48700" y="582710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898965" y="651925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5434602" y="3739745"/>
            <a:ext cx="1210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挑战</a:t>
            </a:r>
          </a:p>
        </p:txBody>
      </p:sp>
      <p:sp>
        <p:nvSpPr>
          <p:cNvPr id="47" name="矩形 46"/>
          <p:cNvSpPr/>
          <p:nvPr/>
        </p:nvSpPr>
        <p:spPr>
          <a:xfrm>
            <a:off x="5360035" y="2536190"/>
            <a:ext cx="5768975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zh-CN" sz="1600">
                <a:sym typeface="+mn-ea"/>
              </a:rPr>
              <a:t>      </a:t>
            </a:r>
            <a:r>
              <a:rPr lang="zh-CN" altLang="en-US" sz="1600">
                <a:sym typeface="+mn-ea"/>
              </a:rPr>
              <a:t>通过划分逻辑存储结构，可以方便物理存储的管理，包括表空间、数据段、数据区、数据块等逻辑存储概念。</a:t>
            </a:r>
            <a:endParaRPr lang="zh-CN" altLang="en-US" sz="1600"/>
          </a:p>
          <a:p>
            <a:pPr algn="l"/>
            <a:endParaRPr lang="en-US" altLang="zh-CN" sz="1600" b="0" i="0" dirty="0">
              <a:solidFill>
                <a:schemeClr val="tx1"/>
              </a:solidFill>
              <a:effectLst/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pic>
        <p:nvPicPr>
          <p:cNvPr id="3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805815"/>
            <a:ext cx="5360035" cy="524700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5434330" y="4860925"/>
            <a:ext cx="6127750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zh-CN" sz="1600">
                <a:sym typeface="+mn-ea"/>
              </a:rPr>
              <a:t>     </a:t>
            </a:r>
            <a:r>
              <a:rPr lang="zh-CN" altLang="en-US" sz="1600">
                <a:sym typeface="+mn-ea"/>
              </a:rPr>
              <a:t>物理存储结构是指数据库物理上的构成，由控制文件、数据</a:t>
            </a:r>
          </a:p>
          <a:p>
            <a:pPr algn="l"/>
            <a:r>
              <a:rPr lang="zh-CN" altLang="en-US" sz="1600">
                <a:sym typeface="+mn-ea"/>
              </a:rPr>
              <a:t>文件、重做日志、配置文件、备份文件、日志文件等构成。</a:t>
            </a:r>
            <a:endParaRPr lang="zh-CN" altLang="en-US" sz="1600" b="0" i="0" dirty="0">
              <a:solidFill>
                <a:schemeClr val="tx1"/>
              </a:solidFill>
              <a:effectLst/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+mn-ea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5476240" y="2577465"/>
            <a:ext cx="269240" cy="2108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3"/>
          <p:cNvSpPr/>
          <p:nvPr/>
        </p:nvSpPr>
        <p:spPr>
          <a:xfrm>
            <a:off x="5476240" y="4933950"/>
            <a:ext cx="269240" cy="2108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8700" y="58200"/>
            <a:ext cx="2771140" cy="524510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zh-CN" altLang="en-US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逻辑存储结构</a:t>
            </a: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48700" y="582710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898965" y="651925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5434602" y="3739745"/>
            <a:ext cx="1210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挑战</a:t>
            </a:r>
          </a:p>
        </p:txBody>
      </p:sp>
      <p:sp>
        <p:nvSpPr>
          <p:cNvPr id="47" name="矩形 46"/>
          <p:cNvSpPr/>
          <p:nvPr/>
        </p:nvSpPr>
        <p:spPr>
          <a:xfrm>
            <a:off x="6127750" y="1050925"/>
            <a:ext cx="5369560" cy="3291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600">
                <a:sym typeface="+mn-ea"/>
              </a:rPr>
              <a:t>表空间：数据库划分的逻辑单元，包含若干数据库对象，例如表、索引、视图等。</a:t>
            </a:r>
          </a:p>
          <a:p>
            <a:pPr algn="l"/>
            <a:endParaRPr lang="zh-CN" altLang="en-US" sz="1600"/>
          </a:p>
          <a:p>
            <a:pPr algn="l"/>
            <a:r>
              <a:rPr lang="zh-CN" altLang="en-US" sz="1600">
                <a:sym typeface="+mn-ea"/>
              </a:rPr>
              <a:t>数据段：每个数据库对象至少包含一个数据段。空间上由若干数据区组成。包含表段、索引段、 回滚段等不同类型的段。</a:t>
            </a:r>
          </a:p>
          <a:p>
            <a:pPr algn="l"/>
            <a:endParaRPr lang="zh-CN" altLang="en-US" sz="1600"/>
          </a:p>
          <a:p>
            <a:pPr algn="l"/>
            <a:r>
              <a:rPr lang="zh-CN" altLang="en-US" sz="1600">
                <a:sym typeface="+mn-ea"/>
              </a:rPr>
              <a:t>数据区：由一组物理上连续的数据块组成，可以提高空间管理的效率。</a:t>
            </a:r>
          </a:p>
          <a:p>
            <a:pPr algn="l"/>
            <a:endParaRPr lang="zh-CN" altLang="en-US" sz="1600"/>
          </a:p>
          <a:p>
            <a:pPr algn="l"/>
            <a:r>
              <a:rPr lang="zh-CN" altLang="en-US" sz="1600">
                <a:sym typeface="+mn-ea"/>
              </a:rPr>
              <a:t>数据块：数据存储的最小逻辑单元，默认的大小8K。包含表、索引、UNDO等不同类型的块。</a:t>
            </a:r>
            <a:endParaRPr lang="zh-CN" altLang="en-US" sz="1600"/>
          </a:p>
          <a:p>
            <a:pPr algn="l"/>
            <a:endParaRPr lang="en-US" altLang="zh-CN" sz="1600" b="0" i="0" dirty="0">
              <a:solidFill>
                <a:schemeClr val="tx1"/>
              </a:solidFill>
              <a:effectLst/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28980"/>
            <a:ext cx="5729605" cy="4694555"/>
          </a:xfrm>
          <a:prstGeom prst="rect">
            <a:avLst/>
          </a:prstGeom>
        </p:spPr>
      </p:pic>
      <p:sp>
        <p:nvSpPr>
          <p:cNvPr id="2" name="圆角矩形 1"/>
          <p:cNvSpPr/>
          <p:nvPr/>
        </p:nvSpPr>
        <p:spPr>
          <a:xfrm>
            <a:off x="5858510" y="1162685"/>
            <a:ext cx="269240" cy="2108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5858510" y="1850390"/>
            <a:ext cx="269240" cy="2108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5858510" y="2849245"/>
            <a:ext cx="269240" cy="1968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5858510" y="3584575"/>
            <a:ext cx="269240" cy="2108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8700" y="58200"/>
            <a:ext cx="2339340" cy="524510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zh-CN" altLang="en-US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内置表空间</a:t>
            </a: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48700" y="582710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898965" y="651925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矩形 46"/>
          <p:cNvSpPr/>
          <p:nvPr/>
        </p:nvSpPr>
        <p:spPr>
          <a:xfrm>
            <a:off x="6127750" y="1050925"/>
            <a:ext cx="5369560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endParaRPr lang="zh-CN" altLang="en-US" sz="1600"/>
          </a:p>
          <a:p>
            <a:pPr algn="l"/>
            <a:endParaRPr lang="en-US" altLang="zh-CN" sz="1600" b="0" i="0" dirty="0">
              <a:solidFill>
                <a:schemeClr val="tx1"/>
              </a:solidFill>
              <a:effectLst/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5387975" y="2987040"/>
            <a:ext cx="269240" cy="2108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5387975" y="2342515"/>
            <a:ext cx="269240" cy="2108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5387975" y="1642110"/>
            <a:ext cx="269240" cy="2108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5780405" y="2287905"/>
            <a:ext cx="223012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SYSTEM</a:t>
            </a:r>
            <a:r>
              <a:rPr lang="zh-CN" altLang="en-US" sz="1600"/>
              <a:t>的辅助表空间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132965" y="255587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" y="1249680"/>
            <a:ext cx="2415540" cy="435864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5584825" y="1571625"/>
            <a:ext cx="215519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  </a:t>
            </a:r>
            <a:r>
              <a:rPr lang="zh-CN" altLang="en-US" sz="1600"/>
              <a:t>存储数据库数据字典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5780405" y="2924175"/>
            <a:ext cx="14020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/>
              <a:t>用于回滚事务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5780405" y="4860925"/>
            <a:ext cx="16052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/>
              <a:t>用户默认表空间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5584825" y="4238625"/>
            <a:ext cx="38207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   </a:t>
            </a:r>
            <a:r>
              <a:rPr lang="zh-CN" altLang="en-US" sz="1600"/>
              <a:t>存放中间排序结果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5780405" y="3574415"/>
            <a:ext cx="11988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/>
              <a:t>存储临时表</a:t>
            </a:r>
          </a:p>
        </p:txBody>
      </p:sp>
      <p:sp>
        <p:nvSpPr>
          <p:cNvPr id="22" name="圆角矩形 21"/>
          <p:cNvSpPr/>
          <p:nvPr/>
        </p:nvSpPr>
        <p:spPr>
          <a:xfrm>
            <a:off x="5387975" y="3631565"/>
            <a:ext cx="269240" cy="2108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圆角矩形 23"/>
          <p:cNvSpPr/>
          <p:nvPr/>
        </p:nvSpPr>
        <p:spPr>
          <a:xfrm>
            <a:off x="5387975" y="4276090"/>
            <a:ext cx="269240" cy="2108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圆角矩形 24"/>
          <p:cNvSpPr/>
          <p:nvPr/>
        </p:nvSpPr>
        <p:spPr>
          <a:xfrm>
            <a:off x="5387975" y="4920615"/>
            <a:ext cx="269240" cy="2108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8700" y="58200"/>
            <a:ext cx="3634740" cy="524510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zh-CN" altLang="en-US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表空间与数据文件</a:t>
            </a: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48700" y="582710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898965" y="651925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5434602" y="3739745"/>
            <a:ext cx="1210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挑战</a:t>
            </a:r>
          </a:p>
        </p:txBody>
      </p:sp>
      <p:sp>
        <p:nvSpPr>
          <p:cNvPr id="47" name="矩形 46"/>
          <p:cNvSpPr/>
          <p:nvPr/>
        </p:nvSpPr>
        <p:spPr>
          <a:xfrm>
            <a:off x="6127750" y="1050925"/>
            <a:ext cx="5369560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endParaRPr lang="zh-CN" altLang="en-US" sz="1600"/>
          </a:p>
          <a:p>
            <a:pPr algn="l"/>
            <a:endParaRPr lang="en-US" altLang="zh-CN" sz="1600" b="0" i="0" dirty="0">
              <a:solidFill>
                <a:schemeClr val="tx1"/>
              </a:solidFill>
              <a:effectLst/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4416425" y="1911350"/>
            <a:ext cx="269240" cy="2108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4416425" y="2527300"/>
            <a:ext cx="269240" cy="2108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4416425" y="1295400"/>
            <a:ext cx="269240" cy="2108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4839335" y="1216660"/>
            <a:ext cx="38404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表空间和数据文件是相互依存的关系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839335" y="1832610"/>
            <a:ext cx="3611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一个表空间至少拥有一个数据文件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4882515" y="3011170"/>
            <a:ext cx="3611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一个数据文件只能属于一个表空间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4839335" y="2421890"/>
            <a:ext cx="3611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一个表空间可以包含多个数据文件</a:t>
            </a:r>
          </a:p>
        </p:txBody>
      </p:sp>
      <p:sp>
        <p:nvSpPr>
          <p:cNvPr id="14" name="圆角矩形 13"/>
          <p:cNvSpPr/>
          <p:nvPr/>
        </p:nvSpPr>
        <p:spPr>
          <a:xfrm>
            <a:off x="4416425" y="3089910"/>
            <a:ext cx="269240" cy="2108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195" y="1050925"/>
            <a:ext cx="2644140" cy="486918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4922520" y="3627120"/>
            <a:ext cx="367411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一个表空间最多拥有</a:t>
            </a:r>
            <a:r>
              <a:rPr lang="en-US" altLang="zh-CN"/>
              <a:t>64</a:t>
            </a:r>
            <a:r>
              <a:rPr lang="zh-CN" altLang="en-US"/>
              <a:t>个数据文件</a:t>
            </a:r>
          </a:p>
        </p:txBody>
      </p:sp>
      <p:sp>
        <p:nvSpPr>
          <p:cNvPr id="18" name="圆角矩形 17"/>
          <p:cNvSpPr/>
          <p:nvPr/>
        </p:nvSpPr>
        <p:spPr>
          <a:xfrm>
            <a:off x="4416425" y="3743325"/>
            <a:ext cx="269240" cy="2108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8700" y="58200"/>
            <a:ext cx="4930140" cy="524510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zh-CN" altLang="en-US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定长数据区和变长数据区</a:t>
            </a: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48700" y="582710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898965" y="651925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5434602" y="3739745"/>
            <a:ext cx="1210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挑战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5304790" y="742315"/>
            <a:ext cx="590931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zh-CN" altLang="en-US" sz="1600"/>
          </a:p>
          <a:p>
            <a:pPr algn="l"/>
            <a:r>
              <a:rPr lang="en-US" altLang="zh-CN" sz="1600"/>
              <a:t>     </a:t>
            </a:r>
            <a:r>
              <a:rPr lang="zh-CN" altLang="en-US" sz="1600"/>
              <a:t>创建表空间时，可以指定extent的大小，必须是block size</a:t>
            </a:r>
            <a:r>
              <a:rPr lang="en-US" altLang="zh-CN" sz="1600"/>
              <a:t>  </a:t>
            </a:r>
            <a:r>
              <a:rPr lang="zh-CN" altLang="en-US" sz="1600"/>
              <a:t>的整数倍，不指定时默认的extent blocks为8。</a:t>
            </a:r>
          </a:p>
          <a:p>
            <a:pPr algn="l"/>
            <a:endParaRPr lang="zh-CN" altLang="en-US" sz="1600"/>
          </a:p>
          <a:p>
            <a:pPr algn="l"/>
            <a:r>
              <a:rPr lang="en-US" altLang="zh-CN" sz="1600"/>
              <a:t>     </a:t>
            </a:r>
            <a:r>
              <a:rPr lang="zh-CN" altLang="en-US" sz="1600"/>
              <a:t>表空间创建完成之后，不能再改变extent的大小。</a:t>
            </a:r>
          </a:p>
          <a:p>
            <a:pPr algn="l"/>
            <a:endParaRPr lang="zh-CN" altLang="en-US" sz="1600"/>
          </a:p>
          <a:p>
            <a:pPr algn="l"/>
            <a:r>
              <a:rPr lang="en-US" altLang="zh-CN" sz="1600"/>
              <a:t>     </a:t>
            </a:r>
            <a:r>
              <a:rPr lang="zh-CN" altLang="en-US" sz="1600"/>
              <a:t>所有对象每次申请的extent大小都是固定的。</a:t>
            </a:r>
          </a:p>
          <a:p>
            <a:pPr algn="l"/>
            <a:endParaRPr lang="zh-CN" altLang="en-US" sz="1600"/>
          </a:p>
          <a:p>
            <a:pPr algn="l"/>
            <a:r>
              <a:rPr lang="en-US" altLang="zh-CN" sz="1600"/>
              <a:t>     </a:t>
            </a:r>
            <a:r>
              <a:rPr lang="zh-CN" altLang="en-US" sz="1600"/>
              <a:t>extent unit等价于extent,即数据文件bitmap的每个bit位</a:t>
            </a:r>
            <a:r>
              <a:rPr lang="en-US" altLang="zh-CN" sz="1600"/>
              <a:t>      </a:t>
            </a:r>
            <a:r>
              <a:rPr lang="zh-CN" altLang="en-US" sz="1600"/>
              <a:t>表空间一个extent。</a:t>
            </a:r>
          </a:p>
          <a:p>
            <a:pPr algn="l"/>
            <a:endParaRPr lang="zh-CN" altLang="en-US" sz="1600"/>
          </a:p>
          <a:p>
            <a:pPr algn="l"/>
            <a:endParaRPr lang="zh-CN" altLang="en-US" sz="1600"/>
          </a:p>
          <a:p>
            <a:pPr algn="l"/>
            <a:endParaRPr lang="zh-CN" altLang="en-US" sz="1600"/>
          </a:p>
          <a:p>
            <a:pPr algn="l"/>
            <a:r>
              <a:rPr lang="en-US" altLang="zh-CN" sz="1600"/>
              <a:t>     </a:t>
            </a:r>
            <a:r>
              <a:rPr lang="zh-CN" altLang="en-US" sz="1600"/>
              <a:t>对于变长extent的表空间，extent uint的大小默认为8个block，undo表空间为1个block。</a:t>
            </a:r>
          </a:p>
          <a:p>
            <a:pPr algn="l"/>
            <a:endParaRPr lang="zh-CN" altLang="en-US" sz="1600"/>
          </a:p>
          <a:p>
            <a:pPr algn="l"/>
            <a:r>
              <a:rPr lang="en-US" altLang="zh-CN" sz="1600"/>
              <a:t>     </a:t>
            </a:r>
            <a:r>
              <a:rPr lang="zh-CN" altLang="en-US" sz="1600"/>
              <a:t>可以将若干连续的extent unit组成一个大的extent，数据库支。四种长度的extent, 包括1,16,128,1024个extent unit。</a:t>
            </a:r>
          </a:p>
        </p:txBody>
      </p:sp>
      <p:sp>
        <p:nvSpPr>
          <p:cNvPr id="10" name="圆角矩形 9"/>
          <p:cNvSpPr/>
          <p:nvPr/>
        </p:nvSpPr>
        <p:spPr>
          <a:xfrm>
            <a:off x="5387340" y="1058545"/>
            <a:ext cx="269240" cy="2108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5387340" y="2753995"/>
            <a:ext cx="269240" cy="2108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5387340" y="2253615"/>
            <a:ext cx="269240" cy="2108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5387340" y="4697095"/>
            <a:ext cx="269240" cy="2108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圆角矩形 13"/>
          <p:cNvSpPr/>
          <p:nvPr/>
        </p:nvSpPr>
        <p:spPr>
          <a:xfrm>
            <a:off x="5387340" y="3971290"/>
            <a:ext cx="269240" cy="2108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圆角矩形 15"/>
          <p:cNvSpPr/>
          <p:nvPr/>
        </p:nvSpPr>
        <p:spPr>
          <a:xfrm>
            <a:off x="5387340" y="1767840"/>
            <a:ext cx="269240" cy="2108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10" y="742315"/>
            <a:ext cx="4051300" cy="52552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8700" y="58200"/>
            <a:ext cx="2771140" cy="524510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zh-CN" altLang="en-US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数据文件结构</a:t>
            </a: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48700" y="582710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898965" y="651925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5434602" y="3739745"/>
            <a:ext cx="1210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挑战</a:t>
            </a:r>
          </a:p>
        </p:txBody>
      </p:sp>
      <p:sp>
        <p:nvSpPr>
          <p:cNvPr id="5" name="矩形 4"/>
          <p:cNvSpPr/>
          <p:nvPr/>
        </p:nvSpPr>
        <p:spPr>
          <a:xfrm>
            <a:off x="5360035" y="4839970"/>
            <a:ext cx="6127750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zh-CN" sz="1600">
                <a:sym typeface="+mn-ea"/>
              </a:rPr>
              <a:t> </a:t>
            </a:r>
            <a:endParaRPr lang="zh-CN" altLang="en-US" sz="1600" b="0" i="0" dirty="0">
              <a:solidFill>
                <a:schemeClr val="tx1"/>
              </a:solidFill>
              <a:effectLst/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+mn-ea"/>
            </a:endParaRPr>
          </a:p>
        </p:txBody>
      </p:sp>
      <p:pic>
        <p:nvPicPr>
          <p:cNvPr id="6" name="图片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55245" y="829945"/>
            <a:ext cx="7161530" cy="301244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48895" y="4305935"/>
            <a:ext cx="28985845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600">
                <a:sym typeface="+mn-ea"/>
              </a:rPr>
              <a:t>    </a:t>
            </a:r>
            <a:r>
              <a:rPr lang="zh-CN" altLang="en-US" sz="1600">
                <a:sym typeface="+mn-ea"/>
              </a:rPr>
              <a:t>数据文件头部页面：数据文件元信息，包括创建时间、所属表空间</a:t>
            </a:r>
            <a:r>
              <a:rPr lang="en-US" altLang="zh-CN" sz="1600">
                <a:sym typeface="+mn-ea"/>
              </a:rPr>
              <a:t>ID</a:t>
            </a:r>
            <a:r>
              <a:rPr lang="zh-CN" altLang="en-US" sz="1600">
                <a:sym typeface="+mn-ea"/>
              </a:rPr>
              <a:t>、标识号等</a:t>
            </a:r>
          </a:p>
          <a:p>
            <a:pPr algn="l"/>
            <a:endParaRPr lang="zh-CN" altLang="en-US" sz="1600">
              <a:sym typeface="+mn-ea"/>
            </a:endParaRPr>
          </a:p>
          <a:p>
            <a:pPr algn="l"/>
            <a:r>
              <a:rPr lang="en-US" altLang="zh-CN" sz="1600">
                <a:sym typeface="+mn-ea"/>
              </a:rPr>
              <a:t>    </a:t>
            </a:r>
            <a:r>
              <a:rPr lang="zh-CN" altLang="en-US" sz="1600">
                <a:sym typeface="+mn-ea"/>
              </a:rPr>
              <a:t>表空间头部页面：描述数据文件所属表空间信息</a:t>
            </a:r>
          </a:p>
          <a:p>
            <a:pPr algn="l"/>
            <a:endParaRPr lang="zh-CN" altLang="en-US" sz="1600">
              <a:sym typeface="+mn-ea"/>
            </a:endParaRPr>
          </a:p>
          <a:p>
            <a:pPr algn="l"/>
            <a:r>
              <a:rPr lang="en-US" altLang="zh-CN" sz="1600">
                <a:sym typeface="+mn-ea"/>
              </a:rPr>
              <a:t>    Map Block</a:t>
            </a:r>
            <a:r>
              <a:rPr lang="zh-CN" altLang="en-US" sz="1600">
                <a:sym typeface="+mn-ea"/>
              </a:rPr>
              <a:t>页面：用于空闲空间管理</a:t>
            </a:r>
          </a:p>
          <a:p>
            <a:pPr algn="l"/>
            <a:endParaRPr lang="zh-CN" altLang="en-US" sz="1600">
              <a:sym typeface="+mn-ea"/>
            </a:endParaRPr>
          </a:p>
          <a:p>
            <a:pPr algn="l"/>
            <a:r>
              <a:rPr lang="en-US" altLang="zh-CN" sz="1600">
                <a:sym typeface="+mn-ea"/>
              </a:rPr>
              <a:t>    Data Block</a:t>
            </a:r>
            <a:r>
              <a:rPr lang="zh-CN" altLang="en-US" sz="1600">
                <a:sym typeface="+mn-ea"/>
              </a:rPr>
              <a:t>页面：存放对象数据</a:t>
            </a:r>
            <a:endParaRPr lang="zh-CN" altLang="en-US" sz="1600"/>
          </a:p>
        </p:txBody>
      </p:sp>
      <p:sp>
        <p:nvSpPr>
          <p:cNvPr id="2" name="圆角矩形 1"/>
          <p:cNvSpPr/>
          <p:nvPr/>
        </p:nvSpPr>
        <p:spPr>
          <a:xfrm>
            <a:off x="48895" y="4839970"/>
            <a:ext cx="269240" cy="2108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48895" y="4371975"/>
            <a:ext cx="269240" cy="2108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48895" y="5796915"/>
            <a:ext cx="269240" cy="2108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48895" y="5354955"/>
            <a:ext cx="269240" cy="2108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WE3ODViY2JhOGYyYzU1ZWI3YTEzNTYwN2I3MTRmM2M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"/>
  <p:tag name="KSO_WM_TEMPLATE_SUBCATEGORY" val="0"/>
  <p:tag name="KSO_WM_TAG_VERSION" val="1.0"/>
  <p:tag name="KSO_WM_BEAUTIFY_FLAG" val="#wm#"/>
  <p:tag name="KSO_WM_TEMPLATE_CATEGORY" val="custom"/>
  <p:tag name="KSO_WM_TEMPLATE_INDEX" val="2018730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8263,&quot;width&quot;:8441}"/>
</p:tagLst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Verdana"/>
        <a:font script="Hebr" typeface="Verdana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Verdana"/>
        <a:font script="Hebr" typeface="Verdana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491</Words>
  <Application>Microsoft Office PowerPoint</Application>
  <PresentationFormat>宽屏</PresentationFormat>
  <Paragraphs>66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微软雅黑</vt:lpstr>
      <vt:lpstr>Arial</vt:lpstr>
      <vt:lpstr>Calibri</vt:lpstr>
      <vt:lpstr>Verdana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zhangjh</dc:creator>
  <cp:lastModifiedBy>guocl@sics.com</cp:lastModifiedBy>
  <cp:revision>218</cp:revision>
  <dcterms:created xsi:type="dcterms:W3CDTF">2021-03-09T02:51:00Z</dcterms:created>
  <dcterms:modified xsi:type="dcterms:W3CDTF">2022-08-15T12:05:25Z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2052-11.1.0.12302</vt:lpwstr>
  </property>
  <property fmtid="{D5CDD505-2E9C-101B-9397-08002B2CF9AE}" pid="3" name="ICV">
    <vt:lpwstr>E2EB44683814483383D020B3EADE5272</vt:lpwstr>
  </property>
</Properties>
</file>