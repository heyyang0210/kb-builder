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329" r:id="rId3"/>
    <p:sldId id="310" r:id="rId5"/>
    <p:sldId id="341" r:id="rId6"/>
    <p:sldId id="313" r:id="rId7"/>
    <p:sldId id="342" r:id="rId8"/>
    <p:sldId id="343" r:id="rId9"/>
    <p:sldId id="344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  <p:cmAuthor id="2" name="liyq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77" d="100"/>
          <a:sy n="77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0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9446260" y="5505450"/>
            <a:ext cx="1491615" cy="365125"/>
          </a:xfrm>
        </p:spPr>
        <p:txBody>
          <a:bodyPr/>
          <a:lstStyle/>
          <a:p>
            <a:fld id="{D997B5FA-0921-464F-AAE1-844C04324D75}" type="datetime1">
              <a:rPr lang="zh-CN" altLang="en-US" smtClean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8216265" y="5012690"/>
            <a:ext cx="3434715" cy="365125"/>
          </a:xfrm>
        </p:spPr>
        <p:txBody>
          <a:bodyPr/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  <a:t>深圳计算科学研究院CoD研究室</a:t>
            </a:r>
            <a:endParaRPr lang="zh-CN" altLang="en-US" dirty="0">
              <a:solidFill>
                <a:schemeClr val="bg2">
                  <a:lumMod val="50000"/>
                </a:schemeClr>
              </a:solidFill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pic>
        <p:nvPicPr>
          <p:cNvPr id="16" name="图片 15" descr="C:\Users\zhangjh\Desktop\OIP.pngOIP"/>
          <p:cNvPicPr>
            <a:picLocks noChangeAspect="1"/>
          </p:cNvPicPr>
          <p:nvPr/>
        </p:nvPicPr>
        <p:blipFill>
          <a:blip r:embed="rId1">
            <a:biLevel thresh="50000"/>
            <a:lum bright="70000" contrast="-70000"/>
          </a:blip>
          <a:srcRect/>
          <a:stretch>
            <a:fillRect/>
          </a:stretch>
        </p:blipFill>
        <p:spPr>
          <a:xfrm>
            <a:off x="949325" y="1578610"/>
            <a:ext cx="4046855" cy="3700780"/>
          </a:xfrm>
          <a:prstGeom prst="teardrop">
            <a:avLst>
              <a:gd name="adj" fmla="val 98508"/>
            </a:avLst>
          </a:prstGeom>
          <a:ln>
            <a:solidFill>
              <a:schemeClr val="bg1"/>
            </a:solidFill>
          </a:ln>
          <a:effectLst>
            <a:softEdge rad="127000"/>
          </a:effectLst>
        </p:spPr>
      </p:pic>
      <p:sp>
        <p:nvSpPr>
          <p:cNvPr id="5" name="文本框 4"/>
          <p:cNvSpPr txBox="1"/>
          <p:nvPr/>
        </p:nvSpPr>
        <p:spPr>
          <a:xfrm>
            <a:off x="1239520" y="2999740"/>
            <a:ext cx="106267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Segment Space Management</a:t>
            </a:r>
            <a:endParaRPr lang="en-US" altLang="zh-CN" sz="48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971296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Ssm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（</a:t>
            </a:r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Segment </a:t>
            </a:r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Space Management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）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文本框 118"/>
          <p:cNvSpPr txBox="1"/>
          <p:nvPr/>
        </p:nvSpPr>
        <p:spPr>
          <a:xfrm>
            <a:off x="728345" y="1275715"/>
            <a:ext cx="924496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altLang="en-US" sz="1400" b="0" dirty="0"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</a:rPr>
              <a:t>SSM也称为段空间管理，也叫空闲空间管理，是在Segment的基础上，将一些block转成SSM Block用来记录Data Block的空闲度（Freeness）。</a:t>
            </a:r>
            <a:endParaRPr lang="zh-CN" altLang="en-US" sz="1400" b="0" dirty="0"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</a:endParaRPr>
          </a:p>
          <a:p>
            <a:pPr indent="0"/>
            <a:endParaRPr lang="zh-CN" altLang="en-US" sz="1400" b="0" dirty="0"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</a:endParaRPr>
          </a:p>
          <a:p>
            <a:pPr indent="0"/>
            <a:r>
              <a:rPr lang="zh-CN" altLang="en-US" sz="1400" b="0" dirty="0">
                <a:effectLst/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</a:rPr>
              <a:t>SSM一共提供了7个空闲级别，各个freeness代表什么由使用的模块定义，heap对7个freeness的定义分别是：</a:t>
            </a:r>
            <a:endParaRPr lang="zh-CN" altLang="en-US" sz="1400" b="0" dirty="0"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845820" y="2675255"/>
          <a:ext cx="8401050" cy="294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250"/>
                <a:gridCol w="1873250"/>
                <a:gridCol w="465455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F</a:t>
                      </a:r>
                      <a:r>
                        <a:rPr lang="en-US" altLang="zh-CN"/>
                        <a:t>reeness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Status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Meaning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0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Full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400"/>
                        <a:t>页面不可再插入数据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1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0~25%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页面有0-25%的空闲空间，且可以继续插入数据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2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>
                          <a:sym typeface="+mn-ea"/>
                        </a:rPr>
                        <a:t>25%~50%</a:t>
                      </a:r>
                      <a:endParaRPr lang="en-US" altLang="zh-CN" sz="14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页面有25%-50%的空闲空间，且可以继续插入数据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3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50%~75%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页面有50%-75%的空闲空间，且可以继续插入数据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4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75%~100%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页面有75%-100%的空闲空间，且可以继续插入数据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5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Empty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页面为空，可以是未插入过数据或</a:t>
                      </a:r>
                      <a:r>
                        <a:rPr lang="zh-CN" altLang="en-US" sz="1400"/>
                        <a:t>数据已经删</a:t>
                      </a:r>
                      <a:r>
                        <a:rPr lang="zh-CN" altLang="en-US" sz="1400"/>
                        <a:t>空</a:t>
                      </a:r>
                      <a:endParaRPr lang="zh-CN" altLang="en-US" sz="1400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6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/>
                        <a:t>shrink complete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表示shrink过程中，已经将页面搬空。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124904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Ssm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2739390" y="1751965"/>
            <a:ext cx="2524760" cy="23120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2738755" y="1751965"/>
            <a:ext cx="2524760" cy="229870"/>
          </a:xfrm>
          <a:prstGeom prst="rect">
            <a:avLst/>
          </a:prstGeom>
          <a:solidFill>
            <a:srgbClr val="76717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 head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38755" y="1982470"/>
            <a:ext cx="845820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23920" y="1982470"/>
            <a:ext cx="107696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(4)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739390" y="2212975"/>
            <a:ext cx="127381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0 (4)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409440" y="1982470"/>
            <a:ext cx="85407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...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40025" y="2904490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block(2)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013200" y="2212975"/>
            <a:ext cx="125031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1 (1)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2740025" y="2443480"/>
            <a:ext cx="127381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2 (3)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13200" y="2443480"/>
            <a:ext cx="125031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3 (0)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38755" y="2673350"/>
            <a:ext cx="127381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4 (1)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13200" y="2673985"/>
            <a:ext cx="125031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5 (0)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75685" y="2904490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block(2)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20870" y="2904490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block(1)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740025" y="3134995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block(0)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78860" y="3134995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block(2)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420870" y="3134995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block(0)</a:t>
            </a:r>
            <a:endParaRPr lang="zh-CN" altLang="en-US" sz="8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40025" y="3365500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block(0)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578860" y="3365500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block(0)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420235" y="3365500"/>
            <a:ext cx="84518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00">
                <a:solidFill>
                  <a:schemeClr val="tx1"/>
                </a:solidFill>
              </a:rPr>
              <a:t>data block(4)</a:t>
            </a:r>
            <a:endParaRPr lang="en-US" altLang="zh-CN" sz="8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89890" y="4526915"/>
            <a:ext cx="1504950" cy="1120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003935" y="4756785"/>
            <a:ext cx="89090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freeness(2)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9890" y="4526915"/>
            <a:ext cx="150304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89890" y="4756785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cxnSp>
        <p:nvCxnSpPr>
          <p:cNvPr id="28" name="曲线连接符 27"/>
          <p:cNvCxnSpPr>
            <a:stCxn id="27" idx="1"/>
            <a:endCxn id="6" idx="1"/>
          </p:cNvCxnSpPr>
          <p:nvPr/>
        </p:nvCxnSpPr>
        <p:spPr>
          <a:xfrm rot="10800000" flipH="1">
            <a:off x="389890" y="3019425"/>
            <a:ext cx="2350135" cy="1852295"/>
          </a:xfrm>
          <a:prstGeom prst="curvedConnector3">
            <a:avLst>
              <a:gd name="adj1" fmla="val -10132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4773930" y="4554855"/>
            <a:ext cx="1388110" cy="1120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...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0" name="曲线连接符 29"/>
          <p:cNvCxnSpPr>
            <a:endCxn id="16" idx="1"/>
          </p:cNvCxnSpPr>
          <p:nvPr/>
        </p:nvCxnSpPr>
        <p:spPr>
          <a:xfrm rot="10800000" flipH="1">
            <a:off x="2625725" y="3249930"/>
            <a:ext cx="114300" cy="1649730"/>
          </a:xfrm>
          <a:prstGeom prst="curvedConnector3">
            <a:avLst>
              <a:gd name="adj1" fmla="val -208333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/>
          <p:cNvCxnSpPr>
            <a:endCxn id="22" idx="3"/>
          </p:cNvCxnSpPr>
          <p:nvPr/>
        </p:nvCxnSpPr>
        <p:spPr>
          <a:xfrm rot="10800000">
            <a:off x="5265420" y="3480435"/>
            <a:ext cx="1926590" cy="1391285"/>
          </a:xfrm>
          <a:prstGeom prst="curvedConnector3">
            <a:avLst>
              <a:gd name="adj1" fmla="val 50000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2625725" y="4554855"/>
            <a:ext cx="1504950" cy="1120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3239770" y="4784725"/>
            <a:ext cx="89090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freeness(0)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625725" y="4554855"/>
            <a:ext cx="150304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2625725" y="4784725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192010" y="4554855"/>
            <a:ext cx="1504950" cy="11201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7806055" y="4784725"/>
            <a:ext cx="89090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freeness(4)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7192010" y="4554855"/>
            <a:ext cx="150304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192010" y="4784725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2736850" y="2673350"/>
            <a:ext cx="1273810" cy="229870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4 (1)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4012565" y="2444115"/>
            <a:ext cx="1250315" cy="229870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3 (0)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3423920" y="1981835"/>
            <a:ext cx="985520" cy="229870"/>
          </a:xfrm>
          <a:prstGeom prst="rect">
            <a:avLst/>
          </a:prstGeom>
          <a:solidFill>
            <a:srgbClr val="F8CB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 (3)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600190" y="1000760"/>
            <a:ext cx="5142865" cy="24168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为了提高空间利用率，我们采用页面上的total freesize，也就是free size加上未提交事务释放的空间，来计算空闲度。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20000"/>
              </a:lnSpc>
              <a:buClrTx/>
              <a:buSzTx/>
              <a:buFont typeface="Arial" panose="020B0604020202020204" pitchFamily="34" charset="0"/>
              <a:buNone/>
            </a:pP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lnSpc>
                <a:spcPct val="12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SSM Block上记录下一层Block的空闲度，记录Data Block空闲度的SSM Block是L1 Block，L1上描述每一个Data Block的block id, freeness等信息，SSM Block的Head上都会描述该Block的各个空闲度上有多少个block，该SSM Block自己的空闲度则为所描述的Data Block中，空闲度最大的那个。</a:t>
            </a:r>
            <a:endParaRPr lang="zh-CN" sz="1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bldLvl="0" animBg="1"/>
      <p:bldP spid="114" grpId="0" bldLvl="0" animBg="1"/>
      <p:bldP spid="75" grpId="1" animBg="1"/>
      <p:bldP spid="114" grpId="1" animBg="1"/>
      <p:bldP spid="115" grpId="0" bldLvl="0" animBg="1"/>
      <p:bldP spid="11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1249045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Ssm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256155" y="1124585"/>
            <a:ext cx="169608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70200" y="1354455"/>
            <a:ext cx="108267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freeness(3)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56155" y="1124585"/>
            <a:ext cx="169735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56155" y="1354455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256790" y="1584325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821940" y="1584325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 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387090" y="1584325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750570" y="2446020"/>
            <a:ext cx="169608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364615" y="2675890"/>
            <a:ext cx="108267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freeness(2)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50570" y="2446020"/>
            <a:ext cx="169735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750570" y="2675890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51205" y="290576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316355" y="290576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1881505" y="290576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3859530" y="2440305"/>
            <a:ext cx="169608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473575" y="2670175"/>
            <a:ext cx="108267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freeness(4)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859530" y="2440305"/>
            <a:ext cx="169735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3859530" y="2670175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3860165" y="2900045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4425315" y="2900045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4990465" y="2900045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375285" y="3710940"/>
            <a:ext cx="169608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989330" y="3940810"/>
            <a:ext cx="108267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freeness(2)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375285" y="3710940"/>
            <a:ext cx="169735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375285" y="3940810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375920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41070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506220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4933950" y="3710940"/>
            <a:ext cx="169608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5547995" y="3940810"/>
            <a:ext cx="108267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freeness(4)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4933950" y="3710940"/>
            <a:ext cx="169735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933950" y="3940810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4934585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499735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6064885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560070" y="5045710"/>
            <a:ext cx="728980" cy="586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1289050" y="5045710"/>
            <a:ext cx="728980" cy="586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2018030" y="5045710"/>
            <a:ext cx="728980" cy="586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...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2747010" y="5045710"/>
            <a:ext cx="728980" cy="586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矩形 107"/>
          <p:cNvSpPr/>
          <p:nvPr/>
        </p:nvSpPr>
        <p:spPr>
          <a:xfrm>
            <a:off x="3475990" y="5045710"/>
            <a:ext cx="728980" cy="586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...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4204970" y="5045710"/>
            <a:ext cx="728980" cy="5861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</a:t>
            </a:r>
            <a:endParaRPr lang="en-US" altLang="zh-CN" sz="1000">
              <a:solidFill>
                <a:schemeClr val="tx1"/>
              </a:solidFill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</a:rPr>
              <a:t>4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2891155" y="2676525"/>
            <a:ext cx="503555" cy="407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...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11" name="曲线连接符 110"/>
          <p:cNvCxnSpPr>
            <a:stCxn id="104" idx="0"/>
            <a:endCxn id="94" idx="1"/>
          </p:cNvCxnSpPr>
          <p:nvPr/>
        </p:nvCxnSpPr>
        <p:spPr>
          <a:xfrm rot="16200000" flipV="1">
            <a:off x="269875" y="4391025"/>
            <a:ext cx="760095" cy="548640"/>
          </a:xfrm>
          <a:prstGeom prst="curvedConnector4">
            <a:avLst>
              <a:gd name="adj1" fmla="val 31370"/>
              <a:gd name="adj2" fmla="val 132349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曲线连接符 111"/>
          <p:cNvCxnSpPr>
            <a:stCxn id="105" idx="0"/>
            <a:endCxn id="95" idx="2"/>
          </p:cNvCxnSpPr>
          <p:nvPr/>
        </p:nvCxnSpPr>
        <p:spPr>
          <a:xfrm rot="16200000" flipV="1">
            <a:off x="1115695" y="4508500"/>
            <a:ext cx="645160" cy="429895"/>
          </a:xfrm>
          <a:prstGeom prst="curvedConnector3">
            <a:avLst>
              <a:gd name="adj1" fmla="val 50049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矩形 112"/>
          <p:cNvSpPr/>
          <p:nvPr/>
        </p:nvSpPr>
        <p:spPr>
          <a:xfrm>
            <a:off x="2347595" y="3710940"/>
            <a:ext cx="1696085" cy="9213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矩形 113"/>
          <p:cNvSpPr/>
          <p:nvPr/>
        </p:nvSpPr>
        <p:spPr>
          <a:xfrm>
            <a:off x="2961640" y="3940810"/>
            <a:ext cx="1082675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freeness(1)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2347595" y="3710940"/>
            <a:ext cx="1697355" cy="229870"/>
          </a:xfrm>
          <a:prstGeom prst="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block head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2347595" y="3940810"/>
            <a:ext cx="63500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parent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2348230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18" name="矩形 117"/>
          <p:cNvSpPr/>
          <p:nvPr/>
        </p:nvSpPr>
        <p:spPr>
          <a:xfrm>
            <a:off x="2913380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478530" y="4170680"/>
            <a:ext cx="565150" cy="229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cxnSp>
        <p:nvCxnSpPr>
          <p:cNvPr id="120" name="曲线连接符 119"/>
          <p:cNvCxnSpPr>
            <a:stCxn id="107" idx="0"/>
            <a:endCxn id="117" idx="2"/>
          </p:cNvCxnSpPr>
          <p:nvPr/>
        </p:nvCxnSpPr>
        <p:spPr>
          <a:xfrm rot="16200000" flipV="1">
            <a:off x="2548573" y="4482783"/>
            <a:ext cx="645160" cy="480695"/>
          </a:xfrm>
          <a:prstGeom prst="curvedConnector3">
            <a:avLst>
              <a:gd name="adj1" fmla="val 50049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曲线连接符 120"/>
          <p:cNvCxnSpPr>
            <a:stCxn id="109" idx="0"/>
            <a:endCxn id="101" idx="2"/>
          </p:cNvCxnSpPr>
          <p:nvPr/>
        </p:nvCxnSpPr>
        <p:spPr>
          <a:xfrm rot="16200000">
            <a:off x="4570730" y="4399280"/>
            <a:ext cx="645160" cy="647700"/>
          </a:xfrm>
          <a:prstGeom prst="curvedConnector3">
            <a:avLst>
              <a:gd name="adj1" fmla="val 50000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曲线连接符 122"/>
          <p:cNvCxnSpPr>
            <a:stCxn id="59" idx="1"/>
            <a:endCxn id="40" idx="1"/>
          </p:cNvCxnSpPr>
          <p:nvPr/>
        </p:nvCxnSpPr>
        <p:spPr>
          <a:xfrm rot="10800000" flipH="1">
            <a:off x="750570" y="1698625"/>
            <a:ext cx="1506220" cy="1091565"/>
          </a:xfrm>
          <a:prstGeom prst="curvedConnector3">
            <a:avLst>
              <a:gd name="adj1" fmla="val -15809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曲线连接符 123"/>
          <p:cNvCxnSpPr>
            <a:stCxn id="86" idx="1"/>
            <a:endCxn id="52" idx="3"/>
          </p:cNvCxnSpPr>
          <p:nvPr/>
        </p:nvCxnSpPr>
        <p:spPr>
          <a:xfrm rot="10800000" flipH="1">
            <a:off x="3859530" y="1699260"/>
            <a:ext cx="92710" cy="1085850"/>
          </a:xfrm>
          <a:prstGeom prst="curvedConnector5">
            <a:avLst>
              <a:gd name="adj1" fmla="val -256849"/>
              <a:gd name="adj2" fmla="val 50000"/>
              <a:gd name="adj3" fmla="val 356849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曲线连接符 124"/>
          <p:cNvCxnSpPr>
            <a:stCxn id="93" idx="1"/>
            <a:endCxn id="60" idx="1"/>
          </p:cNvCxnSpPr>
          <p:nvPr/>
        </p:nvCxnSpPr>
        <p:spPr>
          <a:xfrm rot="10800000" flipH="1">
            <a:off x="375285" y="3020695"/>
            <a:ext cx="375920" cy="1035050"/>
          </a:xfrm>
          <a:prstGeom prst="curvedConnector3">
            <a:avLst>
              <a:gd name="adj1" fmla="val -43074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125"/>
          <p:cNvSpPr/>
          <p:nvPr/>
        </p:nvSpPr>
        <p:spPr>
          <a:xfrm>
            <a:off x="4204970" y="3877945"/>
            <a:ext cx="503555" cy="407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...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27" name="曲线连接符 126"/>
          <p:cNvCxnSpPr/>
          <p:nvPr/>
        </p:nvCxnSpPr>
        <p:spPr>
          <a:xfrm rot="10800000" flipH="1">
            <a:off x="2348865" y="3020695"/>
            <a:ext cx="99060" cy="1035050"/>
          </a:xfrm>
          <a:prstGeom prst="curvedConnector5">
            <a:avLst>
              <a:gd name="adj1" fmla="val -240385"/>
              <a:gd name="adj2" fmla="val 50000"/>
              <a:gd name="adj3" fmla="val 340385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曲线连接符 127"/>
          <p:cNvCxnSpPr>
            <a:stCxn id="14" idx="1"/>
            <a:endCxn id="140" idx="2"/>
          </p:cNvCxnSpPr>
          <p:nvPr/>
        </p:nvCxnSpPr>
        <p:spPr>
          <a:xfrm rot="10800000" flipH="1">
            <a:off x="4933315" y="3127375"/>
            <a:ext cx="337185" cy="927735"/>
          </a:xfrm>
          <a:prstGeom prst="curvedConnector4">
            <a:avLst>
              <a:gd name="adj1" fmla="val -70621"/>
              <a:gd name="adj2" fmla="val 56194"/>
            </a:avLst>
          </a:prstGeom>
          <a:ln w="12700">
            <a:solidFill>
              <a:srgbClr val="9DC3E6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矩形 133"/>
          <p:cNvSpPr/>
          <p:nvPr/>
        </p:nvSpPr>
        <p:spPr>
          <a:xfrm>
            <a:off x="4199255" y="5045710"/>
            <a:ext cx="728980" cy="586105"/>
          </a:xfrm>
          <a:prstGeom prst="rect">
            <a:avLst/>
          </a:prstGeom>
          <a:solidFill>
            <a:srgbClr val="F8CB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</a:t>
            </a:r>
            <a:endParaRPr lang="en-US" altLang="zh-CN" sz="1000">
              <a:solidFill>
                <a:schemeClr val="tx1"/>
              </a:solidFill>
            </a:endParaRPr>
          </a:p>
          <a:p>
            <a:pPr algn="ctr"/>
            <a:r>
              <a:rPr lang="en-US" altLang="zh-CN" sz="1000">
                <a:solidFill>
                  <a:schemeClr val="tx1"/>
                </a:solidFill>
              </a:rPr>
              <a:t>3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35" name="矩形 134"/>
          <p:cNvSpPr/>
          <p:nvPr/>
        </p:nvSpPr>
        <p:spPr>
          <a:xfrm>
            <a:off x="5561330" y="3937000"/>
            <a:ext cx="1069340" cy="229870"/>
          </a:xfrm>
          <a:prstGeom prst="rect">
            <a:avLst/>
          </a:prstGeom>
          <a:solidFill>
            <a:srgbClr val="F8CB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freeness(3)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4479290" y="2668270"/>
            <a:ext cx="1082675" cy="229870"/>
          </a:xfrm>
          <a:prstGeom prst="rect">
            <a:avLst/>
          </a:prstGeom>
          <a:solidFill>
            <a:srgbClr val="F8CB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freeness(3)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3514090" y="1711325"/>
            <a:ext cx="565150" cy="229870"/>
          </a:xfrm>
          <a:prstGeom prst="rect">
            <a:avLst/>
          </a:prstGeom>
          <a:solidFill>
            <a:srgbClr val="F8CB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988560" y="2898140"/>
            <a:ext cx="565150" cy="229870"/>
          </a:xfrm>
          <a:prstGeom prst="rect">
            <a:avLst/>
          </a:prstGeom>
          <a:solidFill>
            <a:srgbClr val="F8CB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4934585" y="4171315"/>
            <a:ext cx="565150" cy="229870"/>
          </a:xfrm>
          <a:prstGeom prst="rect">
            <a:avLst/>
          </a:prstGeom>
          <a:solidFill>
            <a:srgbClr val="F8CBA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block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85610" y="1146810"/>
            <a:ext cx="4084955" cy="2030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一个L1上最多只能描述1024个Data Block，当Segment不断扩展，水位线往上推，一个L1不够，需要扩展多个L1，L2 SSM Block就是用来管理多个L1 Block的，一个L2也是不够的，所以也会扩展出多个L2, L3则是用来管理L2 Block的。SSM是由三层SSM Block组成的树形结构，L3为Root，只会有一个，在8K页面的规格下，三层的SSM Tree可以管理接近8T的数据。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bldLvl="0" animBg="1"/>
      <p:bldP spid="141" grpId="0" bldLvl="0" animBg="1"/>
      <p:bldP spid="134" grpId="1" animBg="1"/>
      <p:bldP spid="141" grpId="1" animBg="1"/>
      <p:bldP spid="135" grpId="0" bldLvl="0" animBg="1"/>
      <p:bldP spid="140" grpId="0" bldLvl="0" animBg="1"/>
      <p:bldP spid="135" grpId="1" animBg="1"/>
      <p:bldP spid="140" grpId="1" animBg="1"/>
      <p:bldP spid="136" grpId="0" bldLvl="0" animBg="1"/>
      <p:bldP spid="139" grpId="0" bldLvl="0" animBg="1"/>
      <p:bldP spid="136" grpId="1" animBg="1"/>
      <p:bldP spid="13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空闲空间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查找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83540" y="1188085"/>
            <a:ext cx="10516870" cy="4269740"/>
          </a:xfrm>
          <a:prstGeom prst="roundRect">
            <a:avLst/>
          </a:prstGeom>
          <a:solidFill>
            <a:schemeClr val="bg1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Box 20"/>
          <p:cNvSpPr txBox="1"/>
          <p:nvPr/>
        </p:nvSpPr>
        <p:spPr>
          <a:xfrm>
            <a:off x="1118870" y="1348105"/>
            <a:ext cx="9046210" cy="1195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PCT Free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页面需要保留的空闲空间比例，即页面插入数据后，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free size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不能小于这个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值。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pct free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的设置是为了减少行迁移的产生，行迁移会影响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Fectch/Update/Delete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的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效率。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</p:txBody>
      </p:sp>
      <p:sp>
        <p:nvSpPr>
          <p:cNvPr id="9" name="AutoShape 117"/>
          <p:cNvSpPr/>
          <p:nvPr/>
        </p:nvSpPr>
        <p:spPr bwMode="auto">
          <a:xfrm>
            <a:off x="517401" y="1294518"/>
            <a:ext cx="474248" cy="355888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lIns="19050" tIns="19050" rIns="19050" bIns="19050" anchor="ctr"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0" name="AutoShape 117"/>
          <p:cNvSpPr/>
          <p:nvPr/>
        </p:nvSpPr>
        <p:spPr bwMode="auto">
          <a:xfrm>
            <a:off x="644401" y="1421518"/>
            <a:ext cx="474248" cy="355888"/>
          </a:xfrm>
          <a:prstGeom prst="star4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>
            <a:noFill/>
          </a:ln>
          <a:effectLst/>
        </p:spPr>
        <p:txBody>
          <a:bodyPr lIns="19050" tIns="19050" rIns="19050" bIns="19050" anchor="ctr"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" name="TextBox 20"/>
          <p:cNvSpPr txBox="1"/>
          <p:nvPr/>
        </p:nvSpPr>
        <p:spPr>
          <a:xfrm>
            <a:off x="1260475" y="2892425"/>
            <a:ext cx="9046210" cy="2228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空闲空间查找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需要的空闲空间为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要插入的数据长度加上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PCT Free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插入数据需要的空间在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25%~50%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范围内，优先在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50%~75%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这个空闲度查找可用页面，没有找到再去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25%~50%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这个范围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查找。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当在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25%~50%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找到的页面空闲空间不足，将页面标记为</a:t>
            </a:r>
            <a:r>
              <a:rPr lang="en-US" altLang="zh-CN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Full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有多个符合条件的页面，随机找到一个或多个符合条件的页面，减少并发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冲突。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空闲空间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查找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83540" y="1188085"/>
            <a:ext cx="10516870" cy="4269740"/>
          </a:xfrm>
          <a:prstGeom prst="roundRect">
            <a:avLst/>
          </a:prstGeom>
          <a:solidFill>
            <a:schemeClr val="bg1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Box 20"/>
          <p:cNvSpPr txBox="1"/>
          <p:nvPr/>
        </p:nvSpPr>
        <p:spPr>
          <a:xfrm>
            <a:off x="1118870" y="1348105"/>
            <a:ext cx="9046210" cy="1539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随机查找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从Root开始，经过L3, L2, L1，在每一层都随机找到一个符合空闲度要求的下一层的Block，最终找到多个符合条件的Data Block。从多个Data Block中选择一个符合条件的Data Block做插入，插入成功后将block id放入session的cache中，下一次插入数据的时候，会优先从session cache中查找可用的页面。</a:t>
            </a: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</p:txBody>
      </p:sp>
      <p:sp>
        <p:nvSpPr>
          <p:cNvPr id="9" name="AutoShape 117"/>
          <p:cNvSpPr/>
          <p:nvPr/>
        </p:nvSpPr>
        <p:spPr bwMode="auto">
          <a:xfrm>
            <a:off x="517401" y="1294518"/>
            <a:ext cx="474248" cy="355888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lIns="19050" tIns="19050" rIns="19050" bIns="19050" anchor="ctr"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0" name="AutoShape 117"/>
          <p:cNvSpPr/>
          <p:nvPr/>
        </p:nvSpPr>
        <p:spPr bwMode="auto">
          <a:xfrm>
            <a:off x="644401" y="1421518"/>
            <a:ext cx="474248" cy="355888"/>
          </a:xfrm>
          <a:prstGeom prst="star4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>
            <a:noFill/>
          </a:ln>
          <a:effectLst/>
        </p:spPr>
        <p:txBody>
          <a:bodyPr lIns="19050" tIns="19050" rIns="19050" bIns="19050" anchor="ctr"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2" name="TextBox 20"/>
          <p:cNvSpPr txBox="1"/>
          <p:nvPr/>
        </p:nvSpPr>
        <p:spPr>
          <a:xfrm>
            <a:off x="1172845" y="3107690"/>
            <a:ext cx="9046210" cy="1539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L1 Fast Search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当通过session cache找到的页面经过检查已经不可用了，如插满了，获取页面的parent，即L1 Block的block id， 直接进入L1 Block随机查找多个Data Block。如果L1上未找到，会进入L1对应的L2查找符合条件的L1，再从L1找到Data Block。这也属于随机查找的一种，只是入口页不同。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10210" y="377191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空闲空间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查找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 flipV="1">
            <a:off x="410210" y="90170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1260475" y="97091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225425" y="6366783"/>
            <a:ext cx="1951816" cy="402674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r>
              <a:rPr lang="zh-CN" altLang="en-US" sz="2000" b="1" kern="3000" spc="300" dirty="0">
                <a:solidFill>
                  <a:schemeClr val="bg1"/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单击添加文字</a:t>
            </a:r>
            <a:endParaRPr lang="zh-CN" altLang="en-US" sz="2000" b="1" kern="3000" spc="300" dirty="0">
              <a:solidFill>
                <a:schemeClr val="bg1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10210" y="1188085"/>
            <a:ext cx="10516870" cy="4269740"/>
          </a:xfrm>
          <a:prstGeom prst="roundRect">
            <a:avLst/>
          </a:prstGeom>
          <a:solidFill>
            <a:schemeClr val="bg1"/>
          </a:solidFill>
          <a:ln>
            <a:solidFill>
              <a:srgbClr val="9DC3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TextBox 20"/>
          <p:cNvSpPr txBox="1"/>
          <p:nvPr/>
        </p:nvSpPr>
        <p:spPr>
          <a:xfrm>
            <a:off x="1118870" y="1348105"/>
            <a:ext cx="9046210" cy="1884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顺序查找</a:t>
            </a:r>
            <a:endParaRPr lang="zh-CN" altLang="en-US" sz="18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当前两种查找方式查找到的Data Block上的空闲空间是未提交事务释放的，称为FSC Block，这种Block的空闲空间虽然足够，但是是未提交事务释放的，在事务提交之前，别的事务都不能直接占用释放的空间。但是如果继续采用随机查找的方式，大概率还是会找到这个FSC Block。当查找到这种Data Block，从这个位置开始，要对整棵树进行顺序扫描，检查每一个空闲度符合要求的Data Block。。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</p:txBody>
      </p:sp>
      <p:sp>
        <p:nvSpPr>
          <p:cNvPr id="9" name="AutoShape 117"/>
          <p:cNvSpPr/>
          <p:nvPr/>
        </p:nvSpPr>
        <p:spPr bwMode="auto">
          <a:xfrm>
            <a:off x="517401" y="1294518"/>
            <a:ext cx="474248" cy="355888"/>
          </a:xfrm>
          <a:prstGeom prst="star4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txBody>
          <a:bodyPr lIns="19050" tIns="19050" rIns="19050" bIns="19050" anchor="ctr"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0" name="AutoShape 117"/>
          <p:cNvSpPr/>
          <p:nvPr/>
        </p:nvSpPr>
        <p:spPr bwMode="auto">
          <a:xfrm>
            <a:off x="644401" y="1421518"/>
            <a:ext cx="474248" cy="355888"/>
          </a:xfrm>
          <a:prstGeom prst="star4">
            <a:avLst/>
          </a:pr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scaled="0"/>
          </a:gradFill>
          <a:ln>
            <a:noFill/>
          </a:ln>
          <a:effectLst/>
        </p:spPr>
        <p:txBody>
          <a:bodyPr lIns="19050" tIns="19050" rIns="19050" bIns="19050" anchor="ctr"/>
          <a:p>
            <a:pPr algn="ctr" defTabSz="22860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1118870" y="3488690"/>
            <a:ext cx="9046210" cy="11239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当这三种方式都没有找打符合条件的Data Block，就会触发segment扩展，ssm扩展。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  <a:p>
            <a:pPr indent="0">
              <a:lnSpc>
                <a:spcPct val="160000"/>
              </a:lnSpc>
              <a:buFont typeface="Wingdings" panose="05000000000000000000" charset="0"/>
              <a:buNone/>
            </a:pPr>
            <a:r>
              <a:rPr lang="zh-CN" altLang="en-US" sz="1400" dirty="0">
                <a:solidFill>
                  <a:schemeClr val="tx1"/>
                </a:solidFill>
                <a:latin typeface="Verdana" panose="020B0604030504040204" charset="0"/>
                <a:ea typeface="微软雅黑" panose="020B0503020204020204" charset="-122"/>
                <a:cs typeface="Arial" panose="020B0604020202020204" pitchFamily="34" charset="0"/>
                <a:sym typeface="Verdana" panose="020B0604030504040204" charset="0"/>
              </a:rPr>
              <a:t>之前是随机查找，就会再进行一次随机查找，如果顺序查找，则只需要搜索旧的水位线和新的水位线之间的SSM Block即可，直到找到可用的Data Block。</a:t>
            </a:r>
            <a:endParaRPr lang="zh-CN" altLang="en-US" sz="1400" dirty="0">
              <a:solidFill>
                <a:schemeClr val="tx1"/>
              </a:solidFill>
              <a:latin typeface="Verdana" panose="020B0604030504040204" charset="0"/>
              <a:ea typeface="微软雅黑" panose="020B0503020204020204" charset="-122"/>
              <a:cs typeface="Arial" panose="020B0604020202020204" pitchFamily="3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KSO_WM_UNIT_TABLE_BEAUTIFY" val="smartTable{e36aa5cc-7777-4f37-845a-f916cb69197f}"/>
  <p:tag name="TABLE_ENDDRAG_ORIGIN_RECT" val="442*187"/>
  <p:tag name="TABLE_ENDDRAG_RECT" val="171*282*442*187"/>
</p:tagLst>
</file>

<file path=ppt/tags/tag10.xml><?xml version="1.0" encoding="utf-8"?>
<p:tagLst xmlns:p="http://schemas.openxmlformats.org/presentationml/2006/main">
  <p:tag name="COMMONDATA" val="eyJoZGlkIjoiYWE3MmUwN2UxNjFlZDM4YTg3MWZhYTZkMTdmMGY5M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2574</Words>
  <Application>WPS 演示</Application>
  <PresentationFormat>宽屏</PresentationFormat>
  <Paragraphs>277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Verdana</vt:lpstr>
      <vt:lpstr>微软雅黑</vt:lpstr>
      <vt:lpstr>Wingdings</vt:lpstr>
      <vt:lpstr>Calibri</vt:lpstr>
      <vt:lpstr>Arial Unicode MS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liyq</cp:lastModifiedBy>
  <cp:revision>345</cp:revision>
  <dcterms:created xsi:type="dcterms:W3CDTF">2021-03-09T02:51:00Z</dcterms:created>
  <dcterms:modified xsi:type="dcterms:W3CDTF">2022-08-15T12:16:09Z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94BF5AF301684ADFA590CEEFB8F7150A</vt:lpwstr>
  </property>
</Properties>
</file>