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329" r:id="rId3"/>
    <p:sldId id="310" r:id="rId5"/>
    <p:sldId id="339" r:id="rId6"/>
    <p:sldId id="316" r:id="rId7"/>
    <p:sldId id="319" r:id="rId8"/>
    <p:sldId id="340" r:id="rId9"/>
    <p:sldId id="341" r:id="rId10"/>
    <p:sldId id="342" r:id="rId11"/>
    <p:sldId id="324" r:id="rId12"/>
    <p:sldId id="320" r:id="rId13"/>
    <p:sldId id="325" r:id="rId14"/>
    <p:sldId id="327" r:id="rId15"/>
    <p:sldId id="328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  <p:cmAuthor id="2" name="liyq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77" d="100"/>
          <a:sy n="77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9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file:///C:\Users\liyq\AppData\Local\Temp\wps\INetCache\9b75d4fe5bbb87f55cf6028bb04b997b" TargetMode="Externa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file:///C:\Users\liyq\AppData\Local\Temp\wps\INetCache\9b75d4fe5bbb87f55cf6028bb04b997b" TargetMode="Externa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9446260" y="5505450"/>
            <a:ext cx="1491615" cy="365125"/>
          </a:xfrm>
        </p:spPr>
        <p:txBody>
          <a:bodyPr/>
          <a:lstStyle/>
          <a:p>
            <a:fld id="{D997B5FA-0921-464F-AAE1-844C04324D75}" type="datetime1">
              <a:rPr lang="zh-CN" altLang="en-US" smtClean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8216265" y="5012690"/>
            <a:ext cx="3434715" cy="365125"/>
          </a:xfrm>
        </p:spPr>
        <p:txBody>
          <a:bodyPr/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深圳计算科学研究院CoD研究室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pic>
        <p:nvPicPr>
          <p:cNvPr id="16" name="图片 15" descr="C:\Users\zhangjh\Desktop\OIP.pngOIP"/>
          <p:cNvPicPr>
            <a:picLocks noChangeAspect="1"/>
          </p:cNvPicPr>
          <p:nvPr/>
        </p:nvPicPr>
        <p:blipFill>
          <a:blip r:embed="rId1">
            <a:biLevel thresh="50000"/>
            <a:lum bright="70000" contrast="-70000"/>
          </a:blip>
          <a:srcRect/>
          <a:stretch>
            <a:fillRect/>
          </a:stretch>
        </p:blipFill>
        <p:spPr>
          <a:xfrm>
            <a:off x="949325" y="1578610"/>
            <a:ext cx="4046855" cy="3700780"/>
          </a:xfrm>
          <a:prstGeom prst="teardrop">
            <a:avLst>
              <a:gd name="adj" fmla="val 98508"/>
            </a:avLst>
          </a:prstGeom>
          <a:ln>
            <a:solidFill>
              <a:schemeClr val="bg1"/>
            </a:solidFill>
          </a:ln>
          <a:effectLst>
            <a:softEdge rad="127000"/>
          </a:effectLst>
        </p:spPr>
      </p:pic>
      <p:sp>
        <p:nvSpPr>
          <p:cNvPr id="5" name="文本框 4"/>
          <p:cNvSpPr txBox="1"/>
          <p:nvPr/>
        </p:nvSpPr>
        <p:spPr>
          <a:xfrm>
            <a:off x="5687695" y="2999740"/>
            <a:ext cx="51181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Heap Table</a:t>
            </a:r>
            <a:endParaRPr lang="en-US" altLang="zh-CN" sz="48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489775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Heap Table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组织结构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圆角矩形 53"/>
          <p:cNvSpPr/>
          <p:nvPr/>
        </p:nvSpPr>
        <p:spPr>
          <a:xfrm>
            <a:off x="358775" y="1318895"/>
            <a:ext cx="5730875" cy="1865630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90165" y="1422400"/>
            <a:ext cx="138747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segment B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lock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20495" y="2075815"/>
            <a:ext cx="109347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40505" y="2075815"/>
            <a:ext cx="109347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8795" y="2771140"/>
            <a:ext cx="687705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20495" y="2771140"/>
            <a:ext cx="687705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322195" y="2764790"/>
            <a:ext cx="687705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418205" y="2764790"/>
            <a:ext cx="687705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319905" y="2764790"/>
            <a:ext cx="687705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221605" y="2758440"/>
            <a:ext cx="687705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extent 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3" name="直接箭头连接符 42"/>
          <p:cNvCxnSpPr>
            <a:stCxn id="4" idx="2"/>
            <a:endCxn id="2" idx="0"/>
          </p:cNvCxnSpPr>
          <p:nvPr/>
        </p:nvCxnSpPr>
        <p:spPr>
          <a:xfrm flipH="1">
            <a:off x="1967230" y="1669415"/>
            <a:ext cx="1316990" cy="41338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endCxn id="5" idx="0"/>
          </p:cNvCxnSpPr>
          <p:nvPr/>
        </p:nvCxnSpPr>
        <p:spPr>
          <a:xfrm>
            <a:off x="3178810" y="1675765"/>
            <a:ext cx="1408430" cy="40703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2" idx="2"/>
            <a:endCxn id="11" idx="0"/>
          </p:cNvCxnSpPr>
          <p:nvPr/>
        </p:nvCxnSpPr>
        <p:spPr>
          <a:xfrm flipH="1">
            <a:off x="862965" y="2322830"/>
            <a:ext cx="1104265" cy="45529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1778635" y="2329180"/>
            <a:ext cx="186055" cy="44196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endCxn id="17" idx="0"/>
          </p:cNvCxnSpPr>
          <p:nvPr/>
        </p:nvCxnSpPr>
        <p:spPr>
          <a:xfrm>
            <a:off x="1964690" y="2321560"/>
            <a:ext cx="701675" cy="45021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5" idx="2"/>
            <a:endCxn id="22" idx="0"/>
          </p:cNvCxnSpPr>
          <p:nvPr/>
        </p:nvCxnSpPr>
        <p:spPr>
          <a:xfrm flipH="1">
            <a:off x="3762375" y="2322830"/>
            <a:ext cx="824865" cy="44894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5" idx="2"/>
            <a:endCxn id="24" idx="0"/>
          </p:cNvCxnSpPr>
          <p:nvPr/>
        </p:nvCxnSpPr>
        <p:spPr>
          <a:xfrm>
            <a:off x="4587240" y="2322830"/>
            <a:ext cx="76835" cy="44894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5" idx="2"/>
            <a:endCxn id="25" idx="0"/>
          </p:cNvCxnSpPr>
          <p:nvPr/>
        </p:nvCxnSpPr>
        <p:spPr>
          <a:xfrm>
            <a:off x="4587240" y="2322830"/>
            <a:ext cx="978535" cy="44259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圆角矩形 88"/>
          <p:cNvSpPr/>
          <p:nvPr/>
        </p:nvSpPr>
        <p:spPr>
          <a:xfrm>
            <a:off x="1346200" y="3248660"/>
            <a:ext cx="3542030" cy="148018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2751455" y="3406140"/>
            <a:ext cx="67945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986915" y="3822065"/>
            <a:ext cx="67945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235960" y="3827780"/>
            <a:ext cx="67945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627505" y="4286885"/>
            <a:ext cx="67945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666365" y="4286885"/>
            <a:ext cx="67945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907790" y="4286885"/>
            <a:ext cx="67945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map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5" name="直接箭头连接符 74"/>
          <p:cNvCxnSpPr>
            <a:endCxn id="58" idx="0"/>
          </p:cNvCxnSpPr>
          <p:nvPr/>
        </p:nvCxnSpPr>
        <p:spPr>
          <a:xfrm flipH="1">
            <a:off x="2326640" y="3653155"/>
            <a:ext cx="683260" cy="17589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endCxn id="59" idx="0"/>
          </p:cNvCxnSpPr>
          <p:nvPr/>
        </p:nvCxnSpPr>
        <p:spPr>
          <a:xfrm>
            <a:off x="2996565" y="3662680"/>
            <a:ext cx="579120" cy="17208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58" idx="2"/>
            <a:endCxn id="60" idx="0"/>
          </p:cNvCxnSpPr>
          <p:nvPr/>
        </p:nvCxnSpPr>
        <p:spPr>
          <a:xfrm flipH="1">
            <a:off x="1967230" y="4069080"/>
            <a:ext cx="359410" cy="22479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61" idx="0"/>
          </p:cNvCxnSpPr>
          <p:nvPr/>
        </p:nvCxnSpPr>
        <p:spPr>
          <a:xfrm>
            <a:off x="2315845" y="4083685"/>
            <a:ext cx="690245" cy="21018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59" idx="2"/>
            <a:endCxn id="62" idx="0"/>
          </p:cNvCxnSpPr>
          <p:nvPr/>
        </p:nvCxnSpPr>
        <p:spPr>
          <a:xfrm>
            <a:off x="3575685" y="4074795"/>
            <a:ext cx="671830" cy="21907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2792730" y="3789045"/>
            <a:ext cx="3302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...</a:t>
            </a:r>
            <a:endParaRPr lang="en-US" altLang="zh-CN" sz="1000"/>
          </a:p>
        </p:txBody>
      </p:sp>
      <p:sp>
        <p:nvSpPr>
          <p:cNvPr id="84" name="文本框 83"/>
          <p:cNvSpPr txBox="1"/>
          <p:nvPr/>
        </p:nvSpPr>
        <p:spPr>
          <a:xfrm>
            <a:off x="3476625" y="4251960"/>
            <a:ext cx="3302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...</a:t>
            </a:r>
            <a:endParaRPr lang="en-US" altLang="zh-CN" sz="1000"/>
          </a:p>
        </p:txBody>
      </p:sp>
      <p:sp>
        <p:nvSpPr>
          <p:cNvPr id="90" name="圆角矩形 89"/>
          <p:cNvSpPr/>
          <p:nvPr/>
        </p:nvSpPr>
        <p:spPr>
          <a:xfrm>
            <a:off x="395605" y="5102860"/>
            <a:ext cx="5678805" cy="631190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609600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data block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191895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data block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774190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...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360295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data block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2942590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data block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524885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...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107180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data block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689475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data block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271770" y="5264785"/>
            <a:ext cx="582295" cy="27559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 b="1">
                <a:solidFill>
                  <a:schemeClr val="tx1"/>
                </a:solidFill>
                <a:sym typeface="+mn-ea"/>
              </a:rPr>
              <a:t>data block</a:t>
            </a:r>
            <a:endParaRPr lang="en-US" altLang="zh-CN" sz="8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80" name="直接箭头连接符 79"/>
          <p:cNvCxnSpPr>
            <a:stCxn id="60" idx="2"/>
            <a:endCxn id="63" idx="0"/>
          </p:cNvCxnSpPr>
          <p:nvPr/>
        </p:nvCxnSpPr>
        <p:spPr>
          <a:xfrm flipH="1">
            <a:off x="901065" y="4533900"/>
            <a:ext cx="1066165" cy="73787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60" idx="2"/>
            <a:endCxn id="66" idx="0"/>
          </p:cNvCxnSpPr>
          <p:nvPr/>
        </p:nvCxnSpPr>
        <p:spPr>
          <a:xfrm flipH="1">
            <a:off x="1483360" y="4533900"/>
            <a:ext cx="483870" cy="73787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61" idx="2"/>
            <a:endCxn id="68" idx="0"/>
          </p:cNvCxnSpPr>
          <p:nvPr/>
        </p:nvCxnSpPr>
        <p:spPr>
          <a:xfrm flipH="1">
            <a:off x="2651760" y="4533900"/>
            <a:ext cx="354330" cy="73787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61" idx="2"/>
            <a:endCxn id="69" idx="0"/>
          </p:cNvCxnSpPr>
          <p:nvPr/>
        </p:nvCxnSpPr>
        <p:spPr>
          <a:xfrm>
            <a:off x="3006090" y="4533900"/>
            <a:ext cx="227965" cy="73787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62" idx="2"/>
            <a:endCxn id="71" idx="0"/>
          </p:cNvCxnSpPr>
          <p:nvPr/>
        </p:nvCxnSpPr>
        <p:spPr>
          <a:xfrm>
            <a:off x="4247515" y="4533900"/>
            <a:ext cx="151130" cy="73787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62" idx="2"/>
            <a:endCxn id="72" idx="0"/>
          </p:cNvCxnSpPr>
          <p:nvPr/>
        </p:nvCxnSpPr>
        <p:spPr>
          <a:xfrm>
            <a:off x="4247515" y="4533900"/>
            <a:ext cx="733425" cy="73787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62" idx="2"/>
            <a:endCxn id="73" idx="0"/>
          </p:cNvCxnSpPr>
          <p:nvPr/>
        </p:nvCxnSpPr>
        <p:spPr>
          <a:xfrm>
            <a:off x="4247515" y="4533900"/>
            <a:ext cx="1315720" cy="737870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4247515" y="3370580"/>
            <a:ext cx="5264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SSM</a:t>
            </a:r>
            <a:endParaRPr lang="en-US" altLang="zh-CN" sz="1200"/>
          </a:p>
        </p:txBody>
      </p:sp>
      <p:sp>
        <p:nvSpPr>
          <p:cNvPr id="92" name="文本框 91"/>
          <p:cNvSpPr txBox="1"/>
          <p:nvPr/>
        </p:nvSpPr>
        <p:spPr>
          <a:xfrm>
            <a:off x="4664710" y="1437640"/>
            <a:ext cx="9956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S</a:t>
            </a:r>
            <a:r>
              <a:rPr lang="en-US" altLang="zh-CN" sz="1200"/>
              <a:t>egment</a:t>
            </a:r>
            <a:endParaRPr lang="en-US" altLang="zh-CN" sz="1200"/>
          </a:p>
        </p:txBody>
      </p:sp>
      <p:cxnSp>
        <p:nvCxnSpPr>
          <p:cNvPr id="93" name="曲线连接符 92"/>
          <p:cNvCxnSpPr>
            <a:stCxn id="4" idx="1"/>
            <a:endCxn id="57" idx="1"/>
          </p:cNvCxnSpPr>
          <p:nvPr/>
        </p:nvCxnSpPr>
        <p:spPr>
          <a:xfrm rot="10800000" flipH="1" flipV="1">
            <a:off x="2590165" y="1549400"/>
            <a:ext cx="161290" cy="1983740"/>
          </a:xfrm>
          <a:prstGeom prst="curvedConnector3">
            <a:avLst>
              <a:gd name="adj1" fmla="val -147638"/>
            </a:avLst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>
          <a:xfrm>
            <a:off x="6579111" y="1318585"/>
            <a:ext cx="3994274" cy="860136"/>
            <a:chOff x="7466206" y="1607510"/>
            <a:chExt cx="3994274" cy="860136"/>
          </a:xfrm>
        </p:grpSpPr>
        <p:sp>
          <p:nvSpPr>
            <p:cNvPr id="97" name="TextBox 20"/>
            <p:cNvSpPr txBox="1"/>
            <p:nvPr/>
          </p:nvSpPr>
          <p:spPr>
            <a:xfrm>
              <a:off x="7975303" y="1945676"/>
              <a:ext cx="348517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通过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ExtentMap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管理整个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Segment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的所有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Extent.</a:t>
              </a:r>
              <a:endParaRPr lang="en-US" altLang="zh-CN" sz="1400" b="1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98" name="AutoShape 117"/>
            <p:cNvSpPr/>
            <p:nvPr/>
          </p:nvSpPr>
          <p:spPr bwMode="auto">
            <a:xfrm>
              <a:off x="7466206" y="1614558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99" name="TextBox 25"/>
            <p:cNvSpPr txBox="1"/>
            <p:nvPr/>
          </p:nvSpPr>
          <p:spPr>
            <a:xfrm>
              <a:off x="7940525" y="1607510"/>
              <a:ext cx="131762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Segment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0" name="AutoShape 117"/>
            <p:cNvSpPr/>
            <p:nvPr/>
          </p:nvSpPr>
          <p:spPr bwMode="auto">
            <a:xfrm>
              <a:off x="7593206" y="1741558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516843" y="2482244"/>
            <a:ext cx="5156174" cy="866157"/>
            <a:chOff x="7446483" y="2760374"/>
            <a:chExt cx="5156174" cy="866157"/>
          </a:xfrm>
        </p:grpSpPr>
        <p:sp>
          <p:nvSpPr>
            <p:cNvPr id="102" name="TextBox 20"/>
            <p:cNvSpPr txBox="1"/>
            <p:nvPr/>
          </p:nvSpPr>
          <p:spPr>
            <a:xfrm>
              <a:off x="7929723" y="3104561"/>
              <a:ext cx="348517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通过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SsmBlock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管理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Segment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下的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DataBlock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的空闲空间</a:t>
              </a:r>
              <a:endParaRPr lang="zh-CN" altLang="en-US" sz="1400" b="1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103" name="AutoShape 117"/>
            <p:cNvSpPr/>
            <p:nvPr/>
          </p:nvSpPr>
          <p:spPr bwMode="auto">
            <a:xfrm>
              <a:off x="7446483" y="2767422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4" name="TextBox 25"/>
            <p:cNvSpPr txBox="1"/>
            <p:nvPr/>
          </p:nvSpPr>
          <p:spPr>
            <a:xfrm>
              <a:off x="7920802" y="2760374"/>
              <a:ext cx="468185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SSM(Segment Space Management)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5" name="AutoShape 117"/>
            <p:cNvSpPr/>
            <p:nvPr/>
          </p:nvSpPr>
          <p:spPr bwMode="auto">
            <a:xfrm>
              <a:off x="7573483" y="2894422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6617808" y="3698269"/>
            <a:ext cx="3968417" cy="650892"/>
            <a:chOff x="7446483" y="2760374"/>
            <a:chExt cx="3968417" cy="650892"/>
          </a:xfrm>
        </p:grpSpPr>
        <p:sp>
          <p:nvSpPr>
            <p:cNvPr id="107" name="TextBox 20"/>
            <p:cNvSpPr txBox="1"/>
            <p:nvPr/>
          </p:nvSpPr>
          <p:spPr>
            <a:xfrm>
              <a:off x="7929723" y="3104561"/>
              <a:ext cx="3485177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通过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Heap Data 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来存储数据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.</a:t>
              </a:r>
              <a:endParaRPr lang="en-US" altLang="zh-CN" sz="1400" b="1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108" name="AutoShape 117"/>
            <p:cNvSpPr/>
            <p:nvPr/>
          </p:nvSpPr>
          <p:spPr bwMode="auto">
            <a:xfrm>
              <a:off x="7446483" y="2767422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9" name="TextBox 25"/>
            <p:cNvSpPr txBox="1"/>
            <p:nvPr/>
          </p:nvSpPr>
          <p:spPr>
            <a:xfrm>
              <a:off x="7920802" y="2760374"/>
              <a:ext cx="83820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Heap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10" name="AutoShape 117"/>
            <p:cNvSpPr/>
            <p:nvPr/>
          </p:nvSpPr>
          <p:spPr bwMode="auto">
            <a:xfrm>
              <a:off x="7573483" y="2894422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08045" y="1306830"/>
            <a:ext cx="7881621" cy="1938020"/>
            <a:chOff x="7466206" y="1607510"/>
            <a:chExt cx="5706369" cy="1937586"/>
          </a:xfrm>
        </p:grpSpPr>
        <p:sp>
          <p:nvSpPr>
            <p:cNvPr id="12" name="TextBox 20"/>
            <p:cNvSpPr txBox="1"/>
            <p:nvPr/>
          </p:nvSpPr>
          <p:spPr>
            <a:xfrm>
              <a:off x="7975145" y="1945889"/>
              <a:ext cx="5197430" cy="1599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charset="0"/>
                <a:buChar char="Ø"/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scn: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最后一次修改页面的事务的提交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scn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Wingdings" panose="05000000000000000000" charset="0"/>
                <a:buChar char="Ø"/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dirs, rows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xslots: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页面上的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dir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数量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,row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数量和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的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数量，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删除之后，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dir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不一定会释放，所以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dirs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大于等于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rows.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Wingdings" panose="05000000000000000000" charset="0"/>
                <a:buChar char="Ø"/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free dir: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第一个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free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了的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dir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 free dir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可以被复用。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Wingdings" panose="05000000000000000000" charset="0"/>
                <a:buChar char="Ø"/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free size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：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表示页面上的剩余空间大小。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Wingdings" panose="05000000000000000000" charset="0"/>
                <a:buChar char="Ø"/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free begin, free end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：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表示页面上连续的剩余空间的起始和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结束，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 data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部分可能存在一部分空间。</a:t>
              </a:r>
              <a:endParaRPr lang="en-US" altLang="zh-CN" sz="1400" b="1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13" name="AutoShape 117"/>
            <p:cNvSpPr/>
            <p:nvPr/>
          </p:nvSpPr>
          <p:spPr bwMode="auto">
            <a:xfrm>
              <a:off x="7466206" y="1614558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4" name="TextBox 25"/>
            <p:cNvSpPr txBox="1"/>
            <p:nvPr/>
          </p:nvSpPr>
          <p:spPr>
            <a:xfrm>
              <a:off x="7940525" y="1607510"/>
              <a:ext cx="3023870" cy="368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Heap Data Block Head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8" name="AutoShape 117"/>
            <p:cNvSpPr/>
            <p:nvPr/>
          </p:nvSpPr>
          <p:spPr bwMode="auto">
            <a:xfrm>
              <a:off x="7593206" y="1741558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460248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Heap Data Block</a:t>
            </a:r>
            <a:endParaRPr lang="en-US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3407883" y="3469669"/>
            <a:ext cx="6256020" cy="650875"/>
            <a:chOff x="7446483" y="2760374"/>
            <a:chExt cx="6256020" cy="650875"/>
          </a:xfrm>
        </p:grpSpPr>
        <p:sp>
          <p:nvSpPr>
            <p:cNvPr id="38" name="TextBox 20"/>
            <p:cNvSpPr txBox="1"/>
            <p:nvPr/>
          </p:nvSpPr>
          <p:spPr>
            <a:xfrm>
              <a:off x="7929718" y="3104544"/>
              <a:ext cx="577278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 Data,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经过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Update,Delete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操作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之间会有空洞</a:t>
              </a:r>
              <a:endParaRPr lang="en-US" altLang="zh-CN" sz="1400" b="1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39" name="AutoShape 117"/>
            <p:cNvSpPr/>
            <p:nvPr/>
          </p:nvSpPr>
          <p:spPr bwMode="auto">
            <a:xfrm>
              <a:off x="7446483" y="2767422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40" name="TextBox 25"/>
            <p:cNvSpPr txBox="1"/>
            <p:nvPr/>
          </p:nvSpPr>
          <p:spPr>
            <a:xfrm>
              <a:off x="7920802" y="2760374"/>
              <a:ext cx="141986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Row Data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41" name="AutoShape 117"/>
            <p:cNvSpPr/>
            <p:nvPr/>
          </p:nvSpPr>
          <p:spPr bwMode="auto">
            <a:xfrm>
              <a:off x="7573483" y="2894422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 r:link="rId2"/>
          <a:stretch>
            <a:fillRect/>
          </a:stretch>
        </p:blipFill>
        <p:spPr>
          <a:xfrm>
            <a:off x="-2147483648" y="-2147469043"/>
            <a:ext cx="2147011200" cy="21470112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3" name="组合 22"/>
          <p:cNvGrpSpPr/>
          <p:nvPr/>
        </p:nvGrpSpPr>
        <p:grpSpPr>
          <a:xfrm>
            <a:off x="3407883" y="4615209"/>
            <a:ext cx="7995920" cy="1081405"/>
            <a:chOff x="7446483" y="2760374"/>
            <a:chExt cx="7995920" cy="1081405"/>
          </a:xfrm>
        </p:grpSpPr>
        <p:sp>
          <p:nvSpPr>
            <p:cNvPr id="26" name="TextBox 20"/>
            <p:cNvSpPr txBox="1"/>
            <p:nvPr/>
          </p:nvSpPr>
          <p:spPr>
            <a:xfrm>
              <a:off x="7929718" y="3104544"/>
              <a:ext cx="7512685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dir: 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记录对应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在页面上的偏移位置，已经释放的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，会标记为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free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dirs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区域可扩展</a:t>
              </a:r>
              <a:endParaRPr lang="zh-CN" altLang="en-US" sz="140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xslots: 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记录在页面上修改的事务信息，初始一般是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2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个，可复用已提交事务的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，当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都被活跃事务占用，可扩展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</a:t>
              </a:r>
              <a:endParaRPr lang="en-US" altLang="zh-CN" sz="140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29" name="AutoShape 117"/>
            <p:cNvSpPr/>
            <p:nvPr/>
          </p:nvSpPr>
          <p:spPr bwMode="auto">
            <a:xfrm>
              <a:off x="7446483" y="2767422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0" name="TextBox 25"/>
            <p:cNvSpPr txBox="1"/>
            <p:nvPr/>
          </p:nvSpPr>
          <p:spPr>
            <a:xfrm>
              <a:off x="7920802" y="2760374"/>
              <a:ext cx="168275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Dirs&amp;Xslots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4" name="AutoShape 117"/>
            <p:cNvSpPr/>
            <p:nvPr/>
          </p:nvSpPr>
          <p:spPr bwMode="auto">
            <a:xfrm>
              <a:off x="7573483" y="2894422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668020" y="1786890"/>
            <a:ext cx="1937385" cy="26816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68020" y="1791970"/>
            <a:ext cx="1936750" cy="2457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68020" y="2037715"/>
            <a:ext cx="43434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scn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102360" y="2037715"/>
            <a:ext cx="43434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dirs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536700" y="2037715"/>
            <a:ext cx="48895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rows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25650" y="2037715"/>
            <a:ext cx="57912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xslots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68020" y="2227580"/>
            <a:ext cx="96647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 begin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633855" y="2227580"/>
            <a:ext cx="97028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 end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68020" y="2417445"/>
            <a:ext cx="734695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 size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4620" y="2417445"/>
            <a:ext cx="71120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 dir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179955" y="4268470"/>
            <a:ext cx="426085" cy="1898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tail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466215" y="4275455"/>
            <a:ext cx="713105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xslot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68020" y="4276090"/>
            <a:ext cx="79756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sym typeface="+mn-ea"/>
              </a:rPr>
              <a:t>xslot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2240280" y="4080510"/>
            <a:ext cx="36576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dir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874520" y="4084320"/>
            <a:ext cx="36576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dir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08760" y="4081780"/>
            <a:ext cx="36576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dir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115820" y="2417445"/>
            <a:ext cx="488315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...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68020" y="2607310"/>
            <a:ext cx="615950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row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745615" y="2607310"/>
            <a:ext cx="857885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row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68020" y="2797175"/>
            <a:ext cx="1511935" cy="189865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row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056640" y="3375660"/>
            <a:ext cx="11233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free space</a:t>
            </a:r>
            <a:endParaRPr lang="en-US" altLang="zh-CN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460248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Heap Data Block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>
          <a:xfrm>
            <a:off x="4011295" y="1372235"/>
            <a:ext cx="6543040" cy="1506855"/>
            <a:chOff x="7466206" y="1607510"/>
            <a:chExt cx="3011156" cy="1505983"/>
          </a:xfrm>
        </p:grpSpPr>
        <p:sp>
          <p:nvSpPr>
            <p:cNvPr id="97" name="TextBox 20"/>
            <p:cNvSpPr txBox="1"/>
            <p:nvPr/>
          </p:nvSpPr>
          <p:spPr>
            <a:xfrm>
              <a:off x="7975288" y="1945769"/>
              <a:ext cx="2502074" cy="1167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</a:t>
              </a:r>
              <a:r>
                <a:rPr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ata object id： 行所属的segment的object id。</a:t>
              </a:r>
              <a:endParaRPr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s</a:t>
              </a:r>
              <a:r>
                <a:rPr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pace id：行所属的表空间id.</a:t>
              </a:r>
              <a:endParaRPr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f</a:t>
              </a:r>
              <a:r>
                <a:rPr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ile id: 行所属文件在表空间内的id.</a:t>
              </a:r>
              <a:endParaRPr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b</a:t>
              </a:r>
              <a:r>
                <a:rPr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lock id； 行所属的block在文件内的编号.</a:t>
              </a:r>
              <a:endParaRPr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</a:t>
              </a:r>
              <a:r>
                <a:rPr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ir：行在页面内的dir数组上的位置.</a:t>
              </a:r>
              <a:endParaRPr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98" name="AutoShape 117"/>
            <p:cNvSpPr/>
            <p:nvPr/>
          </p:nvSpPr>
          <p:spPr bwMode="auto">
            <a:xfrm>
              <a:off x="7466206" y="1614558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99" name="TextBox 25"/>
            <p:cNvSpPr txBox="1"/>
            <p:nvPr/>
          </p:nvSpPr>
          <p:spPr>
            <a:xfrm>
              <a:off x="7940525" y="1607510"/>
              <a:ext cx="1317625" cy="368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RowID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0" name="AutoShape 117"/>
            <p:cNvSpPr/>
            <p:nvPr/>
          </p:nvSpPr>
          <p:spPr bwMode="auto">
            <a:xfrm>
              <a:off x="7593206" y="1741558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66165" y="2414270"/>
            <a:ext cx="2160270" cy="2927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Row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6165" y="2707640"/>
            <a:ext cx="2160270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Free Space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66165" y="3140075"/>
            <a:ext cx="2160270" cy="2927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row dir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6165" y="3433445"/>
            <a:ext cx="2160270" cy="2927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row dir(free)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66165" y="3726180"/>
            <a:ext cx="2160270" cy="2927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row dir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66165" y="4020185"/>
            <a:ext cx="2160270" cy="2927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row dir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66165" y="2132330"/>
            <a:ext cx="2160270" cy="2927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Row(deleted)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66165" y="1844040"/>
            <a:ext cx="2160270" cy="2927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Row</a:t>
            </a:r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20" name="曲线连接符 19"/>
          <p:cNvCxnSpPr>
            <a:stCxn id="16" idx="3"/>
            <a:endCxn id="18" idx="3"/>
          </p:cNvCxnSpPr>
          <p:nvPr/>
        </p:nvCxnSpPr>
        <p:spPr>
          <a:xfrm flipV="1">
            <a:off x="3226435" y="1990725"/>
            <a:ext cx="3175" cy="2176145"/>
          </a:xfrm>
          <a:prstGeom prst="curvedConnector3">
            <a:avLst>
              <a:gd name="adj1" fmla="val 9420000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/>
          <p:cNvCxnSpPr>
            <a:stCxn id="11" idx="3"/>
            <a:endCxn id="17" idx="3"/>
          </p:cNvCxnSpPr>
          <p:nvPr/>
        </p:nvCxnSpPr>
        <p:spPr>
          <a:xfrm flipV="1">
            <a:off x="3226435" y="2279015"/>
            <a:ext cx="3175" cy="1593850"/>
          </a:xfrm>
          <a:prstGeom prst="curvedConnector3">
            <a:avLst>
              <a:gd name="adj1" fmla="val 7500000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曲线连接符 21"/>
          <p:cNvCxnSpPr>
            <a:stCxn id="5" idx="1"/>
            <a:endCxn id="2" idx="1"/>
          </p:cNvCxnSpPr>
          <p:nvPr/>
        </p:nvCxnSpPr>
        <p:spPr>
          <a:xfrm rot="10800000" flipH="1">
            <a:off x="1066165" y="2560320"/>
            <a:ext cx="3175" cy="725805"/>
          </a:xfrm>
          <a:prstGeom prst="curvedConnector3">
            <a:avLst>
              <a:gd name="adj1" fmla="val -7500000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526280" y="3872865"/>
            <a:ext cx="566864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r</a:t>
            </a:r>
            <a:r>
              <a:rPr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ow directory中的每一个元素称为dir，一个</a:t>
            </a:r>
            <a:r>
              <a:rPr lang="en-US"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dir</a:t>
            </a:r>
            <a:r>
              <a:rPr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是2个字节，16 个bit，低12bit存储的是对应行在页面上的偏移位置，高4位为标记位，，已经删除并且释放了的dir，会被打上FREE标记。这种dir是可以被复用的，并没有对应的row。</a:t>
            </a:r>
            <a:endParaRPr sz="140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460248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Heap Data Block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716530" y="1300480"/>
            <a:ext cx="1988820" cy="2506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717800" y="1300480"/>
            <a:ext cx="1988820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heap 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17800" y="1570990"/>
            <a:ext cx="89217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09975" y="1574800"/>
            <a:ext cx="109664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17800" y="1849120"/>
            <a:ext cx="10655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26560" y="3532505"/>
            <a:ext cx="48387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tail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470275" y="3532505"/>
            <a:ext cx="74104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721610" y="3532505"/>
            <a:ext cx="76390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14825" y="325818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22395" y="325818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529965" y="325818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85515" y="3532505"/>
            <a:ext cx="741045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138170" y="3258185"/>
            <a:ext cx="392430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3316605" y="2138680"/>
            <a:ext cx="479425" cy="1119505"/>
          </a:xfrm>
          <a:prstGeom prst="straightConnector1">
            <a:avLst/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3773170" y="1849120"/>
            <a:ext cx="932180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1" name="曲线连接符 40"/>
          <p:cNvCxnSpPr>
            <a:stCxn id="39" idx="3"/>
            <a:endCxn id="30" idx="3"/>
          </p:cNvCxnSpPr>
          <p:nvPr/>
        </p:nvCxnSpPr>
        <p:spPr>
          <a:xfrm flipH="1">
            <a:off x="4226560" y="1993265"/>
            <a:ext cx="478790" cy="1683385"/>
          </a:xfrm>
          <a:prstGeom prst="curvedConnector3">
            <a:avLst>
              <a:gd name="adj1" fmla="val -49735"/>
            </a:avLst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5544820" y="1776730"/>
            <a:ext cx="2113915" cy="146875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5725795" y="2282825"/>
            <a:ext cx="1694815" cy="647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5725160" y="2282825"/>
            <a:ext cx="1695450" cy="196850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chemeClr val="tx1"/>
                </a:solidFill>
              </a:rPr>
              <a:t>undo </a:t>
            </a:r>
            <a:r>
              <a:rPr lang="en-US" altLang="zh-CN" sz="900">
                <a:solidFill>
                  <a:schemeClr val="tx1"/>
                </a:solidFill>
              </a:rPr>
              <a:t>insert 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57240" y="1850390"/>
            <a:ext cx="14890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undo block</a:t>
            </a:r>
            <a:endParaRPr lang="en-US" altLang="zh-CN" sz="1200"/>
          </a:p>
        </p:txBody>
      </p:sp>
      <p:cxnSp>
        <p:nvCxnSpPr>
          <p:cNvPr id="56" name="曲线连接符 55"/>
          <p:cNvCxnSpPr>
            <a:endCxn id="53" idx="1"/>
          </p:cNvCxnSpPr>
          <p:nvPr/>
        </p:nvCxnSpPr>
        <p:spPr>
          <a:xfrm flipV="1">
            <a:off x="4262755" y="2381250"/>
            <a:ext cx="1462405" cy="1310640"/>
          </a:xfrm>
          <a:prstGeom prst="curvedConnector3">
            <a:avLst>
              <a:gd name="adj1" fmla="val 50022"/>
            </a:avLst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499235" y="4332605"/>
            <a:ext cx="8007985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事务在页面上第一次做修改，都需要申请一个Xslot， 记录事务的事务id，事务的状态，事务在该页面上产生的最后一条undo row的位置，被该事务修改的行会与对应的xslot关联，通过这种方法实现数据的写写并发。对于已提交事务，xslot上记录事务的提交scn，通过对比查询scn和xslot上事务提交scn来判断事务对查询是否可见，实现数据一致性读。对于未提交事务，xslot上记录事务的ssn，实现事务内的数据一致性读。</a:t>
            </a:r>
            <a:endParaRPr lang="en-US" sz="140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0" grpId="1" animBg="1"/>
      <p:bldP spid="31" grpId="0" bldLvl="0" animBg="1"/>
      <p:bldP spid="31" grpId="1" animBg="1"/>
      <p:bldP spid="39" grpId="0" bldLvl="0" animBg="1"/>
      <p:bldP spid="39" grpId="1" animBg="1"/>
      <p:bldP spid="53" grpId="0" bldLvl="0" animBg="1"/>
      <p:bldP spid="5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210" y="377191"/>
            <a:ext cx="473583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Update - Inplace</a:t>
            </a:r>
            <a:endParaRPr lang="en-US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225665" y="1218565"/>
            <a:ext cx="3279140" cy="1925197"/>
            <a:chOff x="5740402" y="1300491"/>
            <a:chExt cx="5257798" cy="1924600"/>
          </a:xfrm>
        </p:grpSpPr>
        <p:sp>
          <p:nvSpPr>
            <p:cNvPr id="5" name="文本框 4"/>
            <p:cNvSpPr txBox="1"/>
            <p:nvPr/>
          </p:nvSpPr>
          <p:spPr>
            <a:xfrm>
              <a:off x="5740402" y="1300491"/>
              <a:ext cx="2754630" cy="36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U</a:t>
              </a:r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pdate</a:t>
              </a:r>
              <a:endPara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5740402" y="1669823"/>
              <a:ext cx="5257798" cy="155526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申请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xslot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锁行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 - 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行与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xslot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关联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记录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undo (undo update)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修改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数据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615315" y="1791970"/>
            <a:ext cx="1988820" cy="2506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05155" y="1791970"/>
            <a:ext cx="1988820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heap 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5155" y="2066290"/>
            <a:ext cx="70358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08735" y="2066290"/>
            <a:ext cx="128206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2140" y="2340610"/>
            <a:ext cx="10655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10105" y="4023995"/>
            <a:ext cx="48387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tail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69060" y="4023995"/>
            <a:ext cx="74104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5155" y="4023995"/>
            <a:ext cx="76390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98370" y="374967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805940" y="374967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413510" y="374967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369060" y="4023995"/>
            <a:ext cx="741045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1" name="曲线连接符 40"/>
          <p:cNvCxnSpPr>
            <a:stCxn id="39" idx="3"/>
            <a:endCxn id="30" idx="3"/>
          </p:cNvCxnSpPr>
          <p:nvPr/>
        </p:nvCxnSpPr>
        <p:spPr>
          <a:xfrm flipH="1">
            <a:off x="2110105" y="2350770"/>
            <a:ext cx="367030" cy="1810385"/>
          </a:xfrm>
          <a:prstGeom prst="curvedConnector3">
            <a:avLst>
              <a:gd name="adj1" fmla="val -64879"/>
            </a:avLst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308735" y="2066290"/>
            <a:ext cx="1285240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50110" y="2066290"/>
            <a:ext cx="346075" cy="274320"/>
          </a:xfrm>
          <a:prstGeom prst="rect">
            <a:avLst/>
          </a:prstGeom>
          <a:solidFill>
            <a:srgbClr val="F08F4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v2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907790" y="1930400"/>
            <a:ext cx="2365375" cy="146875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4088765" y="2436495"/>
            <a:ext cx="1896110" cy="647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4088130" y="2436495"/>
            <a:ext cx="1896745" cy="196850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chemeClr val="tx1"/>
                </a:solidFill>
              </a:rPr>
              <a:t>undo update (v1) 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531995" y="2043430"/>
            <a:ext cx="11163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solidFill>
                  <a:schemeClr val="tx1"/>
                </a:solidFill>
              </a:rPr>
              <a:t>undo block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34" name="曲线连接符 33"/>
          <p:cNvCxnSpPr>
            <a:stCxn id="30" idx="3"/>
            <a:endCxn id="53" idx="1"/>
          </p:cNvCxnSpPr>
          <p:nvPr/>
        </p:nvCxnSpPr>
        <p:spPr>
          <a:xfrm flipV="1">
            <a:off x="2110105" y="2534920"/>
            <a:ext cx="1978025" cy="1626235"/>
          </a:xfrm>
          <a:prstGeom prst="curvedConnector3">
            <a:avLst>
              <a:gd name="adj1" fmla="val 50016"/>
            </a:avLst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4088130" y="4340225"/>
            <a:ext cx="6624320" cy="1193065"/>
            <a:chOff x="5740402" y="1300491"/>
            <a:chExt cx="5257798" cy="1192619"/>
          </a:xfrm>
        </p:grpSpPr>
        <p:sp>
          <p:nvSpPr>
            <p:cNvPr id="10" name="文本框 9"/>
            <p:cNvSpPr txBox="1"/>
            <p:nvPr/>
          </p:nvSpPr>
          <p:spPr>
            <a:xfrm>
              <a:off x="5740402" y="1300491"/>
              <a:ext cx="2754630" cy="368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U</a:t>
              </a:r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pdate</a:t>
              </a:r>
              <a:endPara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740402" y="1669823"/>
              <a:ext cx="5257798" cy="82328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Undo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中只记录被修改部分列修改前的值，当由部分列加上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undo update head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组成的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undo row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大于原行长度的时候，将原行整行记录到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Undo Row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。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 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0" grpId="1" animBg="1"/>
      <p:bldP spid="26" grpId="0" bldLvl="0" animBg="1"/>
      <p:bldP spid="26" grpId="1" animBg="1"/>
      <p:bldP spid="53" grpId="0" bldLvl="0" animBg="1"/>
      <p:bldP spid="53" grpId="1" animBg="1"/>
      <p:bldP spid="27" grpId="0" bldLvl="0" animBg="1"/>
      <p:bldP spid="2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210" y="377191"/>
            <a:ext cx="457835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Update - Inpage</a:t>
            </a:r>
            <a:endParaRPr lang="en-US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2935" y="1669415"/>
            <a:ext cx="1988820" cy="2506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19760" y="1669415"/>
            <a:ext cx="1988820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heap 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9760" y="1943735"/>
            <a:ext cx="70358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16355" y="1943735"/>
            <a:ext cx="129603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6745" y="2218055"/>
            <a:ext cx="10655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22805" y="3901440"/>
            <a:ext cx="48387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tail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79220" y="3901440"/>
            <a:ext cx="74104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12775" y="3901440"/>
            <a:ext cx="76390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212975" y="3627120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816100" y="3627120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421130" y="3627120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323340" y="1943735"/>
            <a:ext cx="1023620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714115" y="1669415"/>
            <a:ext cx="1988820" cy="2506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710940" y="1669415"/>
            <a:ext cx="1988820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heap 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710940" y="1943735"/>
            <a:ext cx="70358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407535" y="1943735"/>
            <a:ext cx="129603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717925" y="2218055"/>
            <a:ext cx="10655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213985" y="3901440"/>
            <a:ext cx="48387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tail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470400" y="3901440"/>
            <a:ext cx="74104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703955" y="3901440"/>
            <a:ext cx="76390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304155" y="3627120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07280" y="3627120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512310" y="3627120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3716655" y="2219325"/>
            <a:ext cx="1988820" cy="579120"/>
          </a:xfrm>
          <a:custGeom>
            <a:avLst/>
            <a:gdLst>
              <a:gd name="connisteX0" fmla="*/ 1059180 w 1988820"/>
              <a:gd name="connsiteY0" fmla="*/ 0 h 579120"/>
              <a:gd name="connisteX1" fmla="*/ 1981200 w 1988820"/>
              <a:gd name="connsiteY1" fmla="*/ 7620 h 579120"/>
              <a:gd name="connisteX2" fmla="*/ 1988820 w 1988820"/>
              <a:gd name="connsiteY2" fmla="*/ 579120 h 579120"/>
              <a:gd name="connisteX3" fmla="*/ 0 w 1988820"/>
              <a:gd name="connsiteY3" fmla="*/ 579120 h 579120"/>
              <a:gd name="connisteX4" fmla="*/ 0 w 1988820"/>
              <a:gd name="connsiteY4" fmla="*/ 274320 h 579120"/>
              <a:gd name="connisteX5" fmla="*/ 1059180 w 1988820"/>
              <a:gd name="connsiteY5" fmla="*/ 266700 h 579120"/>
              <a:gd name="connisteX6" fmla="*/ 1059180 w 1988820"/>
              <a:gd name="connsiteY6" fmla="*/ 0 h 5791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988820" h="579120">
                <a:moveTo>
                  <a:pt x="1059180" y="0"/>
                </a:moveTo>
                <a:lnTo>
                  <a:pt x="1981200" y="7620"/>
                </a:lnTo>
                <a:lnTo>
                  <a:pt x="1988820" y="579120"/>
                </a:lnTo>
                <a:lnTo>
                  <a:pt x="0" y="579120"/>
                </a:lnTo>
                <a:lnTo>
                  <a:pt x="0" y="274320"/>
                </a:lnTo>
                <a:lnTo>
                  <a:pt x="1059180" y="266700"/>
                </a:lnTo>
                <a:lnTo>
                  <a:pt x="1059180" y="0"/>
                </a:lnTo>
                <a:close/>
              </a:path>
            </a:pathLst>
          </a:custGeom>
          <a:solidFill>
            <a:srgbClr val="F8CB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57" name="曲线连接符 56"/>
          <p:cNvCxnSpPr>
            <a:stCxn id="52" idx="0"/>
            <a:endCxn id="34" idx="1"/>
          </p:cNvCxnSpPr>
          <p:nvPr/>
        </p:nvCxnSpPr>
        <p:spPr>
          <a:xfrm rot="16200000" flipV="1">
            <a:off x="3982403" y="2513013"/>
            <a:ext cx="1546225" cy="695960"/>
          </a:xfrm>
          <a:prstGeom prst="curvedConnector4">
            <a:avLst>
              <a:gd name="adj1" fmla="val 45565"/>
              <a:gd name="adj2" fmla="val 134261"/>
            </a:avLst>
          </a:prstGeom>
          <a:ln w="12700">
            <a:solidFill>
              <a:srgbClr val="F79F37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线连接符 57"/>
          <p:cNvCxnSpPr/>
          <p:nvPr/>
        </p:nvCxnSpPr>
        <p:spPr>
          <a:xfrm rot="16200000" flipV="1">
            <a:off x="4345305" y="2802255"/>
            <a:ext cx="1219200" cy="373380"/>
          </a:xfrm>
          <a:prstGeom prst="curvedConnector3">
            <a:avLst>
              <a:gd name="adj1" fmla="val 49947"/>
            </a:avLst>
          </a:prstGeom>
          <a:ln w="12700">
            <a:solidFill>
              <a:srgbClr val="F79F37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1003935" y="4474845"/>
            <a:ext cx="11125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</a:rPr>
              <a:t>原位置</a:t>
            </a:r>
            <a:r>
              <a:rPr lang="zh-CN" altLang="en-US" sz="1200">
                <a:solidFill>
                  <a:schemeClr val="tx1"/>
                </a:solidFill>
              </a:rPr>
              <a:t>重组行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984625" y="4464050"/>
            <a:ext cx="14414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</a:rPr>
              <a:t>重新找位置重组行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7477125" y="1908175"/>
            <a:ext cx="3279140" cy="1925197"/>
            <a:chOff x="5740402" y="1300491"/>
            <a:chExt cx="5257798" cy="1924600"/>
          </a:xfrm>
        </p:grpSpPr>
        <p:sp>
          <p:nvSpPr>
            <p:cNvPr id="64" name="文本框 63"/>
            <p:cNvSpPr txBox="1"/>
            <p:nvPr/>
          </p:nvSpPr>
          <p:spPr>
            <a:xfrm>
              <a:off x="5740402" y="1300491"/>
              <a:ext cx="4903477" cy="36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两种</a:t>
              </a:r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Update Inpage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区别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5740402" y="1669823"/>
              <a:ext cx="5257798" cy="155526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将行变小，在原位置重组行，不需要更新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dir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将行变大，在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free space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开始处重组行，需要更新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dir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6" grpId="1" animBg="1"/>
      <p:bldP spid="56" grpId="0" bldLvl="0" animBg="1"/>
      <p:bldP spid="5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210" y="377191"/>
            <a:ext cx="192468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Delete</a:t>
            </a:r>
            <a:endParaRPr lang="en-US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6885" y="1854200"/>
            <a:ext cx="1988820" cy="2506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74345" y="1854200"/>
            <a:ext cx="1988820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heap 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4345" y="2128520"/>
            <a:ext cx="89217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66520" y="2128520"/>
            <a:ext cx="109664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74345" y="2402840"/>
            <a:ext cx="10655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86915" y="4086225"/>
            <a:ext cx="48387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tail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30630" y="4086225"/>
            <a:ext cx="74104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1965" y="4086225"/>
            <a:ext cx="763905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75180" y="381190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82750" y="3811905"/>
            <a:ext cx="39243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245870" y="4086225"/>
            <a:ext cx="741045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xslot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1" name="曲线连接符 40"/>
          <p:cNvCxnSpPr>
            <a:stCxn id="55" idx="3"/>
            <a:endCxn id="31" idx="3"/>
          </p:cNvCxnSpPr>
          <p:nvPr/>
        </p:nvCxnSpPr>
        <p:spPr>
          <a:xfrm flipH="1">
            <a:off x="1986915" y="2265680"/>
            <a:ext cx="476250" cy="1957705"/>
          </a:xfrm>
          <a:prstGeom prst="curvedConnector3">
            <a:avLst>
              <a:gd name="adj1" fmla="val -50000"/>
            </a:avLst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366520" y="2128520"/>
            <a:ext cx="1096645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 (d)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60780" y="3811905"/>
            <a:ext cx="52197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dir</a:t>
            </a:r>
            <a:endParaRPr lang="en-US" altLang="zh-CN" sz="1200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6372225" y="1303020"/>
            <a:ext cx="3926205" cy="1925217"/>
            <a:chOff x="5740402" y="1300491"/>
            <a:chExt cx="5257798" cy="1924516"/>
          </a:xfrm>
        </p:grpSpPr>
        <p:sp>
          <p:nvSpPr>
            <p:cNvPr id="52" name="文本框 51"/>
            <p:cNvSpPr txBox="1"/>
            <p:nvPr/>
          </p:nvSpPr>
          <p:spPr>
            <a:xfrm>
              <a:off x="5740402" y="1300491"/>
              <a:ext cx="2754630" cy="368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Delete</a:t>
              </a:r>
              <a:endPara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740402" y="1669823"/>
              <a:ext cx="5257798" cy="155518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申请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xslot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锁行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 - 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行与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xslot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关联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记录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delete undo 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（整行数据计入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undo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）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70000"/>
                </a:lnSpc>
                <a:buFont typeface="Wingdings" panose="05000000000000000000" charset="0"/>
                <a:buChar char="Ø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修改数据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 - 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设置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deleted flag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6372225" y="3895090"/>
            <a:ext cx="4107180" cy="146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删除行不会释放</a:t>
            </a:r>
            <a:r>
              <a:rPr lang="en-US" altLang="zh-CN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dir</a:t>
            </a: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，只是将行打</a:t>
            </a: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上删除标记</a:t>
            </a:r>
            <a:endParaRPr lang="zh-CN" altLang="en-US" sz="1400" dirty="0">
              <a:effectLst/>
              <a:latin typeface="Verdana" panose="020B0604030504040204" charset="0"/>
              <a:ea typeface="微软雅黑" panose="020B0503020204020204" charset="-122"/>
              <a:cs typeface="+mj-lt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当删除数据的事务提交之后，清理</a:t>
            </a:r>
            <a:r>
              <a:rPr lang="en-US" altLang="zh-CN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xslot</a:t>
            </a: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时，才会将</a:t>
            </a:r>
            <a:r>
              <a:rPr lang="en-US" altLang="zh-CN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dir</a:t>
            </a: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释放，设置为</a:t>
            </a:r>
            <a:r>
              <a:rPr lang="en-US" altLang="zh-CN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free</a:t>
            </a: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，后续的插入就可以复用</a:t>
            </a:r>
            <a:r>
              <a:rPr lang="en-US" altLang="zh-CN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free</a:t>
            </a:r>
            <a:r>
              <a:rPr lang="zh-CN" altLang="en-US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的</a:t>
            </a:r>
            <a:r>
              <a:rPr lang="en-US" altLang="zh-CN" sz="14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</a:rPr>
              <a:t>dir</a:t>
            </a:r>
            <a:endParaRPr lang="en-US" altLang="zh-CN" sz="1400" dirty="0">
              <a:effectLst/>
              <a:latin typeface="Verdana" panose="020B0604030504040204" charset="0"/>
              <a:ea typeface="微软雅黑" panose="020B0503020204020204" charset="-122"/>
              <a:cs typeface="+mj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366520" y="2128520"/>
            <a:ext cx="1096645" cy="274320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 (d)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160780" y="3811905"/>
            <a:ext cx="521970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402330" y="2343150"/>
            <a:ext cx="2365375" cy="146875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637280" y="2879090"/>
            <a:ext cx="1896110" cy="647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636645" y="2879090"/>
            <a:ext cx="1896745" cy="196850"/>
          </a:xfrm>
          <a:prstGeom prst="rect">
            <a:avLst/>
          </a:prstGeom>
          <a:solidFill>
            <a:srgbClr val="D0CEC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chemeClr val="tx1"/>
                </a:solidFill>
              </a:rPr>
              <a:t>undo </a:t>
            </a:r>
            <a:r>
              <a:rPr lang="en-US" altLang="zh-CN" sz="900">
                <a:solidFill>
                  <a:schemeClr val="tx1"/>
                </a:solidFill>
              </a:rPr>
              <a:t>delete 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80510" y="2486025"/>
            <a:ext cx="11163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solidFill>
                  <a:schemeClr val="tx1"/>
                </a:solidFill>
              </a:rPr>
              <a:t>undo block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5" name="曲线连接符 4"/>
          <p:cNvCxnSpPr>
            <a:endCxn id="3" idx="1"/>
          </p:cNvCxnSpPr>
          <p:nvPr/>
        </p:nvCxnSpPr>
        <p:spPr>
          <a:xfrm flipV="1">
            <a:off x="1994535" y="2977515"/>
            <a:ext cx="1642110" cy="1246505"/>
          </a:xfrm>
          <a:prstGeom prst="curvedConnector3">
            <a:avLst>
              <a:gd name="adj1" fmla="val 50039"/>
            </a:avLst>
          </a:prstGeom>
          <a:ln w="12700">
            <a:solidFill>
              <a:srgbClr val="F8CBA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366520" y="2128520"/>
            <a:ext cx="1096645" cy="274320"/>
          </a:xfrm>
          <a:prstGeom prst="rect">
            <a:avLst/>
          </a:prstGeom>
          <a:solidFill>
            <a:srgbClr val="F8CBA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1" grpId="1" animBg="1"/>
      <p:bldP spid="33" grpId="1" animBg="1"/>
      <p:bldP spid="55" grpId="0" bldLvl="0" animBg="1"/>
      <p:bldP spid="55" grpId="1" animBg="1"/>
      <p:bldP spid="31" grpId="2" bldLvl="0" animBg="1"/>
      <p:bldP spid="56" grpId="0" bldLvl="0" animBg="1"/>
      <p:bldP spid="56" grpId="1" animBg="1"/>
      <p:bldP spid="3" grpId="0" bldLvl="0" animBg="1"/>
      <p:bldP spid="3" grpId="1" animBg="1"/>
      <p:bldP spid="6" grpId="0" bldLvl="0" animBg="1"/>
      <p:bldP spid="6" grpId="1" animBg="1"/>
      <p:bldP spid="33" grpId="2" bldLvl="0" animBg="1"/>
      <p:bldP spid="6" grpId="2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93931" y="2573980"/>
            <a:ext cx="8855075" cy="1938020"/>
            <a:chOff x="7466206" y="1607510"/>
            <a:chExt cx="8855075" cy="1938020"/>
          </a:xfrm>
        </p:grpSpPr>
        <p:sp>
          <p:nvSpPr>
            <p:cNvPr id="12" name="TextBox 20"/>
            <p:cNvSpPr txBox="1"/>
            <p:nvPr/>
          </p:nvSpPr>
          <p:spPr>
            <a:xfrm>
              <a:off x="7975476" y="1945965"/>
              <a:ext cx="8345805" cy="159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size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：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行长度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.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isLink, isMigr: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用于行迁移行链接，分别表示首行和迁移行。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deleted: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行被删除。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 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compact: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页面压缩空洞的时候用于标记行是否需要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移动。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 id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：表示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row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被对应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上记录的事务修改，通过判断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xslot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对应的事务是否已经提交来控制对本行的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修改并发。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col count: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行上携带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数据的列数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13" name="AutoShape 117"/>
            <p:cNvSpPr/>
            <p:nvPr/>
          </p:nvSpPr>
          <p:spPr bwMode="auto">
            <a:xfrm>
              <a:off x="7466206" y="1614558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4" name="TextBox 25"/>
            <p:cNvSpPr txBox="1"/>
            <p:nvPr/>
          </p:nvSpPr>
          <p:spPr>
            <a:xfrm>
              <a:off x="7940525" y="1607510"/>
              <a:ext cx="147637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Row Head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8" name="AutoShape 117"/>
            <p:cNvSpPr/>
            <p:nvPr/>
          </p:nvSpPr>
          <p:spPr bwMode="auto">
            <a:xfrm>
              <a:off x="7593206" y="1741558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29997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Heap Row </a:t>
            </a:r>
            <a:endParaRPr lang="en-US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578958" y="4616479"/>
            <a:ext cx="8913495" cy="866140"/>
            <a:chOff x="7446483" y="2760374"/>
            <a:chExt cx="8913495" cy="866140"/>
          </a:xfrm>
        </p:grpSpPr>
        <p:sp>
          <p:nvSpPr>
            <p:cNvPr id="38" name="TextBox 20"/>
            <p:cNvSpPr txBox="1"/>
            <p:nvPr/>
          </p:nvSpPr>
          <p:spPr>
            <a:xfrm>
              <a:off x="7929718" y="3104544"/>
              <a:ext cx="84302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每列都是由列长度描述，和列数据两部分组成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行是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4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字节对齐的，行尾可能会存在一些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对齐字节。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39" name="AutoShape 117"/>
            <p:cNvSpPr/>
            <p:nvPr/>
          </p:nvSpPr>
          <p:spPr bwMode="auto">
            <a:xfrm>
              <a:off x="7446483" y="2767422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40" name="TextBox 25"/>
            <p:cNvSpPr txBox="1"/>
            <p:nvPr/>
          </p:nvSpPr>
          <p:spPr>
            <a:xfrm>
              <a:off x="7920802" y="2760374"/>
              <a:ext cx="189865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Row Col Data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41" name="AutoShape 117"/>
            <p:cNvSpPr/>
            <p:nvPr/>
          </p:nvSpPr>
          <p:spPr bwMode="auto">
            <a:xfrm>
              <a:off x="7573483" y="2894422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 r:link="rId2"/>
          <a:stretch>
            <a:fillRect/>
          </a:stretch>
        </p:blipFill>
        <p:spPr>
          <a:xfrm>
            <a:off x="-2147469678" y="-2147483648"/>
            <a:ext cx="2147011200" cy="214701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圆角矩形 25"/>
          <p:cNvSpPr/>
          <p:nvPr/>
        </p:nvSpPr>
        <p:spPr>
          <a:xfrm>
            <a:off x="567055" y="1293495"/>
            <a:ext cx="6452870" cy="104076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1416050" y="1600835"/>
            <a:ext cx="3808095" cy="62293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584575" y="1293495"/>
            <a:ext cx="12801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Row Head</a:t>
            </a:r>
            <a:endParaRPr lang="en-US" altLang="zh-CN" sz="1400"/>
          </a:p>
        </p:txBody>
      </p:sp>
      <p:sp>
        <p:nvSpPr>
          <p:cNvPr id="29" name="圆角矩形 28"/>
          <p:cNvSpPr/>
          <p:nvPr/>
        </p:nvSpPr>
        <p:spPr>
          <a:xfrm>
            <a:off x="7019925" y="1287780"/>
            <a:ext cx="1189990" cy="10471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764540" y="1855470"/>
            <a:ext cx="651510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size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179320" y="1854200"/>
            <a:ext cx="66738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isLink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846705" y="1854200"/>
            <a:ext cx="72771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isMigr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019925" y="1855470"/>
            <a:ext cx="59880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size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618730" y="1855470"/>
            <a:ext cx="599440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data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319655" y="1600200"/>
            <a:ext cx="1447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flags</a:t>
            </a:r>
            <a:endParaRPr lang="en-US" altLang="zh-CN" sz="1200"/>
          </a:p>
        </p:txBody>
      </p:sp>
      <p:sp>
        <p:nvSpPr>
          <p:cNvPr id="46" name="文本框 45"/>
          <p:cNvSpPr txBox="1"/>
          <p:nvPr/>
        </p:nvSpPr>
        <p:spPr>
          <a:xfrm>
            <a:off x="7181215" y="1564640"/>
            <a:ext cx="953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Col 1</a:t>
            </a:r>
            <a:endParaRPr lang="en-US" altLang="zh-CN" sz="1200"/>
          </a:p>
        </p:txBody>
      </p:sp>
      <p:sp>
        <p:nvSpPr>
          <p:cNvPr id="48" name="矩形 47"/>
          <p:cNvSpPr/>
          <p:nvPr/>
        </p:nvSpPr>
        <p:spPr>
          <a:xfrm>
            <a:off x="1416050" y="1854200"/>
            <a:ext cx="76136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format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574415" y="1854200"/>
            <a:ext cx="78867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deleted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363085" y="1854200"/>
            <a:ext cx="86423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compact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223510" y="1854200"/>
            <a:ext cx="86423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xslot id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087745" y="1854200"/>
            <a:ext cx="932180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col count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8219440" y="1280795"/>
            <a:ext cx="1189990" cy="10471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8219440" y="1848485"/>
            <a:ext cx="59880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size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818245" y="1848485"/>
            <a:ext cx="599440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data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380730" y="1557655"/>
            <a:ext cx="953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Col 2</a:t>
            </a:r>
            <a:endParaRPr lang="en-US" altLang="zh-CN" sz="1200"/>
          </a:p>
        </p:txBody>
      </p:sp>
      <p:sp>
        <p:nvSpPr>
          <p:cNvPr id="59" name="圆角矩形 58"/>
          <p:cNvSpPr/>
          <p:nvPr/>
        </p:nvSpPr>
        <p:spPr>
          <a:xfrm>
            <a:off x="9411335" y="1288415"/>
            <a:ext cx="1189990" cy="10471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9417685" y="1848485"/>
            <a:ext cx="1191895" cy="24003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...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492615" y="1557655"/>
            <a:ext cx="11087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col 3~col N</a:t>
            </a:r>
            <a:endParaRPr lang="en-US" altLang="zh-CN" sz="1200"/>
          </a:p>
        </p:txBody>
      </p:sp>
      <p:sp>
        <p:nvSpPr>
          <p:cNvPr id="63" name="圆角矩形 62"/>
          <p:cNvSpPr/>
          <p:nvPr/>
        </p:nvSpPr>
        <p:spPr>
          <a:xfrm>
            <a:off x="10609580" y="1293495"/>
            <a:ext cx="598805" cy="10471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609580" y="1845945"/>
            <a:ext cx="598805" cy="240030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size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0687050" y="1570990"/>
            <a:ext cx="6045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align</a:t>
            </a:r>
            <a:endParaRPr lang="en-US" altLang="zh-CN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80225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Heap Row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73150" y="3475355"/>
            <a:ext cx="5668645" cy="1599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列数据有三种情况：</a:t>
            </a:r>
            <a:endParaRPr sz="1400" b="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列数据的长度不超过253，用一个字节表示，后面紧跟列数据</a:t>
            </a:r>
            <a:endParaRPr sz="1400" b="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列为NULL，用一字节的0XFF表示，后面没有列数据</a:t>
            </a:r>
            <a:endParaRPr sz="1400" b="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列数据的长大于等于253，用3字节表示列长度。第一个字节为0XFD表示后面两字节是列长度，再后面才是列数据。</a:t>
            </a:r>
            <a:endParaRPr sz="1400" b="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/>
            <a:endParaRPr sz="1400" b="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/>
            <a:r>
              <a:rPr sz="1400" b="0" dirty="0"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</a:rPr>
              <a:t>行是4字节对齐的，行尾可能会存在一些对齐字节。</a:t>
            </a:r>
            <a:endParaRPr sz="1400" b="0" dirty="0"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163320" y="1478280"/>
            <a:ext cx="965835" cy="3321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130425" y="1478280"/>
            <a:ext cx="406400" cy="332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4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538095" y="1478280"/>
            <a:ext cx="845820" cy="3321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int data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928110" y="1477645"/>
            <a:ext cx="534035" cy="332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0xfd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462145" y="1477645"/>
            <a:ext cx="542290" cy="332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300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006340" y="1477645"/>
            <a:ext cx="1022985" cy="3321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char data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031230" y="1477645"/>
            <a:ext cx="640080" cy="332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align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85185" y="1477645"/>
            <a:ext cx="541655" cy="332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0xff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9" name="肘形连接符 8"/>
          <p:cNvCxnSpPr>
            <a:stCxn id="44" idx="2"/>
          </p:cNvCxnSpPr>
          <p:nvPr/>
        </p:nvCxnSpPr>
        <p:spPr>
          <a:xfrm rot="5400000" flipV="1">
            <a:off x="2501900" y="1642110"/>
            <a:ext cx="298450" cy="6350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919730" y="1937385"/>
            <a:ext cx="184340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1Byte</a:t>
            </a:r>
            <a:r>
              <a:rPr lang="zh-CN" altLang="en-US" sz="800"/>
              <a:t>描述列长度，后面是列数据</a:t>
            </a:r>
            <a:endParaRPr lang="en-US" altLang="zh-CN" sz="800"/>
          </a:p>
        </p:txBody>
      </p:sp>
      <p:cxnSp>
        <p:nvCxnSpPr>
          <p:cNvPr id="13" name="肘形连接符 12"/>
          <p:cNvCxnSpPr>
            <a:stCxn id="3" idx="0"/>
          </p:cNvCxnSpPr>
          <p:nvPr/>
        </p:nvCxnSpPr>
        <p:spPr>
          <a:xfrm rot="16200000">
            <a:off x="3612515" y="1054735"/>
            <a:ext cx="466090" cy="3790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10990" y="897890"/>
            <a:ext cx="19754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1Byte 0xFF</a:t>
            </a:r>
            <a:r>
              <a:rPr lang="zh-CN" altLang="en-US" sz="800"/>
              <a:t>表示这列为</a:t>
            </a:r>
            <a:r>
              <a:rPr lang="en-US" altLang="zh-CN" sz="800"/>
              <a:t>NULL</a:t>
            </a:r>
            <a:endParaRPr lang="en-US" altLang="zh-CN" sz="800"/>
          </a:p>
        </p:txBody>
      </p:sp>
      <p:cxnSp>
        <p:nvCxnSpPr>
          <p:cNvPr id="14" name="肘形连接符 13"/>
          <p:cNvCxnSpPr>
            <a:stCxn id="46" idx="2"/>
          </p:cNvCxnSpPr>
          <p:nvPr/>
        </p:nvCxnSpPr>
        <p:spPr>
          <a:xfrm rot="5400000" flipV="1">
            <a:off x="4405630" y="1598930"/>
            <a:ext cx="551815" cy="97218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46370" y="2175510"/>
            <a:ext cx="19729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3Byte </a:t>
            </a:r>
            <a:r>
              <a:rPr lang="en-US" sz="800"/>
              <a:t>0XFD</a:t>
            </a:r>
            <a:r>
              <a:rPr lang="zh-CN" altLang="en-US" sz="800"/>
              <a:t>表示后面两字节才是列长度</a:t>
            </a:r>
            <a:endParaRPr lang="zh-CN" alt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/>
          <p:cNvSpPr/>
          <p:nvPr/>
        </p:nvSpPr>
        <p:spPr>
          <a:xfrm>
            <a:off x="718820" y="3491230"/>
            <a:ext cx="4453255" cy="21139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742941" y="1234130"/>
            <a:ext cx="3994274" cy="3661121"/>
            <a:chOff x="7466206" y="1607510"/>
            <a:chExt cx="3994274" cy="3661121"/>
          </a:xfrm>
        </p:grpSpPr>
        <p:sp>
          <p:nvSpPr>
            <p:cNvPr id="12" name="TextBox 20"/>
            <p:cNvSpPr txBox="1"/>
            <p:nvPr/>
          </p:nvSpPr>
          <p:spPr>
            <a:xfrm>
              <a:off x="7975303" y="1945676"/>
              <a:ext cx="3485177" cy="3322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Update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动作将行变大才会产生行迁移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.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行数据部分一个页面放得下，但是原页面放不下变大后的行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原页面留一个首行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(Link)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，数据部分迁移到另一个页面上作为迁移行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(Migr)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首行上的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NEXT RID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指向迁移行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迁移行的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NEXT RID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为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INVALID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，表示最后一个分片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13" name="AutoShape 117"/>
            <p:cNvSpPr/>
            <p:nvPr/>
          </p:nvSpPr>
          <p:spPr bwMode="auto">
            <a:xfrm>
              <a:off x="7466206" y="1614558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4" name="TextBox 25"/>
            <p:cNvSpPr txBox="1"/>
            <p:nvPr/>
          </p:nvSpPr>
          <p:spPr>
            <a:xfrm>
              <a:off x="7940525" y="1607510"/>
              <a:ext cx="3098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8" name="AutoShape 117"/>
            <p:cNvSpPr/>
            <p:nvPr/>
          </p:nvSpPr>
          <p:spPr bwMode="auto">
            <a:xfrm>
              <a:off x="7593206" y="1741558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14757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行迁移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10615" y="1323975"/>
            <a:ext cx="1403985" cy="1571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110615" y="1316355"/>
            <a:ext cx="1403985" cy="2305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110615" y="1548130"/>
            <a:ext cx="66675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777365" y="1549400"/>
            <a:ext cx="73660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/>
          </a:p>
        </p:txBody>
      </p:sp>
      <p:sp>
        <p:nvSpPr>
          <p:cNvPr id="35" name="矩形 34"/>
          <p:cNvSpPr/>
          <p:nvPr/>
        </p:nvSpPr>
        <p:spPr>
          <a:xfrm>
            <a:off x="1110615" y="1781810"/>
            <a:ext cx="1403985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</a:t>
            </a:r>
            <a:endParaRPr lang="en-US" altLang="zh-CN" sz="1200"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10615" y="2012950"/>
            <a:ext cx="1403350" cy="389255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</a:t>
            </a:r>
            <a:endParaRPr lang="en-US" altLang="zh-CN" sz="1200"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819910" y="2660650"/>
            <a:ext cx="694690" cy="23812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184275" y="2409190"/>
            <a:ext cx="12566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 space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110615" y="3782060"/>
            <a:ext cx="1403985" cy="1571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109980" y="3766820"/>
            <a:ext cx="1403985" cy="2305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109980" y="3998595"/>
            <a:ext cx="66675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776730" y="3992245"/>
            <a:ext cx="73660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/>
          </a:p>
        </p:txBody>
      </p:sp>
      <p:sp>
        <p:nvSpPr>
          <p:cNvPr id="48" name="矩形 47"/>
          <p:cNvSpPr/>
          <p:nvPr/>
        </p:nvSpPr>
        <p:spPr>
          <a:xfrm>
            <a:off x="1109980" y="4224655"/>
            <a:ext cx="1403985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</a:t>
            </a:r>
            <a:endParaRPr lang="en-US" altLang="zh-CN" sz="1200"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109980" y="4455795"/>
            <a:ext cx="887730" cy="240030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row(link)</a:t>
            </a:r>
            <a:endParaRPr lang="en-US" altLang="zh-CN" sz="1200"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819275" y="5113655"/>
            <a:ext cx="694690" cy="23812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183640" y="4859655"/>
            <a:ext cx="12566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 space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42640" y="3782060"/>
            <a:ext cx="1403985" cy="1571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342640" y="3774440"/>
            <a:ext cx="1403985" cy="2305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342640" y="4006215"/>
            <a:ext cx="898525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051935" y="5121275"/>
            <a:ext cx="694690" cy="23812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416300" y="4867275"/>
            <a:ext cx="12566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 space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343275" y="4237990"/>
            <a:ext cx="1403350" cy="629285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241165" y="4006215"/>
            <a:ext cx="50546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5" name="下箭头 64"/>
          <p:cNvSpPr/>
          <p:nvPr/>
        </p:nvSpPr>
        <p:spPr>
          <a:xfrm>
            <a:off x="1652905" y="2993390"/>
            <a:ext cx="301625" cy="701675"/>
          </a:xfrm>
          <a:prstGeom prst="downArrow">
            <a:avLst/>
          </a:prstGeom>
          <a:solidFill>
            <a:schemeClr val="bg1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3796030" y="2636520"/>
            <a:ext cx="8769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migrate</a:t>
            </a:r>
            <a:endParaRPr lang="en-US" altLang="zh-CN" sz="1200"/>
          </a:p>
        </p:txBody>
      </p:sp>
      <p:cxnSp>
        <p:nvCxnSpPr>
          <p:cNvPr id="70" name="曲线连接符 69"/>
          <p:cNvCxnSpPr>
            <a:stCxn id="36" idx="3"/>
            <a:endCxn id="53" idx="0"/>
          </p:cNvCxnSpPr>
          <p:nvPr/>
        </p:nvCxnSpPr>
        <p:spPr>
          <a:xfrm>
            <a:off x="2513965" y="2207895"/>
            <a:ext cx="1530985" cy="1566545"/>
          </a:xfrm>
          <a:prstGeom prst="curvedConnector2">
            <a:avLst/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曲线连接符 70"/>
          <p:cNvCxnSpPr/>
          <p:nvPr/>
        </p:nvCxnSpPr>
        <p:spPr>
          <a:xfrm rot="16200000">
            <a:off x="2661805" y="3905365"/>
            <a:ext cx="3175" cy="1332000"/>
          </a:xfrm>
          <a:prstGeom prst="curvedConnector3">
            <a:avLst>
              <a:gd name="adj1" fmla="val 283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曲线连接符 5"/>
          <p:cNvCxnSpPr/>
          <p:nvPr/>
        </p:nvCxnSpPr>
        <p:spPr>
          <a:xfrm rot="5400000">
            <a:off x="2675775" y="4034270"/>
            <a:ext cx="3175" cy="1332000"/>
          </a:xfrm>
          <a:prstGeom prst="curvedConnector3">
            <a:avLst>
              <a:gd name="adj1" fmla="val 283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/>
          <p:cNvSpPr/>
          <p:nvPr/>
        </p:nvSpPr>
        <p:spPr>
          <a:xfrm>
            <a:off x="508635" y="1086485"/>
            <a:ext cx="8949055" cy="2113915"/>
          </a:xfrm>
          <a:prstGeom prst="roundRect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04470" y="3522980"/>
            <a:ext cx="9589769" cy="2525164"/>
            <a:chOff x="7466206" y="1607510"/>
            <a:chExt cx="4003818" cy="2524728"/>
          </a:xfrm>
        </p:grpSpPr>
        <p:sp>
          <p:nvSpPr>
            <p:cNvPr id="12" name="TextBox 20"/>
            <p:cNvSpPr txBox="1"/>
            <p:nvPr/>
          </p:nvSpPr>
          <p:spPr>
            <a:xfrm>
              <a:off x="7984847" y="1671403"/>
              <a:ext cx="3485177" cy="2460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Insert, Update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动作可以产生行链接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.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行数据部分一个页面放不下，需要分多个页面存储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首行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(Link)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NEXT ROWID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指向第一个分片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分片的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NWXT ROWID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指向下一个分片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最后一个分片的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NEXT RID 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为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INVALID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，表示最后一个分片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p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行迁移行链接的每一个分片的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Insert/Update/Delete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与普通行的处理流程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一样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13" name="AutoShape 117"/>
            <p:cNvSpPr/>
            <p:nvPr/>
          </p:nvSpPr>
          <p:spPr bwMode="auto">
            <a:xfrm>
              <a:off x="7466206" y="1614494"/>
              <a:ext cx="315491" cy="356174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4" name="TextBox 25"/>
            <p:cNvSpPr txBox="1"/>
            <p:nvPr/>
          </p:nvSpPr>
          <p:spPr>
            <a:xfrm>
              <a:off x="7940525" y="1607510"/>
              <a:ext cx="30988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8" name="AutoShape 117"/>
            <p:cNvSpPr/>
            <p:nvPr/>
          </p:nvSpPr>
          <p:spPr bwMode="auto">
            <a:xfrm>
              <a:off x="7593198" y="1741472"/>
              <a:ext cx="188234" cy="356174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14757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行链接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60120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90930" y="1349375"/>
            <a:ext cx="1403985" cy="1571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90295" y="1334135"/>
            <a:ext cx="1403985" cy="2305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90295" y="1565910"/>
            <a:ext cx="66675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757045" y="1567180"/>
            <a:ext cx="73660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/>
          </a:p>
        </p:txBody>
      </p:sp>
      <p:sp>
        <p:nvSpPr>
          <p:cNvPr id="48" name="矩形 47"/>
          <p:cNvSpPr/>
          <p:nvPr/>
        </p:nvSpPr>
        <p:spPr>
          <a:xfrm>
            <a:off x="1090295" y="1799590"/>
            <a:ext cx="1403985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</a:t>
            </a:r>
            <a:endParaRPr lang="en-US" altLang="zh-CN" sz="1200"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90295" y="2030730"/>
            <a:ext cx="887730" cy="240030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row(link)</a:t>
            </a:r>
            <a:endParaRPr lang="en-US" altLang="zh-CN" sz="1200"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799590" y="2680970"/>
            <a:ext cx="694690" cy="23812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163955" y="2426970"/>
            <a:ext cx="12566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 space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8180" y="1349375"/>
            <a:ext cx="1403985" cy="1571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218180" y="1341755"/>
            <a:ext cx="1403985" cy="2305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218180" y="1573530"/>
            <a:ext cx="898525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927475" y="2688590"/>
            <a:ext cx="694690" cy="23812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291840" y="2434590"/>
            <a:ext cx="12566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 space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218815" y="1805305"/>
            <a:ext cx="1403350" cy="636905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116705" y="1573530"/>
            <a:ext cx="50546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02250" y="1356995"/>
            <a:ext cx="1403985" cy="1571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302250" y="1349375"/>
            <a:ext cx="1403985" cy="2305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02250" y="1581150"/>
            <a:ext cx="898525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11545" y="2689225"/>
            <a:ext cx="694690" cy="23812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375910" y="2442210"/>
            <a:ext cx="12566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 space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02885" y="1812925"/>
            <a:ext cx="1403350" cy="629285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00775" y="1581150"/>
            <a:ext cx="50546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67905" y="1356995"/>
            <a:ext cx="1403985" cy="1571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367905" y="1349375"/>
            <a:ext cx="1403985" cy="23050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367905" y="1581150"/>
            <a:ext cx="898525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77200" y="2689225"/>
            <a:ext cx="694690" cy="238125"/>
          </a:xfrm>
          <a:prstGeom prst="rect">
            <a:avLst/>
          </a:prstGeom>
          <a:solidFill>
            <a:srgbClr val="D0CE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441565" y="2442210"/>
            <a:ext cx="12566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free space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68540" y="1812925"/>
            <a:ext cx="1403350" cy="629285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266430" y="1581150"/>
            <a:ext cx="505460" cy="231775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row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6" name="曲线连接符 25"/>
          <p:cNvCxnSpPr/>
          <p:nvPr/>
        </p:nvCxnSpPr>
        <p:spPr>
          <a:xfrm rot="16200000">
            <a:off x="2588120" y="1520330"/>
            <a:ext cx="3175" cy="1224000"/>
          </a:xfrm>
          <a:prstGeom prst="curvedConnector3">
            <a:avLst>
              <a:gd name="adj1" fmla="val -757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/>
          <p:cNvCxnSpPr/>
          <p:nvPr/>
        </p:nvCxnSpPr>
        <p:spPr>
          <a:xfrm rot="16200000">
            <a:off x="4944260" y="1826745"/>
            <a:ext cx="3175" cy="648000"/>
          </a:xfrm>
          <a:prstGeom prst="curvedConnector3">
            <a:avLst>
              <a:gd name="adj1" fmla="val -757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曲线连接符 37"/>
          <p:cNvCxnSpPr/>
          <p:nvPr/>
        </p:nvCxnSpPr>
        <p:spPr>
          <a:xfrm rot="16200000">
            <a:off x="7042935" y="1799440"/>
            <a:ext cx="3175" cy="648000"/>
          </a:xfrm>
          <a:prstGeom prst="curvedConnector3">
            <a:avLst>
              <a:gd name="adj1" fmla="val -757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19"/>
          <p:cNvCxnSpPr>
            <a:stCxn id="21" idx="2"/>
            <a:endCxn id="49" idx="2"/>
          </p:cNvCxnSpPr>
          <p:nvPr/>
        </p:nvCxnSpPr>
        <p:spPr>
          <a:xfrm rot="5400000" flipH="1">
            <a:off x="4716145" y="-911860"/>
            <a:ext cx="171450" cy="6536055"/>
          </a:xfrm>
          <a:prstGeom prst="curvedConnector3">
            <a:avLst>
              <a:gd name="adj1" fmla="val -376481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360235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行链接</a:t>
            </a:r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-Update</a:t>
            </a:r>
            <a:endParaRPr lang="en-US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60120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273050" y="1770380"/>
            <a:ext cx="4464685" cy="8191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1160" y="2155190"/>
            <a:ext cx="887730" cy="240030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row(link)</a:t>
            </a:r>
            <a:endParaRPr lang="en-US" altLang="zh-CN" sz="12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69390" y="2155190"/>
            <a:ext cx="887730" cy="240030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90165" y="2145665"/>
            <a:ext cx="887730" cy="240030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10940" y="2145665"/>
            <a:ext cx="887730" cy="240030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cxnSp>
        <p:nvCxnSpPr>
          <p:cNvPr id="79" name="曲线连接符 78"/>
          <p:cNvCxnSpPr/>
          <p:nvPr/>
        </p:nvCxnSpPr>
        <p:spPr>
          <a:xfrm rot="16200000">
            <a:off x="1390995" y="1855760"/>
            <a:ext cx="3175" cy="576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曲线连接符 82"/>
          <p:cNvCxnSpPr/>
          <p:nvPr/>
        </p:nvCxnSpPr>
        <p:spPr>
          <a:xfrm rot="16200000">
            <a:off x="2470495" y="1862110"/>
            <a:ext cx="3175" cy="576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曲线连接符 83"/>
          <p:cNvCxnSpPr/>
          <p:nvPr/>
        </p:nvCxnSpPr>
        <p:spPr>
          <a:xfrm rot="16200000">
            <a:off x="3586190" y="1868460"/>
            <a:ext cx="3175" cy="576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圆角矩形 92"/>
          <p:cNvSpPr/>
          <p:nvPr/>
        </p:nvSpPr>
        <p:spPr>
          <a:xfrm>
            <a:off x="5827395" y="853440"/>
            <a:ext cx="4464685" cy="140716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5945505" y="1238250"/>
            <a:ext cx="887730" cy="240030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row(link)</a:t>
            </a:r>
            <a:endParaRPr lang="en-US" altLang="zh-CN" sz="1200">
              <a:sym typeface="+mn-ea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023735" y="1238250"/>
            <a:ext cx="887730" cy="24003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8144510" y="1228725"/>
            <a:ext cx="887730" cy="240030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9265285" y="1228725"/>
            <a:ext cx="887730" cy="240030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cxnSp>
        <p:nvCxnSpPr>
          <p:cNvPr id="99" name="曲线连接符 98"/>
          <p:cNvCxnSpPr/>
          <p:nvPr/>
        </p:nvCxnSpPr>
        <p:spPr>
          <a:xfrm rot="16200000">
            <a:off x="8024840" y="945170"/>
            <a:ext cx="3175" cy="576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曲线连接符 99"/>
          <p:cNvCxnSpPr/>
          <p:nvPr/>
        </p:nvCxnSpPr>
        <p:spPr>
          <a:xfrm rot="16200000">
            <a:off x="9140535" y="951520"/>
            <a:ext cx="3175" cy="576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7049135" y="1845310"/>
            <a:ext cx="887730" cy="240030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cxnSp>
        <p:nvCxnSpPr>
          <p:cNvPr id="102" name="曲线连接符 101"/>
          <p:cNvCxnSpPr>
            <a:stCxn id="94" idx="2"/>
            <a:endCxn id="101" idx="1"/>
          </p:cNvCxnSpPr>
          <p:nvPr/>
        </p:nvCxnSpPr>
        <p:spPr>
          <a:xfrm rot="5400000" flipV="1">
            <a:off x="6475730" y="1399540"/>
            <a:ext cx="487045" cy="659765"/>
          </a:xfrm>
          <a:prstGeom prst="curvedConnector2">
            <a:avLst/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曲线连接符 102"/>
          <p:cNvCxnSpPr>
            <a:stCxn id="101" idx="3"/>
          </p:cNvCxnSpPr>
          <p:nvPr/>
        </p:nvCxnSpPr>
        <p:spPr>
          <a:xfrm flipV="1">
            <a:off x="7936865" y="1483360"/>
            <a:ext cx="329565" cy="489585"/>
          </a:xfrm>
          <a:prstGeom prst="curvedConnector2">
            <a:avLst/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圆角矩形 103"/>
          <p:cNvSpPr/>
          <p:nvPr/>
        </p:nvSpPr>
        <p:spPr>
          <a:xfrm>
            <a:off x="5827395" y="3043555"/>
            <a:ext cx="5188585" cy="175006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5912485" y="3428365"/>
            <a:ext cx="887730" cy="240030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row(link)</a:t>
            </a:r>
            <a:endParaRPr lang="en-US" altLang="zh-CN" sz="1200">
              <a:sym typeface="+mn-ea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8286750" y="3426460"/>
            <a:ext cx="887730" cy="24003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945630" y="3434080"/>
            <a:ext cx="887730" cy="240030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9627870" y="3434080"/>
            <a:ext cx="887730" cy="240030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cxnSp>
        <p:nvCxnSpPr>
          <p:cNvPr id="110" name="曲线连接符 109"/>
          <p:cNvCxnSpPr/>
          <p:nvPr/>
        </p:nvCxnSpPr>
        <p:spPr>
          <a:xfrm rot="16200000">
            <a:off x="9395635" y="3066875"/>
            <a:ext cx="3175" cy="756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>
          <a:xfrm>
            <a:off x="7705725" y="4279265"/>
            <a:ext cx="887730" cy="240030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cxnSp>
        <p:nvCxnSpPr>
          <p:cNvPr id="114" name="曲线连接符 113"/>
          <p:cNvCxnSpPr/>
          <p:nvPr/>
        </p:nvCxnSpPr>
        <p:spPr>
          <a:xfrm rot="16200000">
            <a:off x="6838660" y="3144175"/>
            <a:ext cx="3175" cy="576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/>
          <p:cNvSpPr/>
          <p:nvPr/>
        </p:nvSpPr>
        <p:spPr>
          <a:xfrm>
            <a:off x="8793480" y="4279265"/>
            <a:ext cx="887730" cy="240030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sym typeface="+mn-ea"/>
              </a:rPr>
              <a:t>row(migr)</a:t>
            </a:r>
            <a:endParaRPr lang="en-US" altLang="zh-CN" sz="1200">
              <a:sym typeface="+mn-ea"/>
            </a:endParaRPr>
          </a:p>
        </p:txBody>
      </p:sp>
      <p:cxnSp>
        <p:nvCxnSpPr>
          <p:cNvPr id="116" name="曲线连接符 115"/>
          <p:cNvCxnSpPr>
            <a:endCxn id="111" idx="1"/>
          </p:cNvCxnSpPr>
          <p:nvPr/>
        </p:nvCxnSpPr>
        <p:spPr>
          <a:xfrm rot="5400000" flipV="1">
            <a:off x="7190105" y="3891280"/>
            <a:ext cx="723265" cy="307975"/>
          </a:xfrm>
          <a:prstGeom prst="curvedConnector2">
            <a:avLst/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线连接符 116"/>
          <p:cNvCxnSpPr/>
          <p:nvPr/>
        </p:nvCxnSpPr>
        <p:spPr>
          <a:xfrm rot="16200000">
            <a:off x="8694985" y="3974535"/>
            <a:ext cx="3175" cy="612000"/>
          </a:xfrm>
          <a:prstGeom prst="curvedConnector3">
            <a:avLst>
              <a:gd name="adj1" fmla="val 7550000"/>
            </a:avLst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曲线连接符 117"/>
          <p:cNvCxnSpPr>
            <a:stCxn id="115" idx="3"/>
            <a:endCxn id="108" idx="2"/>
          </p:cNvCxnSpPr>
          <p:nvPr/>
        </p:nvCxnSpPr>
        <p:spPr>
          <a:xfrm flipV="1">
            <a:off x="9681210" y="3681730"/>
            <a:ext cx="390525" cy="725170"/>
          </a:xfrm>
          <a:prstGeom prst="curvedConnector2">
            <a:avLst/>
          </a:prstGeom>
          <a:ln w="1905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下箭头 119"/>
          <p:cNvSpPr/>
          <p:nvPr/>
        </p:nvSpPr>
        <p:spPr>
          <a:xfrm rot="15000000">
            <a:off x="5099685" y="1206500"/>
            <a:ext cx="300355" cy="701040"/>
          </a:xfrm>
          <a:prstGeom prst="downArrow">
            <a:avLst/>
          </a:prstGeom>
          <a:solidFill>
            <a:schemeClr val="bg1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下箭头 120"/>
          <p:cNvSpPr/>
          <p:nvPr/>
        </p:nvSpPr>
        <p:spPr>
          <a:xfrm rot="18180000">
            <a:off x="5088255" y="2624455"/>
            <a:ext cx="300355" cy="701040"/>
          </a:xfrm>
          <a:prstGeom prst="downArrow">
            <a:avLst/>
          </a:prstGeom>
          <a:solidFill>
            <a:schemeClr val="bg1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90706" y="3182945"/>
            <a:ext cx="3994274" cy="2583526"/>
            <a:chOff x="7466206" y="1607510"/>
            <a:chExt cx="3994274" cy="2583526"/>
          </a:xfrm>
        </p:grpSpPr>
        <p:sp>
          <p:nvSpPr>
            <p:cNvPr id="26" name="TextBox 20"/>
            <p:cNvSpPr txBox="1"/>
            <p:nvPr/>
          </p:nvSpPr>
          <p:spPr>
            <a:xfrm>
              <a:off x="7975303" y="1945676"/>
              <a:ext cx="3485177" cy="2245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Wingdings" panose="05000000000000000000" charset="0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行链接的分片也可能因为所在页面空间不足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而发生迁移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.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行链接的分片经过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Update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可能大于一个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Block Size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而发生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分裂。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charset="0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行链接不能经过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Update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Arial" panose="020B0604020202020204" pitchFamily="34" charset="0"/>
                  <a:sym typeface="Verdana" panose="020B0604030504040204" charset="0"/>
                </a:rPr>
                <a:t>变成普通行。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  <a:p>
              <a:pPr indent="0">
                <a:lnSpc>
                  <a:spcPct val="200000"/>
                </a:lnSpc>
                <a:buFont typeface="Wingdings" panose="05000000000000000000" charset="0"/>
                <a:buNone/>
              </a:pP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endParaRPr>
            </a:p>
          </p:txBody>
        </p:sp>
        <p:sp>
          <p:nvSpPr>
            <p:cNvPr id="27" name="AutoShape 117"/>
            <p:cNvSpPr/>
            <p:nvPr/>
          </p:nvSpPr>
          <p:spPr bwMode="auto">
            <a:xfrm>
              <a:off x="7466206" y="1614558"/>
              <a:ext cx="474248" cy="355888"/>
            </a:xfrm>
            <a:prstGeom prst="star4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28" name="TextBox 25"/>
            <p:cNvSpPr txBox="1"/>
            <p:nvPr/>
          </p:nvSpPr>
          <p:spPr>
            <a:xfrm>
              <a:off x="7940525" y="1607510"/>
              <a:ext cx="3098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29" name="AutoShape 117"/>
            <p:cNvSpPr/>
            <p:nvPr/>
          </p:nvSpPr>
          <p:spPr bwMode="auto">
            <a:xfrm>
              <a:off x="7593206" y="1741558"/>
              <a:ext cx="474248" cy="355888"/>
            </a:xfrm>
            <a:prstGeom prst="star4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p:spPr>
          <p:txBody>
            <a:bodyPr lIns="19050" tIns="19050" rIns="19050" bIns="19050" anchor="ctr"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COMMONDATA" val="eyJoZGlkIjoiYWE3MmUwN2UxNjFlZDM4YTg3MWZhYTZkMTdmMGY5M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3610</Words>
  <Application>WPS 演示</Application>
  <PresentationFormat>宽屏</PresentationFormat>
  <Paragraphs>588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Verdana</vt:lpstr>
      <vt:lpstr>微软雅黑</vt:lpstr>
      <vt:lpstr>Calibri</vt:lpstr>
      <vt:lpstr>Wingdings</vt:lpstr>
      <vt:lpstr>Arial Unicode MS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liyq</cp:lastModifiedBy>
  <cp:revision>300</cp:revision>
  <dcterms:created xsi:type="dcterms:W3CDTF">2021-03-09T02:51:00Z</dcterms:created>
  <dcterms:modified xsi:type="dcterms:W3CDTF">2022-08-15T13:05:13Z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94BF5AF301684ADFA590CEEFB8F7150A</vt:lpwstr>
  </property>
</Properties>
</file>