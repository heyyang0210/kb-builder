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11" r:id="rId2"/>
    <p:sldId id="312" r:id="rId3"/>
    <p:sldId id="313" r:id="rId4"/>
    <p:sldId id="314" r:id="rId5"/>
    <p:sldId id="315" r:id="rId6"/>
    <p:sldId id="316" r:id="rId7"/>
    <p:sldId id="327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42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15C127-8B36-E6D5-65EB-32A763D9BF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CC9C54-E5D3-A6B0-AB17-ED3E32BE34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B66A2-01B2-4A61-8B4C-A3FE8C5B0E61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6C5602-54B8-0CC3-DA75-B50D46780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EB9D9D-1A72-C520-6DC0-D4E542D303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78D25-58FF-4CD9-9AB6-C7AADE3F79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433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DFF71-F77D-4545-9231-5A6A4C4FC3A9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5B809-052C-4E6C-9624-F1BB2E7F57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07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773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927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814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919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92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715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156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994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419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56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535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710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633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17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63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53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580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母版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C1F2B-189D-5E8A-C43A-7BF8D4A36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F0234A-37D3-BBE0-B8BC-DF753DAA6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8A795C-2C39-4299-9780-ECA2106E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67B8E-C7E3-F7F6-4A44-3F15761E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D5C0D-3666-54BE-55A4-66347724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90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496E4-3C22-C87F-C4CE-0AD0E4D8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306A4-6D2E-A6E1-B460-718A4FD93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B9E3C2-7F34-B598-E8E3-AE84F947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47177-13A5-3353-DC1B-F9F733BA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31D362-D726-335B-A9A9-0431FE5E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19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DF7F6-75A8-EAFE-23B0-372BE31E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589281-C084-ACB3-CC93-337A2EC3C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57C5AD-4ABE-AAF1-1BA4-A71F07B7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40BADD-2670-EA8F-E7A7-F92596FAF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8D516-77D4-F4EA-33E2-FAFC17FDE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07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DA3FD-5F8A-6D64-1D62-5ADE73F06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560827-C01F-76D1-8834-C71B47D6E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2685DA-145C-6DFD-C89E-FF27FDF40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583121-40D0-FE1F-3022-0B67199F7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785D3B-A8E1-2074-6707-88D839F1B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7B3B3C-C9D1-7BAD-A1C3-97C5794CF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53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897A6-183B-5404-20E4-27240F69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B0492E-0581-CBEB-75B2-9724E6B0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782816-BE76-ED51-53FF-186AF7E11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AE6530-D7C5-9B74-6F6F-95BE0B6232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7C9BDE-F2BD-7B71-68B0-08001F5E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EB89C2-C809-BEEF-BCFA-7569F9166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B22D50-C6B3-E761-6A78-0E41E507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8C3401-EB4B-6220-A614-168F106B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0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11B5E-DBEE-2612-D863-F60D5E940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FAFF45-E1A3-A433-02DA-1FBE3F9F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00EDD4-44F8-1E95-055F-4AF49691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FF9914-2481-478B-F7D1-C6D3BF7F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52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11E8B0-88DF-6797-8D9D-3D870D3E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CFFB07-575D-9AB6-D086-80B04A84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AE046-4AEC-9732-EB1C-705D8103B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84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EDB9D-6DA1-179B-AA8E-533982B77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E59BC-8830-977C-2F8D-0B52D844A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DF0B5D-B11F-CA4F-C784-D5C0984BE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464213-94A1-A2FF-24CB-74F7B30C2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EFC2F2-6B84-B5F6-D104-580255E5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39BC04-0F21-0A39-5DF9-459E17DB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74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A44E6-8D85-AA0D-01AB-3DE84553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7D8D8E-6ACA-D3C2-EF9C-8789C5BFC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12CDFC-316B-D530-A874-448884009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E158C9-BD89-C6F1-5F9D-BA2075F9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C0B80E-395B-78CD-1E17-2BB2DB85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973B9E-B445-2057-2CE0-25D2CE59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49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F4C0E-BB92-1F53-3512-8C3246A8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79BDAE-A0C3-9C94-E485-7815E3BD9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11C28-91CE-2FD3-2C66-82A3BE53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A8D7B6-DF6E-D06C-95DE-D69A03BD8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00D4F9-0708-1E9B-77A9-18A1A260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29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27BD00-02A4-F941-31CA-D0CAC6181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579D9F-3714-EE65-F998-50FFE5919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7BA15C-4F5C-9B33-365A-E7219D04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F25597-814F-4629-E086-DFDF7CCD3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B48283-EC77-63CC-373A-6A701265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758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87107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17325F-1937-F501-B65F-C059A4E6F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EAB7FC-ADE6-CAE1-CAF1-AC0865C3C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  <a:p>
            <a:pPr lvl="4"/>
            <a:endParaRPr lang="en-US" altLang="zh-CN" dirty="0"/>
          </a:p>
          <a:p>
            <a:pPr lvl="4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77905-7CE2-2F9E-C1F0-D0125E1DF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C3BBF-EB0C-4D84-9AA9-297C411322BC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851114-92EE-D006-3F29-1795620A0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939FE-F8BB-6061-B384-1EA3472FA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107C-17CB-4295-B853-2BEF612A63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91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6AFE2388-B2D7-AE73-4988-E01E36F40DB2}"/>
              </a:ext>
            </a:extLst>
          </p:cNvPr>
          <p:cNvSpPr txBox="1">
            <a:spLocks/>
          </p:cNvSpPr>
          <p:nvPr/>
        </p:nvSpPr>
        <p:spPr>
          <a:xfrm>
            <a:off x="1342417" y="2612456"/>
            <a:ext cx="9144000" cy="9623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</a:rPr>
              <a:t>索引</a:t>
            </a:r>
          </a:p>
        </p:txBody>
      </p:sp>
    </p:spTree>
    <p:extLst>
      <p:ext uri="{BB962C8B-B14F-4D97-AF65-F5344CB8AC3E}">
        <p14:creationId xmlns:p14="http://schemas.microsoft.com/office/powerpoint/2010/main" val="140209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1C3CA213-7246-6BC9-5FD8-16ACD7609377}"/>
              </a:ext>
            </a:extLst>
          </p:cNvPr>
          <p:cNvSpPr txBox="1">
            <a:spLocks/>
          </p:cNvSpPr>
          <p:nvPr/>
        </p:nvSpPr>
        <p:spPr>
          <a:xfrm>
            <a:off x="797670" y="1122363"/>
            <a:ext cx="9144000" cy="7194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Btree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索引结构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5C33F6B-D6EE-EA75-2C99-0D5D6294D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158" y="2128837"/>
            <a:ext cx="7991475" cy="260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15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ACC354-FCBB-34CC-23C8-51136D20B697}"/>
              </a:ext>
            </a:extLst>
          </p:cNvPr>
          <p:cNvSpPr txBox="1">
            <a:spLocks/>
          </p:cNvSpPr>
          <p:nvPr/>
        </p:nvSpPr>
        <p:spPr>
          <a:xfrm>
            <a:off x="1524000" y="1381328"/>
            <a:ext cx="9144000" cy="387647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kern="1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 Btree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索引采用</a:t>
            </a:r>
            <a:r>
              <a:rPr lang="en-US" altLang="zh-CN" sz="1800" kern="1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B-Link Tree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结构，定义树的最底层为</a:t>
            </a:r>
            <a:r>
              <a:rPr lang="en-US" altLang="zh-CN" sz="1800" kern="1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level 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level 0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level &gt; 0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称为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branch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，树的最顶层只有一个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，称为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root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（特殊的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branch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endParaRPr lang="en-US" altLang="zh-CN" sz="1800" kern="1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</a:pPr>
            <a:endParaRPr lang="en-US" altLang="zh-CN" sz="1800" kern="1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</a:pP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Btree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索引中，所有的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都存储若干个数据元组称为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，只有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存储用户数据，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branch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存储路由信息（可以区分出数据大小的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endParaRPr lang="en-US" altLang="zh-CN" sz="1800" kern="1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</a:pPr>
            <a:endParaRPr lang="en-US" altLang="zh-CN" sz="1800" kern="1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有一个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rowid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指向对应表数据的位置，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branch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的每个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有一个指向下一层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的指针，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之间是一个双向链表。</a:t>
            </a:r>
            <a:endParaRPr lang="en-US" altLang="zh-CN" sz="1800" kern="1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</a:pPr>
            <a:endParaRPr lang="zh-CN" altLang="zh-CN" sz="1800" kern="1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</a:pP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B-Link Tree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的结构我们可以看出，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root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到每个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的距离都是相等的，也就是说，通过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Btree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索引查找数据需要访问的</a:t>
            </a:r>
            <a:r>
              <a:rPr lang="en-US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kern="1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的数量与树高是一样的。</a:t>
            </a:r>
          </a:p>
          <a:p>
            <a:endParaRPr lang="zh-CN" altLang="en-US" dirty="0"/>
          </a:p>
        </p:txBody>
      </p:sp>
      <p:sp>
        <p:nvSpPr>
          <p:cNvPr id="4" name="Freeform 40">
            <a:extLst>
              <a:ext uri="{FF2B5EF4-FFF2-40B4-BE49-F238E27FC236}">
                <a16:creationId xmlns:a16="http://schemas.microsoft.com/office/drawing/2014/main" id="{AA0AB80F-2FEE-7473-B5F4-E6E43983FCFE}"/>
              </a:ext>
            </a:extLst>
          </p:cNvPr>
          <p:cNvSpPr>
            <a:spLocks noEditPoints="1"/>
          </p:cNvSpPr>
          <p:nvPr/>
        </p:nvSpPr>
        <p:spPr bwMode="auto">
          <a:xfrm>
            <a:off x="573507" y="1005291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96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E13C4CE9-A03E-9ACB-F721-07F56C24085A}"/>
              </a:ext>
            </a:extLst>
          </p:cNvPr>
          <p:cNvSpPr txBox="1">
            <a:spLocks/>
          </p:cNvSpPr>
          <p:nvPr/>
        </p:nvSpPr>
        <p:spPr>
          <a:xfrm>
            <a:off x="830100" y="791183"/>
            <a:ext cx="9144000" cy="62905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</a:rPr>
              <a:t>Btree</a:t>
            </a:r>
            <a:r>
              <a:rPr lang="zh-CN" altLang="en-US" sz="280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</a:rPr>
              <a:t>索引扫描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3D0F834-03E9-F1C8-3A67-0F0A93E19EDB}"/>
              </a:ext>
            </a:extLst>
          </p:cNvPr>
          <p:cNvSpPr txBox="1">
            <a:spLocks/>
          </p:cNvSpPr>
          <p:nvPr/>
        </p:nvSpPr>
        <p:spPr>
          <a:xfrm>
            <a:off x="830100" y="4233473"/>
            <a:ext cx="9144000" cy="11664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zh-CN" sz="180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当需要扫描一个表的所有数据，并且索引包含了需要查询的所有列同时需要使用索引的前导列排序，则可以进行</a:t>
            </a:r>
            <a:r>
              <a:rPr lang="en-US" altLang="zh-CN" sz="180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index full scan</a:t>
            </a:r>
            <a:r>
              <a:rPr lang="zh-CN" altLang="zh-CN" sz="180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。首先查找到最左边的</a:t>
            </a:r>
            <a:r>
              <a:rPr lang="en-US" altLang="zh-CN" sz="180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，然后从最左边的</a:t>
            </a:r>
            <a:r>
              <a:rPr lang="en-US" altLang="zh-CN" sz="180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依次扫描到最右边的</a:t>
            </a:r>
            <a:r>
              <a:rPr lang="en-US" altLang="zh-CN" sz="180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（或者从最右边扫描到最左边）</a:t>
            </a:r>
            <a:endParaRPr lang="zh-CN" altLang="en-US" dirty="0">
              <a:latin typeface="+mj-lt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F47654-74C2-5413-211D-6835B67CB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39" y="2252710"/>
            <a:ext cx="6592086" cy="149654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90A66A31-40B4-FE64-24D8-CF92C6E24430}"/>
              </a:ext>
            </a:extLst>
          </p:cNvPr>
          <p:cNvSpPr txBox="1">
            <a:spLocks/>
          </p:cNvSpPr>
          <p:nvPr/>
        </p:nvSpPr>
        <p:spPr>
          <a:xfrm>
            <a:off x="830100" y="1458073"/>
            <a:ext cx="9144000" cy="5328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Index Full Scan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134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6">
            <a:extLst>
              <a:ext uri="{FF2B5EF4-FFF2-40B4-BE49-F238E27FC236}">
                <a16:creationId xmlns:a16="http://schemas.microsoft.com/office/drawing/2014/main" id="{C86215C3-DC4B-12FA-7CEA-A6629F5BC2A4}"/>
              </a:ext>
            </a:extLst>
          </p:cNvPr>
          <p:cNvSpPr txBox="1">
            <a:spLocks/>
          </p:cNvSpPr>
          <p:nvPr/>
        </p:nvSpPr>
        <p:spPr>
          <a:xfrm>
            <a:off x="823606" y="1134894"/>
            <a:ext cx="9144000" cy="52529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kern="100">
                <a:solidFill>
                  <a:schemeClr val="accent5">
                    <a:lumMod val="75000"/>
                  </a:schemeClr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Index Fast Full Scan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481AC3A-496B-4577-AFA5-9AFDC3BD6D3A}"/>
              </a:ext>
            </a:extLst>
          </p:cNvPr>
          <p:cNvSpPr txBox="1">
            <a:spLocks/>
          </p:cNvSpPr>
          <p:nvPr/>
        </p:nvSpPr>
        <p:spPr>
          <a:xfrm>
            <a:off x="823606" y="3971689"/>
            <a:ext cx="9144000" cy="112560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zh-CN" altLang="zh-CN" sz="18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当需要进行</a:t>
            </a:r>
            <a:r>
              <a:rPr lang="en-US" altLang="zh-CN" sz="18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full scan</a:t>
            </a:r>
            <a:r>
              <a:rPr lang="zh-CN" altLang="zh-CN" sz="18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，并且扫描结果不需要有序的时候，则可以进行</a:t>
            </a:r>
            <a:r>
              <a:rPr lang="en-US" altLang="zh-CN" sz="18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fast full scan</a:t>
            </a:r>
            <a:r>
              <a:rPr lang="zh-CN" altLang="zh-CN" sz="18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，例如</a:t>
            </a:r>
            <a:r>
              <a:rPr lang="en-US" altLang="zh-CN" sz="18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count(*)</a:t>
            </a:r>
            <a:r>
              <a:rPr lang="zh-CN" altLang="zh-CN" sz="18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sum()</a:t>
            </a:r>
            <a:r>
              <a:rPr lang="zh-CN" altLang="zh-CN" sz="18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等与顺序无关的扫描。</a:t>
            </a:r>
            <a:r>
              <a:rPr lang="en-US" altLang="zh-CN" sz="18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fast full scan</a:t>
            </a:r>
            <a:r>
              <a:rPr lang="zh-CN" altLang="zh-CN" sz="18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会根据索引在物理磁盘的存储顺序扫描，可以通过预读加速。</a:t>
            </a:r>
            <a:endParaRPr lang="zh-CN" altLang="en-US" dirty="0">
              <a:latin typeface="Verdana" panose="020B060403050404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65BAC3-E8B8-D2FE-0E6C-ACDA53E9B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708" y="1864948"/>
            <a:ext cx="2753995" cy="1750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994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8">
            <a:extLst>
              <a:ext uri="{FF2B5EF4-FFF2-40B4-BE49-F238E27FC236}">
                <a16:creationId xmlns:a16="http://schemas.microsoft.com/office/drawing/2014/main" id="{B876B984-0D26-6B48-9DB7-B865D73AC7FC}"/>
              </a:ext>
            </a:extLst>
          </p:cNvPr>
          <p:cNvSpPr txBox="1">
            <a:spLocks/>
          </p:cNvSpPr>
          <p:nvPr/>
        </p:nvSpPr>
        <p:spPr>
          <a:xfrm>
            <a:off x="940341" y="1122363"/>
            <a:ext cx="9144000" cy="4778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kern="10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Range Scan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9E1E02-BB95-C708-EC09-8B57423D3B53}"/>
              </a:ext>
            </a:extLst>
          </p:cNvPr>
          <p:cNvSpPr txBox="1">
            <a:spLocks/>
          </p:cNvSpPr>
          <p:nvPr/>
        </p:nvSpPr>
        <p:spPr>
          <a:xfrm>
            <a:off x="940341" y="3770648"/>
            <a:ext cx="9144000" cy="12877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zh-CN" altLang="zh-CN" sz="1800" kern="1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当索引的前导列参与查询并且返回结果可能不止一条，则进行</a:t>
            </a:r>
            <a:r>
              <a:rPr lang="en-US" altLang="zh-CN" sz="1800" kern="1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range scan</a:t>
            </a:r>
            <a:r>
              <a:rPr lang="zh-CN" altLang="zh-CN" sz="1800" kern="1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800" kern="1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range scan</a:t>
            </a:r>
            <a:r>
              <a:rPr lang="zh-CN" altLang="zh-CN" sz="1800" kern="1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（升序扫描）根据扫描设置的左边界，从</a:t>
            </a:r>
            <a:r>
              <a:rPr lang="en-US" altLang="zh-CN" sz="1800" kern="1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sz="1800" kern="1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定位到</a:t>
            </a:r>
            <a:r>
              <a:rPr lang="en-US" altLang="zh-CN" sz="1800" kern="1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的满足条件的第一个</a:t>
            </a:r>
            <a:r>
              <a:rPr lang="en-US" altLang="zh-CN" sz="1800" kern="1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，然后依次往右边扫描，直到扫描出右边界。降序扫描与升序扫描相反，先定位右边界，然后向左扫描，直到扫描出左边界。</a:t>
            </a:r>
            <a:endParaRPr lang="zh-CN" altLang="zh-CN" sz="1800" kern="100" dirty="0"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A30EF12-8721-32D6-A1ED-AFD59CDBF1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949" y="1862077"/>
            <a:ext cx="6849396" cy="15669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221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6">
            <a:extLst>
              <a:ext uri="{FF2B5EF4-FFF2-40B4-BE49-F238E27FC236}">
                <a16:creationId xmlns:a16="http://schemas.microsoft.com/office/drawing/2014/main" id="{C86215C3-DC4B-12FA-7CEA-A6629F5BC2A4}"/>
              </a:ext>
            </a:extLst>
          </p:cNvPr>
          <p:cNvSpPr txBox="1">
            <a:spLocks/>
          </p:cNvSpPr>
          <p:nvPr/>
        </p:nvSpPr>
        <p:spPr>
          <a:xfrm>
            <a:off x="823606" y="1134894"/>
            <a:ext cx="9144000" cy="52529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kern="100" dirty="0">
                <a:solidFill>
                  <a:schemeClr val="accent5">
                    <a:lumMod val="75000"/>
                  </a:schemeClr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Index Unique Scan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481AC3A-496B-4577-AFA5-9AFDC3BD6D3A}"/>
              </a:ext>
            </a:extLst>
          </p:cNvPr>
          <p:cNvSpPr txBox="1">
            <a:spLocks/>
          </p:cNvSpPr>
          <p:nvPr/>
        </p:nvSpPr>
        <p:spPr>
          <a:xfrm>
            <a:off x="823606" y="3971689"/>
            <a:ext cx="9144000" cy="112560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spcBef>
                <a:spcPts val="600"/>
              </a:spcBef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当扫描通过唯一索引查找，并且唯一索引的前导列参与查询，并且最多返回一条结果。例如表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test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有一个唯一索引建在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select * from test where a = 1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就会走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unique scan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unique scan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只需要一次定位就可以结束扫描。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A61F13C-0455-E4DE-25BC-151C3B061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347" y="1900871"/>
            <a:ext cx="5982089" cy="124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3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6">
            <a:extLst>
              <a:ext uri="{FF2B5EF4-FFF2-40B4-BE49-F238E27FC236}">
                <a16:creationId xmlns:a16="http://schemas.microsoft.com/office/drawing/2014/main" id="{BA9EC1A0-8BFF-25CC-F6E7-62E96DD5406D}"/>
              </a:ext>
            </a:extLst>
          </p:cNvPr>
          <p:cNvSpPr txBox="1">
            <a:spLocks/>
          </p:cNvSpPr>
          <p:nvPr/>
        </p:nvSpPr>
        <p:spPr>
          <a:xfrm>
            <a:off x="920885" y="785135"/>
            <a:ext cx="9144000" cy="4778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kern="10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Skip Scan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1EDE55-B1BD-A99A-15E1-AB239A681D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570" y="1433952"/>
            <a:ext cx="7190629" cy="165576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12A28C2-F7F0-6325-B90B-88F7E68974BA}"/>
              </a:ext>
            </a:extLst>
          </p:cNvPr>
          <p:cNvSpPr txBox="1"/>
          <p:nvPr/>
        </p:nvSpPr>
        <p:spPr>
          <a:xfrm>
            <a:off x="1050587" y="3255519"/>
            <a:ext cx="901429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当索引的前导列基数非常小（前导列的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distinct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值相比于行数非常小），查询的条件在前导列后面的列上，此时就可以走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skip scan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（注意需要开启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cbo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person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里有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gender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age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两列，并且有一个索引建在（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gender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age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），则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select * from person where age = 30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就会走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skip scan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skip scan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会先找到第一个（男，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30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），然后扫描直到扫描出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age = 30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这个条件，然后重新定位边界到第一个（女，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30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），然后扫描直到扫描出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age = 30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skip scan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相当于把扫描拆分成若干个可以走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 range scan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的扫描。</a:t>
            </a:r>
          </a:p>
          <a:p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974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E3D87544-0FFE-23C8-F2DB-54B7FB712CD3}"/>
              </a:ext>
            </a:extLst>
          </p:cNvPr>
          <p:cNvSpPr txBox="1">
            <a:spLocks/>
          </p:cNvSpPr>
          <p:nvPr/>
        </p:nvSpPr>
        <p:spPr>
          <a:xfrm>
            <a:off x="817121" y="1122363"/>
            <a:ext cx="9144000" cy="5572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kern="10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Create/rebuild index online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260461-8F86-3375-2D5F-9D7CE1ED1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57" y="2376608"/>
            <a:ext cx="5012690" cy="22993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769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CD9006C-CD59-A66C-417C-4FB887DEC745}"/>
              </a:ext>
            </a:extLst>
          </p:cNvPr>
          <p:cNvSpPr txBox="1"/>
          <p:nvPr/>
        </p:nvSpPr>
        <p:spPr>
          <a:xfrm>
            <a:off x="1147863" y="797668"/>
            <a:ext cx="971468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create/rebuild index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过程中，加了表的排他锁，索引并发的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DML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操作不能执行。但是如果执行的是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create/rebuild index online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语句，则在索引创建的过程中允许并发的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DML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create/rebuild index online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整个执行流程中，只在一开始和快结束的很短的时间里加了表的排他锁，在创建索引的大部分时间里都是加的表的共享锁，在共享锁期间，可以执行并发的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DML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zh-CN" altLang="zh-CN" sz="1800" kern="100" dirty="0">
              <a:effectLst/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create/rebuild index online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一开始，会给索引创建一个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journal table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，然后将表的排他锁降级为共享锁，然后重建索引。在重建索引期间，并发的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DML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操作会将操作内容记录在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journal table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在重建索引完成后，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会扫描这个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journal table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，并将数据合并到新建的索引中。如果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journal table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row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在扫描的时候被加锁了，则跳过。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会反复扫描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journal table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直到被跳过的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journal table rows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小于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1000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，然后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会加表的排他锁，最后一次扫描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journal table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，并且将数据合并到新建的索引。在操作的最后，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journal table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会被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drop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掉。</a:t>
            </a:r>
          </a:p>
          <a:p>
            <a:endParaRPr lang="zh-CN" altLang="en-US" dirty="0"/>
          </a:p>
        </p:txBody>
      </p:sp>
      <p:sp>
        <p:nvSpPr>
          <p:cNvPr id="4" name="Freeform 40">
            <a:extLst>
              <a:ext uri="{FF2B5EF4-FFF2-40B4-BE49-F238E27FC236}">
                <a16:creationId xmlns:a16="http://schemas.microsoft.com/office/drawing/2014/main" id="{69E934A0-D715-9A7D-9FA1-3BF95C7E0A97}"/>
              </a:ext>
            </a:extLst>
          </p:cNvPr>
          <p:cNvSpPr>
            <a:spLocks noEditPoints="1"/>
          </p:cNvSpPr>
          <p:nvPr/>
        </p:nvSpPr>
        <p:spPr bwMode="auto">
          <a:xfrm>
            <a:off x="387112" y="1199844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832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4330DBD4-CA90-64AF-24D7-A09968B29BC1}"/>
              </a:ext>
            </a:extLst>
          </p:cNvPr>
          <p:cNvSpPr txBox="1">
            <a:spLocks/>
          </p:cNvSpPr>
          <p:nvPr/>
        </p:nvSpPr>
        <p:spPr>
          <a:xfrm>
            <a:off x="804149" y="1108495"/>
            <a:ext cx="9144000" cy="5183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kern="100">
                <a:solidFill>
                  <a:schemeClr val="accent5">
                    <a:lumMod val="75000"/>
                  </a:schemeClr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Btree</a:t>
            </a:r>
            <a:r>
              <a:rPr lang="zh-CN" altLang="zh-CN" sz="2800" kern="100">
                <a:solidFill>
                  <a:schemeClr val="accent5">
                    <a:lumMod val="75000"/>
                  </a:schemeClr>
                </a:solidFill>
                <a:ea typeface="等线" panose="02010600030101010101" pitchFamily="2" charset="-122"/>
                <a:cs typeface="Times New Roman" panose="02020603050405020304" pitchFamily="18" charset="0"/>
              </a:rPr>
              <a:t>索引热页缓存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206724-E1D5-6B87-02EF-B0139F36FE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812" y="2264677"/>
            <a:ext cx="7149094" cy="2041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3154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47CCD857-691C-1929-935F-EA068D614E2C}"/>
              </a:ext>
            </a:extLst>
          </p:cNvPr>
          <p:cNvSpPr txBox="1"/>
          <p:nvPr/>
        </p:nvSpPr>
        <p:spPr>
          <a:xfrm>
            <a:off x="1180289" y="1219200"/>
            <a:ext cx="90921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当一个索引扫描进来后，首先需要进入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，根据扫描范围确定下一层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是哪个，直到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，进而定界或者直接找到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target 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。在大并发下，每一个扫描都要先进入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，这就造成了大量的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并发访问，导致查询拥塞。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zh-CN" altLang="zh-CN" sz="1800" kern="100" dirty="0">
              <a:effectLst/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索引热页缓存机制，给索引的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以及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的下一层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branch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进行缓存。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缓存原则是：当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level &gt;= 2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生成缓存；当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的下一层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branch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level &gt;= 2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并且这一层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branch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的个数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&lt;= 3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branch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生成缓存。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当扫描进来后，首先进入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缓存，如果缓存可用，则使用缓存扫描。当被缓存的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发生改变时，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更新缓存。</a:t>
            </a:r>
          </a:p>
          <a:p>
            <a:endParaRPr lang="zh-CN" altLang="en-US" dirty="0"/>
          </a:p>
        </p:txBody>
      </p:sp>
      <p:sp>
        <p:nvSpPr>
          <p:cNvPr id="4" name="Freeform 40">
            <a:extLst>
              <a:ext uri="{FF2B5EF4-FFF2-40B4-BE49-F238E27FC236}">
                <a16:creationId xmlns:a16="http://schemas.microsoft.com/office/drawing/2014/main" id="{9434AEEB-30BC-0B1D-1C42-654271AB2D0A}"/>
              </a:ext>
            </a:extLst>
          </p:cNvPr>
          <p:cNvSpPr>
            <a:spLocks noEditPoints="1"/>
          </p:cNvSpPr>
          <p:nvPr/>
        </p:nvSpPr>
        <p:spPr bwMode="auto">
          <a:xfrm>
            <a:off x="425886" y="1118017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470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798E10C-48FA-668F-3E47-4497ED80A47D}"/>
              </a:ext>
            </a:extLst>
          </p:cNvPr>
          <p:cNvSpPr txBox="1">
            <a:spLocks/>
          </p:cNvSpPr>
          <p:nvPr/>
        </p:nvSpPr>
        <p:spPr>
          <a:xfrm>
            <a:off x="797670" y="1122363"/>
            <a:ext cx="9144000" cy="4778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kern="1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Btree</a:t>
            </a:r>
            <a:r>
              <a:rPr lang="zh-CN" altLang="zh-CN" sz="2800" kern="100" dirty="0">
                <a:solidFill>
                  <a:schemeClr val="accent5">
                    <a:lumMod val="75000"/>
                  </a:schemeClr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索引结构性变更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06B77F7-667F-85D8-7773-93E15363503E}"/>
              </a:ext>
            </a:extLst>
          </p:cNvPr>
          <p:cNvSpPr txBox="1">
            <a:spLocks/>
          </p:cNvSpPr>
          <p:nvPr/>
        </p:nvSpPr>
        <p:spPr>
          <a:xfrm>
            <a:off x="869006" y="1712568"/>
            <a:ext cx="9144000" cy="5492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altLang="zh-CN" kern="10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kern="10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分裂</a:t>
            </a:r>
            <a:endParaRPr lang="en-US" altLang="zh-CN" kern="1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en-US" altLang="zh-CN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E5B3BC-5BEF-15D2-D6FC-CEEB8C602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846" y="2374170"/>
            <a:ext cx="4778375" cy="181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738D0F7-70C7-5320-EAFA-39E470E8501E}"/>
              </a:ext>
            </a:extLst>
          </p:cNvPr>
          <p:cNvSpPr txBox="1"/>
          <p:nvPr/>
        </p:nvSpPr>
        <p:spPr>
          <a:xfrm>
            <a:off x="1524000" y="4518498"/>
            <a:ext cx="9072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需要被插入一个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，并且这个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已经没有空间来插入这个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会分裂这个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7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6B420B-ED9A-A897-0EF6-BC182A302EC9}"/>
              </a:ext>
            </a:extLst>
          </p:cNvPr>
          <p:cNvSpPr txBox="1"/>
          <p:nvPr/>
        </p:nvSpPr>
        <p:spPr>
          <a:xfrm>
            <a:off x="1180289" y="1517516"/>
            <a:ext cx="90921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分裂会申请一个空页，然后将这个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的一部分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搬迁到新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，然后更新双向链表指针，保持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之间的双向链表正确，同时生成一个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key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，插入到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，这个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key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有一个指向新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的指针。</a:t>
            </a:r>
            <a:endParaRPr lang="en-US" altLang="zh-C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zh-CN" altLang="zh-CN" kern="100" dirty="0">
              <a:effectLst/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插入不下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key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也会分裂，分裂过程与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类似。分裂会在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可以插入得下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key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分裂后结束。</a:t>
            </a:r>
            <a:endParaRPr lang="en-US" altLang="zh-CN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zh-CN" altLang="zh-CN" kern="100" dirty="0">
              <a:effectLst/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的分裂会申请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个空页，将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拆分成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部分，搬入这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个空页，然后生成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key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初始化后，插入这个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key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分裂后，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left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指针指向了新申请的左边的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，插入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parent key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有一个指向新申请的右边的</a:t>
            </a:r>
            <a:r>
              <a:rPr lang="en-US" altLang="zh-CN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的指针。</a:t>
            </a:r>
          </a:p>
          <a:p>
            <a:endParaRPr lang="zh-CN" altLang="en-US" dirty="0"/>
          </a:p>
        </p:txBody>
      </p:sp>
      <p:sp>
        <p:nvSpPr>
          <p:cNvPr id="4" name="Freeform 40">
            <a:extLst>
              <a:ext uri="{FF2B5EF4-FFF2-40B4-BE49-F238E27FC236}">
                <a16:creationId xmlns:a16="http://schemas.microsoft.com/office/drawing/2014/main" id="{ED0A1C8E-37F6-F89C-5959-6DB8B939E8ED}"/>
              </a:ext>
            </a:extLst>
          </p:cNvPr>
          <p:cNvSpPr>
            <a:spLocks noEditPoints="1"/>
          </p:cNvSpPr>
          <p:nvPr/>
        </p:nvSpPr>
        <p:spPr bwMode="auto">
          <a:xfrm>
            <a:off x="413053" y="1003516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824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A045D7F3-E1BC-51BF-F8E5-524E347F2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825" y="894944"/>
            <a:ext cx="4979670" cy="15455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388D225-DAE3-1679-58D8-429143F91AD7}"/>
              </a:ext>
            </a:extLst>
          </p:cNvPr>
          <p:cNvSpPr txBox="1"/>
          <p:nvPr/>
        </p:nvSpPr>
        <p:spPr>
          <a:xfrm>
            <a:off x="1588851" y="2639438"/>
            <a:ext cx="981196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提供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种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页面回收机制：稀疏页合并和空页回收。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可以稀疏页合并和空页回收，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branch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只能空页回收。</a:t>
            </a:r>
            <a:endParaRPr lang="en-US" altLang="zh-CN" sz="1800" kern="100" dirty="0"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zh-CN" altLang="zh-CN" sz="1800" kern="100" dirty="0"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稀疏页合并是发现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个相邻的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可以在一个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容纳时，将这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右边的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keys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搬迁到左边这个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，然后回收右边的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。空页回收是当一个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已经是空页的时候，回收这个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zh-CN" altLang="zh-CN" sz="1800" kern="100" dirty="0"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当一个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被回收后，需要删除指向这个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parent key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，当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parent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删除这个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parent key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后，这个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parent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也变成空页了，那么这个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parent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也需要被回收。一次回收会在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parent key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删除后，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parent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不为空时结束。当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只剩下一个时，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不会回收这个</a:t>
            </a:r>
            <a:r>
              <a:rPr lang="en-US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61FDD64-696E-DFFA-0569-35E42E54340A}"/>
              </a:ext>
            </a:extLst>
          </p:cNvPr>
          <p:cNvSpPr txBox="1">
            <a:spLocks/>
          </p:cNvSpPr>
          <p:nvPr/>
        </p:nvSpPr>
        <p:spPr>
          <a:xfrm>
            <a:off x="797669" y="822577"/>
            <a:ext cx="9144000" cy="40959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+mj-lt"/>
                <a:ea typeface="微软雅黑" panose="020B0503020204020204" pitchFamily="34" charset="-122"/>
              </a:rPr>
              <a:t>Btree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+mj-lt"/>
                <a:ea typeface="微软雅黑" panose="020B0503020204020204" pitchFamily="34" charset="-122"/>
              </a:rPr>
              <a:t>页面回收</a:t>
            </a:r>
          </a:p>
        </p:txBody>
      </p:sp>
      <p:sp>
        <p:nvSpPr>
          <p:cNvPr id="9" name="Freeform 40">
            <a:extLst>
              <a:ext uri="{FF2B5EF4-FFF2-40B4-BE49-F238E27FC236}">
                <a16:creationId xmlns:a16="http://schemas.microsoft.com/office/drawing/2014/main" id="{5579BBDC-648F-0855-4994-E8ED0D5E0EE6}"/>
              </a:ext>
            </a:extLst>
          </p:cNvPr>
          <p:cNvSpPr>
            <a:spLocks noEditPoints="1"/>
          </p:cNvSpPr>
          <p:nvPr/>
        </p:nvSpPr>
        <p:spPr bwMode="auto">
          <a:xfrm>
            <a:off x="765755" y="2282857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681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40">
            <a:extLst>
              <a:ext uri="{FF2B5EF4-FFF2-40B4-BE49-F238E27FC236}">
                <a16:creationId xmlns:a16="http://schemas.microsoft.com/office/drawing/2014/main" id="{5579BBDC-648F-0855-4994-E8ED0D5E0EE6}"/>
              </a:ext>
            </a:extLst>
          </p:cNvPr>
          <p:cNvSpPr>
            <a:spLocks noEditPoints="1"/>
          </p:cNvSpPr>
          <p:nvPr/>
        </p:nvSpPr>
        <p:spPr bwMode="auto">
          <a:xfrm>
            <a:off x="573507" y="1764380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AE09B-02C3-5BB6-BB37-8780FDF42AF4}"/>
              </a:ext>
            </a:extLst>
          </p:cNvPr>
          <p:cNvSpPr txBox="1">
            <a:spLocks/>
          </p:cNvSpPr>
          <p:nvPr/>
        </p:nvSpPr>
        <p:spPr>
          <a:xfrm>
            <a:off x="791185" y="962600"/>
            <a:ext cx="9144000" cy="5095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spcBef>
                <a:spcPts val="600"/>
              </a:spcBef>
            </a:pPr>
            <a:r>
              <a:rPr lang="en-US" altLang="zh-CN" kern="100" dirty="0">
                <a:solidFill>
                  <a:schemeClr val="accent5">
                    <a:lumMod val="75000"/>
                  </a:schemeClr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Btree</a:t>
            </a:r>
            <a:r>
              <a:rPr lang="zh-CN" altLang="zh-CN" kern="100" dirty="0">
                <a:solidFill>
                  <a:schemeClr val="accent5">
                    <a:lumMod val="75000"/>
                  </a:schemeClr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索引空闲空间管理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E6CB29-1085-310F-0BBD-8B0D0778F9AB}"/>
              </a:ext>
            </a:extLst>
          </p:cNvPr>
          <p:cNvSpPr txBox="1"/>
          <p:nvPr/>
        </p:nvSpPr>
        <p:spPr>
          <a:xfrm>
            <a:off x="1297020" y="1562908"/>
            <a:ext cx="98897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当一个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可以通过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找到，我们称这个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中的，当一个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root block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访问不到，我们称这个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是不在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中的。</a:t>
            </a: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zh-CN" altLang="zh-CN" sz="1800" kern="100" dirty="0"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在索引的一个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被删空后，会标记这个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为空，此时这个空的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依旧是在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中的。当下一次需要分配一个空闲页的时候，标空的页面有可能会被分出去。</a:t>
            </a: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拿到标空的页面的线程，首先会判断这个标空的页是否还在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中，如果还在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，这个线程会先做一次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页面回收，然后重新去找空页面。</a:t>
            </a: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zh-CN" altLang="zh-CN" sz="1800" kern="100" dirty="0"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通过这种机制，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 Btree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索引可以做到在业务运行的同时，不断回收不需要的索引页，减少空间占用，提高性能，同时也解决了索引倾斜问题。</a:t>
            </a:r>
          </a:p>
        </p:txBody>
      </p:sp>
    </p:spTree>
    <p:extLst>
      <p:ext uri="{BB962C8B-B14F-4D97-AF65-F5344CB8AC3E}">
        <p14:creationId xmlns:p14="http://schemas.microsoft.com/office/powerpoint/2010/main" val="776505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40">
            <a:extLst>
              <a:ext uri="{FF2B5EF4-FFF2-40B4-BE49-F238E27FC236}">
                <a16:creationId xmlns:a16="http://schemas.microsoft.com/office/drawing/2014/main" id="{5579BBDC-648F-0855-4994-E8ED0D5E0EE6}"/>
              </a:ext>
            </a:extLst>
          </p:cNvPr>
          <p:cNvSpPr>
            <a:spLocks noEditPoints="1"/>
          </p:cNvSpPr>
          <p:nvPr/>
        </p:nvSpPr>
        <p:spPr bwMode="auto">
          <a:xfrm>
            <a:off x="634337" y="3429000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14F7A29-0FAA-812F-D1FD-B24507139D76}"/>
              </a:ext>
            </a:extLst>
          </p:cNvPr>
          <p:cNvSpPr txBox="1">
            <a:spLocks/>
          </p:cNvSpPr>
          <p:nvPr/>
        </p:nvSpPr>
        <p:spPr>
          <a:xfrm>
            <a:off x="797667" y="999148"/>
            <a:ext cx="9144000" cy="5702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kern="10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 Reverse</a:t>
            </a:r>
            <a:r>
              <a:rPr lang="zh-CN" altLang="zh-CN" sz="2800" kern="10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FF811B-DC7F-921E-9D2A-AAD532BD0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198" y="1476679"/>
            <a:ext cx="3314700" cy="15849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8011970-E74C-5E1F-7234-B272D850289B}"/>
              </a:ext>
            </a:extLst>
          </p:cNvPr>
          <p:cNvSpPr txBox="1"/>
          <p:nvPr/>
        </p:nvSpPr>
        <p:spPr>
          <a:xfrm>
            <a:off x="1458220" y="3299300"/>
            <a:ext cx="88845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 Reverse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索引会把每个索引列的值，按照字节序逆转之后存储，逆转之后的值，分布的会更加离散。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例如当使用自增列作为索引列时，业务总是插入更大的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值到索引中，删除的都是比较小的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。如果使用正常的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索引，随着业务的进行，就会导致整个索引倾斜。但是如果索引是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 Reverse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索引，由于索引列值被按照字节序逆转，新插入的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就可以分散到整个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2470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A462E-6C20-99B1-6702-F04EA98A6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570250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kern="100" dirty="0">
                <a:solidFill>
                  <a:schemeClr val="accent5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 Reverse</a:t>
            </a:r>
            <a:r>
              <a:rPr lang="zh-CN" altLang="zh-CN" sz="2800" kern="100" dirty="0">
                <a:solidFill>
                  <a:schemeClr val="accent5">
                    <a:lumMod val="75000"/>
                  </a:schemeClr>
                </a:solidFill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C34B81-3434-1AA1-2361-1C6F38887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266" y="1969547"/>
            <a:ext cx="3314700" cy="15849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798796F-3015-C94A-3CB9-03AF24DB62BF}"/>
              </a:ext>
            </a:extLst>
          </p:cNvPr>
          <p:cNvSpPr txBox="1"/>
          <p:nvPr/>
        </p:nvSpPr>
        <p:spPr>
          <a:xfrm>
            <a:off x="1524000" y="3761362"/>
            <a:ext cx="88845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 Reverse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索引会把每个索引列的值，按照字节序逆转之后存储，逆转之后的值，分布的会更加离散。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例如当使用自增列作为索引列时，业务总是插入更大的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值到索引中，删除的都是比较小的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。如果使用正常的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索引，随着业务的进行，就会导致整个索引倾斜。但是如果索引是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 Reverse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索引，由于索引列值被按照字节序逆转，新插入的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就可以分散到整个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btree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leaf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8571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Verdana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4797</TotalTime>
  <Words>1957</Words>
  <Application>Microsoft Office PowerPoint</Application>
  <PresentationFormat>宽屏</PresentationFormat>
  <Paragraphs>129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等线</vt:lpstr>
      <vt:lpstr>等线 Light</vt:lpstr>
      <vt:lpstr>微软雅黑</vt:lpstr>
      <vt:lpstr>Arial</vt:lpstr>
      <vt:lpstr>Verdana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Btree Reverse索引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索引</dc:title>
  <dc:creator>张锐</dc:creator>
  <cp:lastModifiedBy>张锐</cp:lastModifiedBy>
  <cp:revision>50</cp:revision>
  <dcterms:created xsi:type="dcterms:W3CDTF">2022-08-15T01:25:21Z</dcterms:created>
  <dcterms:modified xsi:type="dcterms:W3CDTF">2022-08-18T09:22:38Z</dcterms:modified>
</cp:coreProperties>
</file>