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439" r:id="rId3"/>
    <p:sldId id="440" r:id="rId5"/>
    <p:sldId id="443" r:id="rId6"/>
    <p:sldId id="442" r:id="rId7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9BBDB"/>
    <a:srgbClr val="F0F0F0"/>
    <a:srgbClr val="767171"/>
    <a:srgbClr val="F08F4F"/>
    <a:srgbClr val="9DC3E6"/>
    <a:srgbClr val="F8CBAD"/>
    <a:srgbClr val="F79F37"/>
    <a:srgbClr val="2E689D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788" autoAdjust="0"/>
  </p:normalViewPr>
  <p:slideViewPr>
    <p:cSldViewPr snapToGrid="0">
      <p:cViewPr varScale="1">
        <p:scale>
          <a:sx n="125" d="100"/>
          <a:sy n="125" d="100"/>
        </p:scale>
        <p:origin x="52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log cache: 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缓存区是循环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buffer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，填满时会淘汰旧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redo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来释放空间</a:t>
            </a:r>
            <a:endParaRPr lang="zh-CN" altLang="en-US" dirty="0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  <a:p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sync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发送：如果发送速度慢，导致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Log Cache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淘汰了需要的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redo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，会临时变为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ASYNC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模式，待发送同步后恢复为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SYNC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模式</a:t>
            </a:r>
            <a:endParaRPr lang="zh-CN" altLang="en-US" dirty="0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  <a:p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stbyRcy</a:t>
            </a:r>
            <a:r>
              <a:rPr lang="zh-CN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：备机回放优先从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logCache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读日志，如果找不到，会从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redo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读取，再找不到，会从归档日志读取。都找不到的话，会启动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FAL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从主机获取归档</a:t>
            </a:r>
            <a:endParaRPr lang="zh-CN" altLang="en-US" dirty="0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switchover: </a:t>
            </a:r>
            <a:r>
              <a:rPr lang="zh-CN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一定要主机先变成备机，然后再将备机升主，否则，可能出现双主的情况（异常场景下，只允许无主机，不能出现双主机）</a:t>
            </a:r>
            <a:endParaRPr lang="zh-CN" altLang="zh-CN" dirty="0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  <a:p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failover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：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failover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后，原主机要手动转换为备机，一般情况下，如果原主机的某些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redo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没传到原备机，会导致新备机无法同步新主机，需要重新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build</a:t>
            </a:r>
            <a:endParaRPr lang="en-US" altLang="zh-CN" dirty="0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  <a:endParaRPr lang="zh-CN" altLang="en-US" sz="48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Verdana" panose="020B060403050404020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  <a:endParaRPr lang="en-US" altLang="zh-CN" sz="1600" dirty="0">
              <a:solidFill>
                <a:schemeClr val="tx1"/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-1861185" y="4011930"/>
            <a:ext cx="23361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正文内容：</a:t>
            </a:r>
            <a:r>
              <a:rPr lang="en-US" altLang="zh-CN" sz="1200"/>
              <a:t>12-18px</a:t>
            </a:r>
            <a:endParaRPr lang="en-US" altLang="zh-CN" sz="120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481484" y="6489700"/>
            <a:ext cx="2796117" cy="455613"/>
          </a:xfrm>
        </p:spPr>
        <p:txBody>
          <a:bodyPr/>
          <a:lstStyle/>
          <a:p>
            <a:pPr lvl="0" eaLnBrk="0" hangingPunct="0">
              <a:lnSpc>
                <a:spcPct val="85000"/>
              </a:lnSpc>
            </a:pPr>
            <a:r>
              <a:rPr lang="de-DE" altLang="zh-CN" dirty="0"/>
              <a:t>Page </a:t>
            </a:r>
            <a:fld id="{9A0DB2DC-4C9A-4742-B13C-FB6460FD3503}" type="slidenum">
              <a:rPr lang="de-DE" altLang="zh-CN" sz="1200" dirty="0">
                <a:solidFill>
                  <a:schemeClr val="tx1"/>
                </a:solidFill>
                <a:latin typeface="FrutigerNext LT Bold" pitchFamily="1" charset="0"/>
                <a:ea typeface="MS PGothic" panose="020B0600070205080204" pitchFamily="34" charset="-128"/>
              </a:rPr>
            </a:fld>
            <a:endParaRPr lang="de-DE" altLang="zh-CN" sz="1200" dirty="0">
              <a:solidFill>
                <a:schemeClr val="tx1"/>
              </a:solidFill>
              <a:latin typeface="FrutigerNext LT Bold" pitchFamily="1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  <a:cs typeface="Verdana" panose="020B060403050404020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37005" y="129921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1118235" y="129921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772920" y="129921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cs typeface="Verdana" panose="020B0604030504040204" charset="0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-1822450" y="171894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-1838325" y="199453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  <a:endParaRPr lang="zh-CN" altLang="en-US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-1822450" y="274764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38325" y="302323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724025" y="97790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  <a:endParaRPr lang="zh-CN" altLang="en-US" dirty="0"/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772920" y="400050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-1600835" y="4276090"/>
            <a:ext cx="918210" cy="2406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形状一</a:t>
            </a:r>
            <a:endParaRPr lang="zh-CN" altLang="en-US" sz="1200"/>
          </a:p>
        </p:txBody>
      </p:sp>
      <p:sp>
        <p:nvSpPr>
          <p:cNvPr id="24" name="矩形 23"/>
          <p:cNvSpPr/>
          <p:nvPr userDrawn="1"/>
        </p:nvSpPr>
        <p:spPr>
          <a:xfrm>
            <a:off x="-1611630" y="4586605"/>
            <a:ext cx="932815" cy="2114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形状二</a:t>
            </a:r>
            <a:endParaRPr lang="zh-CN" altLang="en-US" sz="1200"/>
          </a:p>
        </p:txBody>
      </p:sp>
      <p:sp>
        <p:nvSpPr>
          <p:cNvPr id="25" name="矩形 24"/>
          <p:cNvSpPr/>
          <p:nvPr userDrawn="1"/>
        </p:nvSpPr>
        <p:spPr>
          <a:xfrm>
            <a:off x="-1601470" y="4886325"/>
            <a:ext cx="912495" cy="230505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形状三</a:t>
            </a:r>
            <a:endParaRPr lang="zh-CN" altLang="en-US" sz="1200"/>
          </a:p>
        </p:txBody>
      </p:sp>
      <p:sp>
        <p:nvSpPr>
          <p:cNvPr id="26" name="矩形 25"/>
          <p:cNvSpPr/>
          <p:nvPr userDrawn="1"/>
        </p:nvSpPr>
        <p:spPr>
          <a:xfrm>
            <a:off x="-1611630" y="5187950"/>
            <a:ext cx="923290" cy="234315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形状四</a:t>
            </a:r>
            <a:endParaRPr lang="zh-CN" altLang="en-US" sz="1200"/>
          </a:p>
        </p:txBody>
      </p:sp>
      <p:sp>
        <p:nvSpPr>
          <p:cNvPr id="27" name="矩形 26"/>
          <p:cNvSpPr/>
          <p:nvPr userDrawn="1"/>
        </p:nvSpPr>
        <p:spPr>
          <a:xfrm>
            <a:off x="-1616075" y="5491480"/>
            <a:ext cx="926465" cy="233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形状五</a:t>
            </a:r>
            <a:endParaRPr lang="zh-CN" altLang="en-US" sz="1200"/>
          </a:p>
        </p:txBody>
      </p:sp>
      <p:sp>
        <p:nvSpPr>
          <p:cNvPr id="28" name="矩形 27"/>
          <p:cNvSpPr/>
          <p:nvPr userDrawn="1"/>
        </p:nvSpPr>
        <p:spPr>
          <a:xfrm>
            <a:off x="-1616075" y="5827395"/>
            <a:ext cx="927735" cy="259715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形状六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-1615440" y="6177280"/>
            <a:ext cx="935990" cy="257175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rgbClr val="F0F0F0"/>
                </a:solidFill>
              </a:rPr>
              <a:t>形状七</a:t>
            </a:r>
            <a:endParaRPr lang="zh-CN" altLang="en-US" sz="1200">
              <a:solidFill>
                <a:srgbClr val="F0F0F0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u="none" strike="noStrike" kern="1200" cap="none" spc="0" normalizeH="0">
          <a:solidFill>
            <a:schemeClr val="tx1"/>
          </a:solidFill>
          <a:uFillTx/>
          <a:latin typeface="Verdana" panose="020B060403050404020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file:///C:\Users\mazh\AppData\Local\Temp\wps\INetCache\7161893c177e1c57bbb3006a816c2f84" TargetMode="Externa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242810" y="525145"/>
            <a:ext cx="4898390" cy="1378585"/>
            <a:chOff x="6247130" y="1179830"/>
            <a:chExt cx="4898390" cy="1378585"/>
          </a:xfrm>
        </p:grpSpPr>
        <p:sp>
          <p:nvSpPr>
            <p:cNvPr id="9" name="文本框 8"/>
            <p:cNvSpPr txBox="1"/>
            <p:nvPr/>
          </p:nvSpPr>
          <p:spPr>
            <a:xfrm>
              <a:off x="6247130" y="1179830"/>
              <a:ext cx="489839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22060" y="1497965"/>
              <a:ext cx="4476115" cy="106045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缓存区，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先写到缓存区，然后写入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文件。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SYNC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模式的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logSend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和备机回放会优先从缓存区读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，以提高读性能。缓存区满时会淘汰旧的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317740" y="2853690"/>
            <a:ext cx="4476115" cy="741680"/>
            <a:chOff x="6322060" y="4037330"/>
            <a:chExt cx="4476115" cy="741680"/>
          </a:xfrm>
        </p:grpSpPr>
        <p:sp>
          <p:nvSpPr>
            <p:cNvPr id="29" name="文本框 28"/>
            <p:cNvSpPr txBox="1"/>
            <p:nvPr/>
          </p:nvSpPr>
          <p:spPr>
            <a:xfrm>
              <a:off x="6322060" y="4364990"/>
              <a:ext cx="4476115" cy="4140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logRecv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线程接收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，写到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文件，然后回应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ack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322060" y="4037330"/>
              <a:ext cx="2830195" cy="5067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日志接收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317740" y="1782445"/>
            <a:ext cx="4476115" cy="1127760"/>
            <a:chOff x="6322060" y="2558415"/>
            <a:chExt cx="4055110" cy="1127760"/>
          </a:xfrm>
        </p:grpSpPr>
        <p:sp>
          <p:nvSpPr>
            <p:cNvPr id="26" name="文本框 25"/>
            <p:cNvSpPr txBox="1"/>
            <p:nvPr/>
          </p:nvSpPr>
          <p:spPr>
            <a:xfrm>
              <a:off x="6322060" y="2948940"/>
              <a:ext cx="4055110" cy="73723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logSend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线程会将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发送到备机。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ASYNC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模式下，是从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文件读；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SYNC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模式下，是从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Log Cache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读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322060" y="2558415"/>
              <a:ext cx="2830195" cy="5067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日志发送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7378065" y="481330"/>
            <a:ext cx="283019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Log Cache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0210" y="377191"/>
            <a:ext cx="27711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主备复制原理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25425" y="6367460"/>
            <a:ext cx="1348740" cy="40132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主备复制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7315835" y="4538980"/>
            <a:ext cx="4476115" cy="1711325"/>
            <a:chOff x="6322060" y="4037330"/>
            <a:chExt cx="4476115" cy="1711325"/>
          </a:xfrm>
        </p:grpSpPr>
        <p:sp>
          <p:nvSpPr>
            <p:cNvPr id="102" name="文本框 101"/>
            <p:cNvSpPr txBox="1"/>
            <p:nvPr/>
          </p:nvSpPr>
          <p:spPr>
            <a:xfrm>
              <a:off x="6322060" y="4364990"/>
              <a:ext cx="4476115" cy="1383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备机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stbyRcy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线程将接收到的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回放，来恢复数据页面。如果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stbyRcy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发现需要的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和归档都不存在，就会启动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FAL(fetch archive log)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线程，从主机获取对应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的归档文件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6322060" y="4037330"/>
              <a:ext cx="3377565" cy="5067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日志回放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315835" y="3500755"/>
            <a:ext cx="4476115" cy="1064895"/>
            <a:chOff x="6322060" y="4037330"/>
            <a:chExt cx="4476115" cy="1064895"/>
          </a:xfrm>
        </p:grpSpPr>
        <p:sp>
          <p:nvSpPr>
            <p:cNvPr id="35" name="文本框 34"/>
            <p:cNvSpPr txBox="1"/>
            <p:nvPr/>
          </p:nvSpPr>
          <p:spPr>
            <a:xfrm>
              <a:off x="6322060" y="4364990"/>
              <a:ext cx="4476115" cy="73723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因为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文件是循环复用的，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archProc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线程会将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文件备份为归档文件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6322060" y="4037330"/>
              <a:ext cx="2830195" cy="5067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归档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rcRect r="1628"/>
          <a:stretch>
            <a:fillRect/>
          </a:stretch>
        </p:blipFill>
        <p:spPr>
          <a:xfrm>
            <a:off x="44450" y="1112520"/>
            <a:ext cx="7271385" cy="4778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700520" y="4450715"/>
            <a:ext cx="4169410" cy="961179"/>
            <a:chOff x="6700548" y="4450481"/>
            <a:chExt cx="3781331" cy="806869"/>
          </a:xfrm>
        </p:grpSpPr>
        <p:sp>
          <p:nvSpPr>
            <p:cNvPr id="7" name="文本框 6"/>
            <p:cNvSpPr txBox="1"/>
            <p:nvPr/>
          </p:nvSpPr>
          <p:spPr>
            <a:xfrm>
              <a:off x="7759100" y="4450481"/>
              <a:ext cx="1665496" cy="3091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最大保护模式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700548" y="4819178"/>
              <a:ext cx="3781331" cy="4381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     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最大保护模式下，主机产生的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不仅要在主机落盘，还要等待在备机落盘，事务才可以提交</a:t>
              </a:r>
              <a:endParaRPr lang="zh-CN" altLang="en-US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09575" y="1743710"/>
            <a:ext cx="4565015" cy="1073705"/>
            <a:chOff x="1913883" y="1565251"/>
            <a:chExt cx="3781331" cy="658156"/>
          </a:xfrm>
        </p:grpSpPr>
        <p:sp>
          <p:nvSpPr>
            <p:cNvPr id="13" name="文本框 12"/>
            <p:cNvSpPr txBox="1"/>
            <p:nvPr/>
          </p:nvSpPr>
          <p:spPr>
            <a:xfrm>
              <a:off x="2971801" y="1565251"/>
              <a:ext cx="1665496" cy="225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最大性能模式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913883" y="1903452"/>
              <a:ext cx="3781331" cy="3199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     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执行事务需要修改页面，并产生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日志。最大性能模式只需要主机将</a:t>
              </a:r>
              <a:r>
                <a:rPr lang="en-US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日志落盘，就可以提交事务了</a:t>
              </a:r>
              <a:endParaRPr lang="zh-CN" altLang="en-US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10210" y="377191"/>
            <a:ext cx="19075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保护模式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225425" y="6367460"/>
            <a:ext cx="1250950" cy="40132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主备HA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410210" y="3180715"/>
            <a:ext cx="1089025" cy="287655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/>
              <a:t>Session</a:t>
            </a:r>
            <a:endParaRPr lang="en-US" altLang="en-US" sz="1400"/>
          </a:p>
        </p:txBody>
      </p:sp>
      <p:cxnSp>
        <p:nvCxnSpPr>
          <p:cNvPr id="25" name="直接连接符 24"/>
          <p:cNvCxnSpPr/>
          <p:nvPr/>
        </p:nvCxnSpPr>
        <p:spPr>
          <a:xfrm>
            <a:off x="955040" y="3468370"/>
            <a:ext cx="0" cy="2428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301115" y="3896360"/>
            <a:ext cx="1451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1200"/>
              <a:t>修改页面</a:t>
            </a:r>
            <a:endParaRPr lang="zh-CN" altLang="zh-CN" sz="1200"/>
          </a:p>
        </p:txBody>
      </p:sp>
      <p:sp>
        <p:nvSpPr>
          <p:cNvPr id="27" name="右弧形箭头 26"/>
          <p:cNvSpPr/>
          <p:nvPr/>
        </p:nvSpPr>
        <p:spPr>
          <a:xfrm>
            <a:off x="984250" y="3952875"/>
            <a:ext cx="295275" cy="280670"/>
          </a:xfrm>
          <a:prstGeom prst="curvedLeftArrow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301115" y="4381500"/>
            <a:ext cx="1570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1200"/>
              <a:t>生成</a:t>
            </a:r>
            <a:r>
              <a:rPr lang="en-US" altLang="zh-CN" sz="1200"/>
              <a:t>REDO</a:t>
            </a:r>
            <a:r>
              <a:rPr lang="zh-CN" altLang="en-US" sz="1200"/>
              <a:t>日志</a:t>
            </a:r>
            <a:endParaRPr lang="zh-CN" altLang="en-US" sz="1200"/>
          </a:p>
        </p:txBody>
      </p:sp>
      <p:sp>
        <p:nvSpPr>
          <p:cNvPr id="29" name="文本框 28"/>
          <p:cNvSpPr txBox="1"/>
          <p:nvPr/>
        </p:nvSpPr>
        <p:spPr>
          <a:xfrm>
            <a:off x="1301115" y="4866640"/>
            <a:ext cx="1570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REDO</a:t>
            </a:r>
            <a:r>
              <a:rPr lang="zh-CN" altLang="en-US" sz="1200"/>
              <a:t>日志落盘</a:t>
            </a:r>
            <a:endParaRPr lang="zh-CN" altLang="en-US" sz="1200"/>
          </a:p>
        </p:txBody>
      </p:sp>
      <p:sp>
        <p:nvSpPr>
          <p:cNvPr id="30" name="右弧形箭头 29"/>
          <p:cNvSpPr/>
          <p:nvPr/>
        </p:nvSpPr>
        <p:spPr>
          <a:xfrm>
            <a:off x="980440" y="443166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1" name="右弧形箭头 30"/>
          <p:cNvSpPr/>
          <p:nvPr/>
        </p:nvSpPr>
        <p:spPr>
          <a:xfrm>
            <a:off x="980440" y="491045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 flipH="1">
            <a:off x="121920" y="5419725"/>
            <a:ext cx="814070" cy="0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圆角矩形 32"/>
          <p:cNvSpPr/>
          <p:nvPr/>
        </p:nvSpPr>
        <p:spPr>
          <a:xfrm>
            <a:off x="2126615" y="3180715"/>
            <a:ext cx="1291590" cy="287655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400">
                <a:sym typeface="+mn-ea"/>
              </a:rPr>
              <a:t>Log Sender</a:t>
            </a:r>
            <a:endParaRPr lang="en-US" altLang="en-US" sz="1400">
              <a:sym typeface="+mn-ea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2774315" y="3468370"/>
            <a:ext cx="0" cy="2428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054985" y="3879850"/>
            <a:ext cx="1402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sz="1200"/>
              <a:t>检测是否有</a:t>
            </a:r>
            <a:r>
              <a:rPr lang="en-US" altLang="zh-CN" sz="1200"/>
              <a:t>redo</a:t>
            </a:r>
            <a:r>
              <a:rPr lang="zh-CN" altLang="en-US" sz="1200"/>
              <a:t>需要发送</a:t>
            </a:r>
            <a:endParaRPr lang="zh-CN" altLang="en-US" sz="1200"/>
          </a:p>
        </p:txBody>
      </p:sp>
      <p:sp>
        <p:nvSpPr>
          <p:cNvPr id="38" name="右弧形箭头 37"/>
          <p:cNvSpPr/>
          <p:nvPr/>
        </p:nvSpPr>
        <p:spPr>
          <a:xfrm>
            <a:off x="2806065" y="395287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122930" y="4381500"/>
            <a:ext cx="1570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读取</a:t>
            </a:r>
            <a:r>
              <a:rPr lang="en-US" altLang="zh-CN" sz="1200"/>
              <a:t>redo</a:t>
            </a:r>
            <a:r>
              <a:rPr lang="zh-CN" altLang="en-US" sz="1200"/>
              <a:t>日志</a:t>
            </a:r>
            <a:endParaRPr lang="zh-CN" altLang="en-US" sz="1200"/>
          </a:p>
        </p:txBody>
      </p:sp>
      <p:sp>
        <p:nvSpPr>
          <p:cNvPr id="40" name="文本框 39"/>
          <p:cNvSpPr txBox="1"/>
          <p:nvPr/>
        </p:nvSpPr>
        <p:spPr>
          <a:xfrm>
            <a:off x="2896870" y="5024755"/>
            <a:ext cx="17164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向备机发送</a:t>
            </a:r>
            <a:r>
              <a:rPr lang="en-US" altLang="zh-CN" sz="1200"/>
              <a:t>redo</a:t>
            </a:r>
            <a:r>
              <a:rPr lang="zh-CN" altLang="en-US" sz="1200"/>
              <a:t>日志</a:t>
            </a:r>
            <a:endParaRPr lang="zh-CN" altLang="en-US" sz="1200"/>
          </a:p>
        </p:txBody>
      </p:sp>
      <p:sp>
        <p:nvSpPr>
          <p:cNvPr id="41" name="右弧形箭头 40"/>
          <p:cNvSpPr/>
          <p:nvPr/>
        </p:nvSpPr>
        <p:spPr>
          <a:xfrm>
            <a:off x="2802255" y="443166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4045585" y="3171825"/>
            <a:ext cx="1424940" cy="287655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400">
                <a:sym typeface="+mn-ea"/>
              </a:rPr>
              <a:t>Log Receiver</a:t>
            </a:r>
            <a:endParaRPr lang="en-US" altLang="en-US" sz="1400">
              <a:sym typeface="+mn-ea"/>
            </a:endParaRPr>
          </a:p>
        </p:txBody>
      </p:sp>
      <p:cxnSp>
        <p:nvCxnSpPr>
          <p:cNvPr id="45" name="直接连接符 44"/>
          <p:cNvCxnSpPr>
            <a:stCxn id="44" idx="2"/>
          </p:cNvCxnSpPr>
          <p:nvPr/>
        </p:nvCxnSpPr>
        <p:spPr>
          <a:xfrm>
            <a:off x="4758055" y="3459480"/>
            <a:ext cx="0" cy="2428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2772410" y="5300345"/>
            <a:ext cx="197294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5057775" y="5409565"/>
            <a:ext cx="12433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REDO</a:t>
            </a:r>
            <a:r>
              <a:rPr lang="zh-CN" altLang="en-US" sz="1200"/>
              <a:t>日志落盘</a:t>
            </a:r>
            <a:endParaRPr lang="zh-CN" altLang="en-US" sz="1200"/>
          </a:p>
        </p:txBody>
      </p:sp>
      <p:sp>
        <p:nvSpPr>
          <p:cNvPr id="52" name="右弧形箭头 51"/>
          <p:cNvSpPr/>
          <p:nvPr/>
        </p:nvSpPr>
        <p:spPr>
          <a:xfrm>
            <a:off x="4789170" y="540956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 flipH="1">
            <a:off x="2772410" y="5774055"/>
            <a:ext cx="1980565" cy="0"/>
          </a:xfrm>
          <a:prstGeom prst="straightConnector1">
            <a:avLst/>
          </a:prstGeom>
          <a:ln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2969895" y="5498465"/>
            <a:ext cx="1570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向主机发送回复</a:t>
            </a:r>
            <a:r>
              <a:rPr lang="en-US" altLang="zh-CN" sz="1200"/>
              <a:t>ack</a:t>
            </a:r>
            <a:endParaRPr lang="en-US" altLang="zh-CN" sz="1200"/>
          </a:p>
        </p:txBody>
      </p:sp>
      <p:sp>
        <p:nvSpPr>
          <p:cNvPr id="55" name="文本框 54"/>
          <p:cNvSpPr txBox="1"/>
          <p:nvPr/>
        </p:nvSpPr>
        <p:spPr>
          <a:xfrm>
            <a:off x="121920" y="3459480"/>
            <a:ext cx="807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执行事务</a:t>
            </a:r>
            <a:endParaRPr lang="zh-CN" altLang="en-US" sz="1200"/>
          </a:p>
        </p:txBody>
      </p:sp>
      <p:sp>
        <p:nvSpPr>
          <p:cNvPr id="56" name="文本框 55"/>
          <p:cNvSpPr txBox="1"/>
          <p:nvPr/>
        </p:nvSpPr>
        <p:spPr>
          <a:xfrm>
            <a:off x="132080" y="5142230"/>
            <a:ext cx="8102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提交事务</a:t>
            </a:r>
            <a:endParaRPr lang="zh-CN" altLang="en-US" sz="1200"/>
          </a:p>
        </p:txBody>
      </p:sp>
      <p:sp>
        <p:nvSpPr>
          <p:cNvPr id="36" name="圆角矩形 35"/>
          <p:cNvSpPr/>
          <p:nvPr/>
        </p:nvSpPr>
        <p:spPr>
          <a:xfrm>
            <a:off x="6229350" y="911860"/>
            <a:ext cx="1089025" cy="287655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400">
                <a:sym typeface="+mn-ea"/>
              </a:rPr>
              <a:t>Session</a:t>
            </a:r>
            <a:endParaRPr lang="en-US" altLang="en-US" sz="1400">
              <a:sym typeface="+mn-ea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6774180" y="1199515"/>
            <a:ext cx="0" cy="30981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5891530" y="1466215"/>
            <a:ext cx="870585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7120255" y="1627505"/>
            <a:ext cx="1451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1200"/>
              <a:t>修改页面</a:t>
            </a:r>
            <a:endParaRPr lang="zh-CN" altLang="zh-CN" sz="1200"/>
          </a:p>
        </p:txBody>
      </p:sp>
      <p:sp>
        <p:nvSpPr>
          <p:cNvPr id="47" name="右弧形箭头 46"/>
          <p:cNvSpPr/>
          <p:nvPr/>
        </p:nvSpPr>
        <p:spPr>
          <a:xfrm>
            <a:off x="6803390" y="1684020"/>
            <a:ext cx="295275" cy="280670"/>
          </a:xfrm>
          <a:prstGeom prst="curvedLeftArrow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120255" y="2112645"/>
            <a:ext cx="1570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1200"/>
              <a:t>生成</a:t>
            </a:r>
            <a:r>
              <a:rPr lang="en-US" altLang="zh-CN" sz="1200"/>
              <a:t>REDO</a:t>
            </a:r>
            <a:r>
              <a:rPr lang="zh-CN" altLang="en-US" sz="1200"/>
              <a:t>日志</a:t>
            </a:r>
            <a:endParaRPr lang="zh-CN" altLang="en-US" sz="1200"/>
          </a:p>
        </p:txBody>
      </p:sp>
      <p:sp>
        <p:nvSpPr>
          <p:cNvPr id="49" name="文本框 48"/>
          <p:cNvSpPr txBox="1"/>
          <p:nvPr/>
        </p:nvSpPr>
        <p:spPr>
          <a:xfrm>
            <a:off x="7120255" y="2597785"/>
            <a:ext cx="1570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REDO</a:t>
            </a:r>
            <a:r>
              <a:rPr lang="zh-CN" altLang="en-US" sz="1200"/>
              <a:t>日志落盘</a:t>
            </a:r>
            <a:endParaRPr lang="zh-CN" altLang="en-US" sz="1200"/>
          </a:p>
        </p:txBody>
      </p:sp>
      <p:sp>
        <p:nvSpPr>
          <p:cNvPr id="51" name="右弧形箭头 50"/>
          <p:cNvSpPr/>
          <p:nvPr/>
        </p:nvSpPr>
        <p:spPr>
          <a:xfrm>
            <a:off x="6799580" y="2162810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7" name="右弧形箭头 56"/>
          <p:cNvSpPr/>
          <p:nvPr/>
        </p:nvSpPr>
        <p:spPr>
          <a:xfrm>
            <a:off x="6799580" y="2641600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 flipH="1">
            <a:off x="5941695" y="4144010"/>
            <a:ext cx="814070" cy="0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圆角矩形 58"/>
          <p:cNvSpPr/>
          <p:nvPr/>
        </p:nvSpPr>
        <p:spPr>
          <a:xfrm>
            <a:off x="7945755" y="911860"/>
            <a:ext cx="1291590" cy="287655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400">
                <a:sym typeface="+mn-ea"/>
              </a:rPr>
              <a:t>Log Sender</a:t>
            </a:r>
            <a:endParaRPr lang="en-US" altLang="en-US" sz="1400">
              <a:sym typeface="+mn-ea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8593455" y="1199515"/>
            <a:ext cx="0" cy="30905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8708390" y="3130550"/>
            <a:ext cx="17164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向备机发送</a:t>
            </a:r>
            <a:r>
              <a:rPr lang="en-US" altLang="zh-CN" sz="1200"/>
              <a:t>redo</a:t>
            </a:r>
            <a:r>
              <a:rPr lang="zh-CN" altLang="en-US" sz="1200"/>
              <a:t>日志</a:t>
            </a:r>
            <a:endParaRPr lang="zh-CN" altLang="en-US" sz="1200"/>
          </a:p>
        </p:txBody>
      </p:sp>
      <p:sp>
        <p:nvSpPr>
          <p:cNvPr id="62" name="圆角矩形 61"/>
          <p:cNvSpPr/>
          <p:nvPr/>
        </p:nvSpPr>
        <p:spPr>
          <a:xfrm>
            <a:off x="9864725" y="902970"/>
            <a:ext cx="1424940" cy="287655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400">
                <a:sym typeface="+mn-ea"/>
              </a:rPr>
              <a:t>Log Receiver</a:t>
            </a:r>
            <a:endParaRPr lang="en-US" altLang="en-US" sz="1400">
              <a:sym typeface="+mn-ea"/>
            </a:endParaRPr>
          </a:p>
        </p:txBody>
      </p:sp>
      <p:cxnSp>
        <p:nvCxnSpPr>
          <p:cNvPr id="63" name="直接连接符 62"/>
          <p:cNvCxnSpPr>
            <a:stCxn id="62" idx="2"/>
          </p:cNvCxnSpPr>
          <p:nvPr/>
        </p:nvCxnSpPr>
        <p:spPr>
          <a:xfrm>
            <a:off x="10577195" y="1190625"/>
            <a:ext cx="0" cy="3061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8583930" y="3406140"/>
            <a:ext cx="197294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10869295" y="3515360"/>
            <a:ext cx="12433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REDO</a:t>
            </a:r>
            <a:r>
              <a:rPr lang="zh-CN" altLang="en-US" sz="1200"/>
              <a:t>日志落盘</a:t>
            </a:r>
            <a:endParaRPr lang="zh-CN" altLang="en-US" sz="1200"/>
          </a:p>
        </p:txBody>
      </p:sp>
      <p:sp>
        <p:nvSpPr>
          <p:cNvPr id="66" name="右弧形箭头 65"/>
          <p:cNvSpPr/>
          <p:nvPr/>
        </p:nvSpPr>
        <p:spPr>
          <a:xfrm>
            <a:off x="10600690" y="3515360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8583930" y="3879850"/>
            <a:ext cx="1980565" cy="0"/>
          </a:xfrm>
          <a:prstGeom prst="straightConnector1">
            <a:avLst/>
          </a:prstGeom>
          <a:ln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8781415" y="3604260"/>
            <a:ext cx="1570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向主机发送回复</a:t>
            </a:r>
            <a:r>
              <a:rPr lang="en-US" altLang="zh-CN" sz="1200"/>
              <a:t>ack</a:t>
            </a:r>
            <a:endParaRPr lang="en-US" altLang="zh-CN" sz="1200"/>
          </a:p>
        </p:txBody>
      </p:sp>
      <p:sp>
        <p:nvSpPr>
          <p:cNvPr id="69" name="文本框 68"/>
          <p:cNvSpPr txBox="1"/>
          <p:nvPr/>
        </p:nvSpPr>
        <p:spPr>
          <a:xfrm>
            <a:off x="5941060" y="1190625"/>
            <a:ext cx="807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执行事务</a:t>
            </a:r>
            <a:endParaRPr lang="zh-CN" altLang="en-US" sz="1200"/>
          </a:p>
        </p:txBody>
      </p:sp>
      <p:sp>
        <p:nvSpPr>
          <p:cNvPr id="70" name="文本框 69"/>
          <p:cNvSpPr txBox="1"/>
          <p:nvPr/>
        </p:nvSpPr>
        <p:spPr>
          <a:xfrm>
            <a:off x="5951855" y="3866515"/>
            <a:ext cx="8102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提交事务</a:t>
            </a:r>
            <a:endParaRPr lang="zh-CN" altLang="en-US" sz="1200"/>
          </a:p>
        </p:txBody>
      </p:sp>
      <p:sp>
        <p:nvSpPr>
          <p:cNvPr id="71" name="文本框 70"/>
          <p:cNvSpPr txBox="1"/>
          <p:nvPr/>
        </p:nvSpPr>
        <p:spPr>
          <a:xfrm>
            <a:off x="8865235" y="2181225"/>
            <a:ext cx="1402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sz="1200"/>
              <a:t>检测是否有</a:t>
            </a:r>
            <a:r>
              <a:rPr lang="en-US" altLang="zh-CN" sz="1200"/>
              <a:t>redo</a:t>
            </a:r>
            <a:r>
              <a:rPr lang="zh-CN" altLang="en-US" sz="1200"/>
              <a:t>需要发送</a:t>
            </a:r>
            <a:endParaRPr lang="zh-CN" altLang="en-US" sz="1200"/>
          </a:p>
        </p:txBody>
      </p:sp>
      <p:sp>
        <p:nvSpPr>
          <p:cNvPr id="72" name="右弧形箭头 71"/>
          <p:cNvSpPr/>
          <p:nvPr/>
        </p:nvSpPr>
        <p:spPr>
          <a:xfrm>
            <a:off x="8616315" y="2254250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933180" y="2682875"/>
            <a:ext cx="1570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读取</a:t>
            </a:r>
            <a:r>
              <a:rPr lang="en-US" altLang="zh-CN" sz="1200"/>
              <a:t>redo</a:t>
            </a:r>
            <a:r>
              <a:rPr lang="zh-CN" altLang="en-US" sz="1200"/>
              <a:t>日志</a:t>
            </a:r>
            <a:endParaRPr lang="zh-CN" altLang="en-US" sz="1200"/>
          </a:p>
        </p:txBody>
      </p:sp>
      <p:sp>
        <p:nvSpPr>
          <p:cNvPr id="74" name="右弧形箭头 73"/>
          <p:cNvSpPr/>
          <p:nvPr/>
        </p:nvSpPr>
        <p:spPr>
          <a:xfrm>
            <a:off x="8612505" y="2733040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5" name="右弧形箭头 74"/>
          <p:cNvSpPr/>
          <p:nvPr/>
        </p:nvSpPr>
        <p:spPr>
          <a:xfrm>
            <a:off x="6799580" y="3306445"/>
            <a:ext cx="583565" cy="694055"/>
          </a:xfrm>
          <a:prstGeom prst="curvedLeftArrow">
            <a:avLst>
              <a:gd name="adj1" fmla="val 16634"/>
              <a:gd name="adj2" fmla="val 50000"/>
              <a:gd name="adj3" fmla="val 1279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246620" y="3330575"/>
            <a:ext cx="11245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sz="1200">
                <a:solidFill>
                  <a:srgbClr val="FF0000"/>
                </a:solidFill>
              </a:rPr>
              <a:t>等待</a:t>
            </a:r>
            <a:r>
              <a:rPr lang="en-US" altLang="zh-CN" sz="1200">
                <a:solidFill>
                  <a:srgbClr val="FF0000"/>
                </a:solidFill>
              </a:rPr>
              <a:t>REDO</a:t>
            </a:r>
            <a:r>
              <a:rPr lang="zh-CN" altLang="en-US" sz="1200">
                <a:solidFill>
                  <a:srgbClr val="FF0000"/>
                </a:solidFill>
              </a:rPr>
              <a:t>在备机落盘</a:t>
            </a:r>
            <a:endParaRPr lang="zh-CN" altLang="en-US"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295015" y="1536700"/>
            <a:ext cx="7703185" cy="1001914"/>
            <a:chOff x="5740402" y="1300491"/>
            <a:chExt cx="5257798" cy="771004"/>
          </a:xfrm>
        </p:grpSpPr>
        <p:sp>
          <p:nvSpPr>
            <p:cNvPr id="5" name="文本框 4"/>
            <p:cNvSpPr txBox="1"/>
            <p:nvPr/>
          </p:nvSpPr>
          <p:spPr>
            <a:xfrm>
              <a:off x="5740402" y="1300491"/>
              <a:ext cx="1665496" cy="283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Switchover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740402" y="1669823"/>
              <a:ext cx="5257798" cy="4016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在主备实例均正常的情况下，零数据丢失的完成主机和备机的角色互换。主要应用于有计划的停服、滚动升级等场景。</a:t>
              </a:r>
              <a:endParaRPr lang="zh-CN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95015" y="2769870"/>
            <a:ext cx="7703185" cy="1217178"/>
            <a:chOff x="5740402" y="2533487"/>
            <a:chExt cx="5257798" cy="936657"/>
          </a:xfrm>
        </p:grpSpPr>
        <p:sp>
          <p:nvSpPr>
            <p:cNvPr id="9" name="文本框 8"/>
            <p:cNvSpPr txBox="1"/>
            <p:nvPr/>
          </p:nvSpPr>
          <p:spPr>
            <a:xfrm>
              <a:off x="5740402" y="2533487"/>
              <a:ext cx="1665496" cy="283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Failover</a:t>
              </a:r>
              <a:endPara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740402" y="2902819"/>
              <a:ext cx="5257798" cy="567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备机在网络断开状态（主机异常，或主备网络异常）下，可以将备机升为主机，继续对外提供服务。这种操作可能会造成数据丢失，原来的旧主机，需要手动降备。这种场景应用于故障接管场景，尽可能减少服务中断时间。</a:t>
              </a:r>
              <a:endParaRPr lang="zh-CN" altLang="en-US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0210" y="377191"/>
            <a:ext cx="19075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主备切换</a:t>
            </a:r>
            <a:endParaRPr lang="zh-CN" altLang="zh-CN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225425" y="6367460"/>
            <a:ext cx="1348740" cy="40132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主备切换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1" r:link="rId2"/>
          <a:stretch>
            <a:fillRect/>
          </a:stretch>
        </p:blipFill>
        <p:spPr>
          <a:xfrm>
            <a:off x="327660" y="2172970"/>
            <a:ext cx="2532380" cy="22504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410210" y="377191"/>
            <a:ext cx="19075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主备切换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25425" y="6367460"/>
            <a:ext cx="1348740" cy="40132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主备切换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415925" y="1099185"/>
            <a:ext cx="768350" cy="2876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主机</a:t>
            </a:r>
            <a:endParaRPr lang="zh-CN" altLang="en-US" sz="1400"/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798830" y="1386840"/>
            <a:ext cx="1270" cy="27305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087755" y="2609215"/>
            <a:ext cx="1402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停止所有事务会话</a:t>
            </a:r>
            <a:endParaRPr lang="zh-CN" altLang="en-US" sz="1200"/>
          </a:p>
          <a:p>
            <a:pPr algn="ctr"/>
            <a:r>
              <a:rPr lang="zh-CN" altLang="en-US" sz="1200"/>
              <a:t>并禁止新的事务</a:t>
            </a:r>
            <a:endParaRPr lang="zh-CN" altLang="en-US" sz="1200"/>
          </a:p>
        </p:txBody>
      </p:sp>
      <p:sp>
        <p:nvSpPr>
          <p:cNvPr id="38" name="右弧形箭头 37"/>
          <p:cNvSpPr/>
          <p:nvPr/>
        </p:nvSpPr>
        <p:spPr>
          <a:xfrm>
            <a:off x="821690" y="2733040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305810" y="4039870"/>
            <a:ext cx="564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升主</a:t>
            </a:r>
            <a:endParaRPr lang="zh-CN" sz="1200"/>
          </a:p>
        </p:txBody>
      </p:sp>
      <p:sp>
        <p:nvSpPr>
          <p:cNvPr id="40" name="文本框 39"/>
          <p:cNvSpPr txBox="1"/>
          <p:nvPr/>
        </p:nvSpPr>
        <p:spPr>
          <a:xfrm>
            <a:off x="1009650" y="2158365"/>
            <a:ext cx="17164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向主机发送</a:t>
            </a:r>
            <a:r>
              <a:rPr lang="zh-CN" sz="1200"/>
              <a:t>降备请求</a:t>
            </a:r>
            <a:endParaRPr lang="zh-CN" sz="1200"/>
          </a:p>
        </p:txBody>
      </p:sp>
      <p:sp>
        <p:nvSpPr>
          <p:cNvPr id="41" name="右弧形箭头 40"/>
          <p:cNvSpPr/>
          <p:nvPr/>
        </p:nvSpPr>
        <p:spPr>
          <a:xfrm>
            <a:off x="2964180" y="2834640"/>
            <a:ext cx="416560" cy="697230"/>
          </a:xfrm>
          <a:prstGeom prst="curvedLeftArrow">
            <a:avLst>
              <a:gd name="adj1" fmla="val 11612"/>
              <a:gd name="adj2" fmla="val 50000"/>
              <a:gd name="adj3" fmla="val 1442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2566670" y="1090295"/>
            <a:ext cx="739140" cy="2876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备机</a:t>
            </a:r>
            <a:endParaRPr lang="zh-CN" altLang="en-US" sz="1400"/>
          </a:p>
        </p:txBody>
      </p:sp>
      <p:cxnSp>
        <p:nvCxnSpPr>
          <p:cNvPr id="45" name="直接连接符 44"/>
          <p:cNvCxnSpPr>
            <a:stCxn id="44" idx="2"/>
          </p:cNvCxnSpPr>
          <p:nvPr/>
        </p:nvCxnSpPr>
        <p:spPr>
          <a:xfrm>
            <a:off x="2936240" y="1377950"/>
            <a:ext cx="0" cy="308991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821690" y="2425700"/>
            <a:ext cx="2080260" cy="762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3232785" y="2004695"/>
            <a:ext cx="17545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检测</a:t>
            </a:r>
            <a:r>
              <a:rPr lang="en-US" altLang="zh-CN" sz="1200"/>
              <a:t>switchover</a:t>
            </a:r>
            <a:r>
              <a:rPr lang="zh-CN" altLang="en-US" sz="1200"/>
              <a:t>条件</a:t>
            </a:r>
            <a:endParaRPr lang="zh-CN" altLang="en-US" sz="1200"/>
          </a:p>
        </p:txBody>
      </p:sp>
      <p:sp>
        <p:nvSpPr>
          <p:cNvPr id="52" name="右弧形箭头 51"/>
          <p:cNvSpPr/>
          <p:nvPr/>
        </p:nvSpPr>
        <p:spPr>
          <a:xfrm>
            <a:off x="2964180" y="200469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>
            <a:off x="790575" y="3910330"/>
            <a:ext cx="2117725" cy="8890"/>
          </a:xfrm>
          <a:prstGeom prst="straightConnector1">
            <a:avLst/>
          </a:prstGeom>
          <a:ln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841375" y="3615690"/>
            <a:ext cx="21228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主机降备，并通知备机升主</a:t>
            </a:r>
            <a:endParaRPr lang="en-US" altLang="zh-CN" sz="1200"/>
          </a:p>
        </p:txBody>
      </p:sp>
      <p:cxnSp>
        <p:nvCxnSpPr>
          <p:cNvPr id="42" name="直接箭头连接符 41"/>
          <p:cNvCxnSpPr/>
          <p:nvPr/>
        </p:nvCxnSpPr>
        <p:spPr>
          <a:xfrm flipH="1">
            <a:off x="2936240" y="1763395"/>
            <a:ext cx="2919730" cy="3810"/>
          </a:xfrm>
          <a:prstGeom prst="straightConnector1">
            <a:avLst/>
          </a:prstGeom>
          <a:ln w="12700"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084195" y="1487805"/>
            <a:ext cx="3049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1200"/>
              <a:t>执行</a:t>
            </a:r>
            <a:r>
              <a:rPr lang="en-US" altLang="zh-CN" sz="1200"/>
              <a:t>ALTER DATABASE SWITCHOVER</a:t>
            </a:r>
            <a:endParaRPr lang="en-US" altLang="zh-CN" sz="1200"/>
          </a:p>
        </p:txBody>
      </p:sp>
      <p:sp>
        <p:nvSpPr>
          <p:cNvPr id="28" name="文本框 27"/>
          <p:cNvSpPr txBox="1"/>
          <p:nvPr/>
        </p:nvSpPr>
        <p:spPr>
          <a:xfrm>
            <a:off x="1116965" y="3155315"/>
            <a:ext cx="11976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200"/>
              <a:t>等待备机同步所有</a:t>
            </a:r>
            <a:r>
              <a:rPr lang="en-US" altLang="zh-CN" sz="1200"/>
              <a:t>REDO</a:t>
            </a:r>
            <a:endParaRPr lang="en-US" altLang="zh-CN" sz="1200"/>
          </a:p>
        </p:txBody>
      </p:sp>
      <p:sp>
        <p:nvSpPr>
          <p:cNvPr id="30" name="右弧形箭头 29"/>
          <p:cNvSpPr/>
          <p:nvPr/>
        </p:nvSpPr>
        <p:spPr>
          <a:xfrm>
            <a:off x="821690" y="324548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15925" y="4128770"/>
            <a:ext cx="768350" cy="2876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备机</a:t>
            </a:r>
            <a:endParaRPr lang="zh-CN" altLang="en-US" sz="1400"/>
          </a:p>
        </p:txBody>
      </p:sp>
      <p:sp>
        <p:nvSpPr>
          <p:cNvPr id="48" name="圆角矩形 47"/>
          <p:cNvSpPr/>
          <p:nvPr/>
        </p:nvSpPr>
        <p:spPr>
          <a:xfrm>
            <a:off x="2566670" y="4472940"/>
            <a:ext cx="768350" cy="2876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主机</a:t>
            </a:r>
            <a:endParaRPr lang="zh-CN" altLang="en-US" sz="1400"/>
          </a:p>
        </p:txBody>
      </p:sp>
      <p:sp>
        <p:nvSpPr>
          <p:cNvPr id="49" name="右弧形箭头 48"/>
          <p:cNvSpPr/>
          <p:nvPr/>
        </p:nvSpPr>
        <p:spPr>
          <a:xfrm>
            <a:off x="2973705" y="405447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382010" y="3022600"/>
            <a:ext cx="10001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回放</a:t>
            </a:r>
            <a:r>
              <a:rPr lang="en-US" altLang="zh-CN" sz="1200"/>
              <a:t>REDO</a:t>
            </a:r>
            <a:endParaRPr lang="en-US" altLang="zh-CN" sz="1200"/>
          </a:p>
        </p:txBody>
      </p:sp>
      <p:sp>
        <p:nvSpPr>
          <p:cNvPr id="57" name="文本框 56"/>
          <p:cNvSpPr txBox="1"/>
          <p:nvPr/>
        </p:nvSpPr>
        <p:spPr>
          <a:xfrm>
            <a:off x="455930" y="4759960"/>
            <a:ext cx="2628900" cy="1364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Switchover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执行条件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在备机执行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主机和备机网络连接正常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主机和备机处于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OPEN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状态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6351905" y="1007745"/>
            <a:ext cx="768350" cy="2876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ym typeface="+mn-ea"/>
              </a:rPr>
              <a:t>主机</a:t>
            </a:r>
            <a:endParaRPr lang="zh-CN" altLang="en-US" sz="1400">
              <a:sym typeface="+mn-ea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6736080" y="1295400"/>
            <a:ext cx="2540" cy="1397000"/>
          </a:xfrm>
          <a:prstGeom prst="line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9238615" y="3634740"/>
            <a:ext cx="564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升主</a:t>
            </a:r>
            <a:endParaRPr lang="zh-CN" sz="1200"/>
          </a:p>
        </p:txBody>
      </p:sp>
      <p:sp>
        <p:nvSpPr>
          <p:cNvPr id="68" name="右弧形箭头 67"/>
          <p:cNvSpPr/>
          <p:nvPr/>
        </p:nvSpPr>
        <p:spPr>
          <a:xfrm>
            <a:off x="8891905" y="2423795"/>
            <a:ext cx="416560" cy="697230"/>
          </a:xfrm>
          <a:prstGeom prst="curvedLeftArrow">
            <a:avLst>
              <a:gd name="adj1" fmla="val 11612"/>
              <a:gd name="adj2" fmla="val 50000"/>
              <a:gd name="adj3" fmla="val 1442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8502650" y="998855"/>
            <a:ext cx="739140" cy="2876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备机</a:t>
            </a:r>
            <a:endParaRPr lang="zh-CN" altLang="en-US" sz="1400"/>
          </a:p>
        </p:txBody>
      </p:sp>
      <p:cxnSp>
        <p:nvCxnSpPr>
          <p:cNvPr id="70" name="直接连接符 69"/>
          <p:cNvCxnSpPr>
            <a:stCxn id="69" idx="2"/>
          </p:cNvCxnSpPr>
          <p:nvPr/>
        </p:nvCxnSpPr>
        <p:spPr>
          <a:xfrm>
            <a:off x="8872220" y="1286510"/>
            <a:ext cx="0" cy="280416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9168765" y="1913255"/>
            <a:ext cx="17545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检测</a:t>
            </a:r>
            <a:r>
              <a:rPr lang="en-US" altLang="zh-CN" sz="1200"/>
              <a:t>failover</a:t>
            </a:r>
            <a:r>
              <a:rPr lang="zh-CN" altLang="en-US" sz="1200"/>
              <a:t>条件</a:t>
            </a:r>
            <a:endParaRPr lang="zh-CN" altLang="en-US" sz="1200"/>
          </a:p>
        </p:txBody>
      </p:sp>
      <p:sp>
        <p:nvSpPr>
          <p:cNvPr id="73" name="右弧形箭头 72"/>
          <p:cNvSpPr/>
          <p:nvPr/>
        </p:nvSpPr>
        <p:spPr>
          <a:xfrm>
            <a:off x="8900160" y="191325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74" name="直接箭头连接符 73"/>
          <p:cNvCxnSpPr/>
          <p:nvPr/>
        </p:nvCxnSpPr>
        <p:spPr>
          <a:xfrm>
            <a:off x="6734810" y="1529715"/>
            <a:ext cx="2117725" cy="889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H="1">
            <a:off x="8872220" y="1671955"/>
            <a:ext cx="2594610" cy="3810"/>
          </a:xfrm>
          <a:prstGeom prst="straightConnector1">
            <a:avLst/>
          </a:prstGeom>
          <a:ln w="12700"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9020175" y="1396365"/>
            <a:ext cx="3049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1200"/>
              <a:t>执行</a:t>
            </a:r>
            <a:r>
              <a:rPr lang="en-US" altLang="zh-CN" sz="1200"/>
              <a:t>ALTER DATABASE FAILOVER</a:t>
            </a:r>
            <a:endParaRPr lang="en-US" altLang="zh-CN" sz="1200"/>
          </a:p>
        </p:txBody>
      </p:sp>
      <p:sp>
        <p:nvSpPr>
          <p:cNvPr id="82" name="圆角矩形 81"/>
          <p:cNvSpPr/>
          <p:nvPr/>
        </p:nvSpPr>
        <p:spPr>
          <a:xfrm>
            <a:off x="8488045" y="4117340"/>
            <a:ext cx="768350" cy="2876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主机</a:t>
            </a:r>
            <a:endParaRPr lang="zh-CN" altLang="en-US" sz="1400"/>
          </a:p>
        </p:txBody>
      </p:sp>
      <p:sp>
        <p:nvSpPr>
          <p:cNvPr id="83" name="右弧形箭头 82"/>
          <p:cNvSpPr/>
          <p:nvPr/>
        </p:nvSpPr>
        <p:spPr>
          <a:xfrm>
            <a:off x="8900160" y="328866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9309735" y="2611755"/>
            <a:ext cx="10001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回放</a:t>
            </a:r>
            <a:r>
              <a:rPr lang="en-US" altLang="zh-CN" sz="1200"/>
              <a:t>REDO</a:t>
            </a:r>
            <a:endParaRPr lang="en-US" altLang="zh-CN" sz="1200"/>
          </a:p>
        </p:txBody>
      </p:sp>
      <p:sp>
        <p:nvSpPr>
          <p:cNvPr id="85" name="文本框 84"/>
          <p:cNvSpPr txBox="1"/>
          <p:nvPr/>
        </p:nvSpPr>
        <p:spPr>
          <a:xfrm>
            <a:off x="7594600" y="1286510"/>
            <a:ext cx="260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X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6795135" y="1675765"/>
            <a:ext cx="10001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主机故障</a:t>
            </a:r>
            <a:endParaRPr lang="zh-CN" sz="1200"/>
          </a:p>
        </p:txBody>
      </p:sp>
      <p:sp>
        <p:nvSpPr>
          <p:cNvPr id="88" name="右弧形箭头 87"/>
          <p:cNvSpPr/>
          <p:nvPr/>
        </p:nvSpPr>
        <p:spPr>
          <a:xfrm>
            <a:off x="8900160" y="3643630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9238615" y="3256280"/>
            <a:ext cx="16148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/>
                </a:solidFill>
              </a:rPr>
              <a:t>重置</a:t>
            </a:r>
            <a:r>
              <a:rPr lang="en-US" altLang="zh-CN" sz="1200">
                <a:solidFill>
                  <a:schemeClr val="tx1"/>
                </a:solidFill>
              </a:rPr>
              <a:t>REDO</a:t>
            </a:r>
            <a:r>
              <a:rPr lang="zh-CN" altLang="en-US" sz="1200">
                <a:solidFill>
                  <a:schemeClr val="tx1"/>
                </a:solidFill>
              </a:rPr>
              <a:t>时间线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6134100" y="4759960"/>
            <a:ext cx="2353945" cy="1364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Failover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执行条件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在备机执行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主机和备机网络断开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备机处于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OPEN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状态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8488045" y="4821555"/>
            <a:ext cx="319087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因为主机发生了故障，</a:t>
            </a:r>
            <a:r>
              <a:rPr lang="en-US" altLang="zh-CN" sz="1400"/>
              <a:t>failover</a:t>
            </a:r>
            <a:r>
              <a:rPr lang="zh-CN" altLang="en-US" sz="1400"/>
              <a:t>时，备机的</a:t>
            </a:r>
            <a:r>
              <a:rPr lang="en-US" altLang="zh-CN" sz="1400"/>
              <a:t>REDO</a:t>
            </a:r>
            <a:r>
              <a:rPr lang="zh-CN" altLang="en-US" sz="1400"/>
              <a:t>可能没有完全与主机同步，从而丢失数据。</a:t>
            </a:r>
            <a:endParaRPr lang="zh-CN" altLang="en-US" sz="1400"/>
          </a:p>
          <a:p>
            <a:r>
              <a:rPr lang="zh-CN" altLang="en-US" sz="1400"/>
              <a:t>所以</a:t>
            </a:r>
            <a:r>
              <a:rPr lang="en-US" altLang="zh-CN" sz="1400"/>
              <a:t>failover</a:t>
            </a:r>
            <a:r>
              <a:rPr lang="zh-CN" altLang="en-US" sz="1400"/>
              <a:t>后重置</a:t>
            </a:r>
            <a:r>
              <a:rPr lang="en-US" altLang="zh-CN" sz="1400"/>
              <a:t>REDO</a:t>
            </a:r>
            <a:r>
              <a:rPr lang="zh-CN" altLang="en-US" sz="1400"/>
              <a:t>时间线，以便区别旧主机和新主机</a:t>
            </a:r>
            <a:r>
              <a:rPr lang="en-US" altLang="zh-CN" sz="1400"/>
              <a:t>REDO</a:t>
            </a:r>
            <a:endParaRPr lang="en-US" altLang="zh-CN" sz="140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hmNzM5YTkwNTEwOTNkNTMyODUxNjFjZjgxNDUwYmMifQ==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1217</Words>
  <Application>WPS 演示</Application>
  <PresentationFormat>宽屏</PresentationFormat>
  <Paragraphs>172</Paragraphs>
  <Slides>4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Verdana</vt:lpstr>
      <vt:lpstr>微软雅黑</vt:lpstr>
      <vt:lpstr>FrutigerNext LT Bold</vt:lpstr>
      <vt:lpstr>Segoe Print</vt:lpstr>
      <vt:lpstr>MS PGothic</vt:lpstr>
      <vt:lpstr>Wingdings</vt:lpstr>
      <vt:lpstr>Arial Unicode MS</vt:lpstr>
      <vt:lpstr>Calibri</vt:lpstr>
      <vt:lpstr>Office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mazh</cp:lastModifiedBy>
  <cp:revision>607</cp:revision>
  <dcterms:created xsi:type="dcterms:W3CDTF">2021-03-09T02:51:00Z</dcterms:created>
  <dcterms:modified xsi:type="dcterms:W3CDTF">2022-08-23T10:15:10Z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2052-11.1.0.12302</vt:lpwstr>
  </property>
  <property fmtid="{D5CDD505-2E9C-101B-9397-08002B2CF9AE}" pid="3" name="ICV">
    <vt:lpwstr>67D5965AE6204E53B456E4BF818AB95C</vt:lpwstr>
  </property>
</Properties>
</file>