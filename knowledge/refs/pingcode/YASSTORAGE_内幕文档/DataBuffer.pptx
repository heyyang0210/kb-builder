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3" r:id="rId1"/>
  </p:sldMasterIdLst>
  <p:notesMasterIdLst>
    <p:notesMasterId r:id="rId7"/>
  </p:notesMasterIdLst>
  <p:handoutMasterIdLst>
    <p:handoutMasterId r:id="rId8"/>
  </p:handoutMasterIdLst>
  <p:sldIdLst>
    <p:sldId id="305" r:id="rId2"/>
    <p:sldId id="306" r:id="rId3"/>
    <p:sldId id="307" r:id="rId4"/>
    <p:sldId id="308" r:id="rId5"/>
    <p:sldId id="31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ccv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CE"/>
    <a:srgbClr val="0070C0"/>
    <a:srgbClr val="09BBDB"/>
    <a:srgbClr val="9DC3E6"/>
    <a:srgbClr val="F08F4F"/>
    <a:srgbClr val="1F4E79"/>
    <a:srgbClr val="1D5487"/>
    <a:srgbClr val="FFFFFF"/>
    <a:srgbClr val="5B9BD5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297" autoAdjust="0"/>
  </p:normalViewPr>
  <p:slideViewPr>
    <p:cSldViewPr snapToGrid="0">
      <p:cViewPr varScale="1">
        <p:scale>
          <a:sx n="105" d="100"/>
          <a:sy n="105" d="100"/>
        </p:scale>
        <p:origin x="13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D2A48B96-639E-45A3-A0BA-2464DFDB1FAA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409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Hash list</a:t>
            </a:r>
            <a:r>
              <a:rPr lang="zh-CN" altLang="en-US" dirty="0"/>
              <a:t>， 降级冲突的方案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327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为什么要有这么多的</a:t>
            </a:r>
            <a:r>
              <a:rPr lang="en-US" altLang="zh-CN" dirty="0"/>
              <a:t>list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689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Extent</a:t>
            </a:r>
            <a:r>
              <a:rPr lang="zh-CN" altLang="en-US" dirty="0"/>
              <a:t>与预读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147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283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253990" y="2762885"/>
            <a:ext cx="6268085" cy="72453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400" b="0" spc="6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直角三角形 7"/>
          <p:cNvSpPr/>
          <p:nvPr userDrawn="1"/>
        </p:nvSpPr>
        <p:spPr>
          <a:xfrm rot="16200000">
            <a:off x="10759440" y="541464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五边形 8"/>
          <p:cNvSpPr/>
          <p:nvPr userDrawn="1"/>
        </p:nvSpPr>
        <p:spPr>
          <a:xfrm rot="10800000">
            <a:off x="5810250" y="-2540"/>
            <a:ext cx="63747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5400000">
            <a:off x="2496185" y="-2504440"/>
            <a:ext cx="1924050" cy="692785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830060" y="1489710"/>
            <a:ext cx="4692015" cy="484759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261963" y="316572"/>
            <a:ext cx="1402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8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Verdana" panose="020B0604030504040204" charset="0"/>
              </a:rPr>
              <a:t>目录</a:t>
            </a:r>
          </a:p>
        </p:txBody>
      </p:sp>
      <p:sp>
        <p:nvSpPr>
          <p:cNvPr id="8" name="文本框 7"/>
          <p:cNvSpPr txBox="1"/>
          <p:nvPr userDrawn="1"/>
        </p:nvSpPr>
        <p:spPr>
          <a:xfrm>
            <a:off x="9281052" y="984642"/>
            <a:ext cx="235759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j-lt"/>
                <a:ea typeface="微软雅黑" panose="020B0503020204020204" charset="-122"/>
                <a:cs typeface="+mj-lt"/>
              </a:rPr>
              <a:t>contents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11054443" y="1393046"/>
            <a:ext cx="520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直角三角形 8"/>
          <p:cNvSpPr/>
          <p:nvPr userDrawn="1"/>
        </p:nvSpPr>
        <p:spPr>
          <a:xfrm rot="5400000">
            <a:off x="790575" y="-790575"/>
            <a:ext cx="1389380" cy="296291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五边形 7"/>
          <p:cNvSpPr/>
          <p:nvPr userDrawn="1"/>
        </p:nvSpPr>
        <p:spPr>
          <a:xfrm rot="10800000">
            <a:off x="1123950" y="63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5400000">
            <a:off x="772795" y="-76898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69882" y="1203925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fld id="{D997B5FA-0921-464F-AAE1-844C04324D75}" type="datetime1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r>
              <a:rPr lang="zh-CN" altLang="en-US"/>
              <a:t>深圳计算科学研究院CoD研究室</a:t>
            </a:r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68870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1118235" y="580390"/>
            <a:ext cx="274955" cy="3200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128395" y="220980"/>
            <a:ext cx="285115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772920" y="580390"/>
            <a:ext cx="285115" cy="320040"/>
          </a:xfrm>
          <a:prstGeom prst="rect">
            <a:avLst/>
          </a:prstGeom>
          <a:solidFill>
            <a:srgbClr val="09B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443990" y="220980"/>
            <a:ext cx="285115" cy="3200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-805180" y="220980"/>
            <a:ext cx="285115" cy="3200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1437005" y="580390"/>
            <a:ext cx="285115" cy="3200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-800100" y="580390"/>
            <a:ext cx="285115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1437005" y="1405890"/>
            <a:ext cx="285115" cy="3200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-1118235" y="1405890"/>
            <a:ext cx="285115" cy="3200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-1772920" y="1405890"/>
            <a:ext cx="285115" cy="320040"/>
          </a:xfrm>
          <a:prstGeom prst="rect">
            <a:avLst/>
          </a:prstGeom>
          <a:solidFill>
            <a:srgbClr val="F08F4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-1760220" y="220980"/>
            <a:ext cx="285115" cy="320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-1822450" y="-55880"/>
            <a:ext cx="12382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rPr>
              <a:t>配色方案：</a:t>
            </a: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1838325" y="20053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字体：</a:t>
            </a: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-1873885" y="2209165"/>
            <a:ext cx="1588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中文：微软雅黑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西文：</a:t>
            </a:r>
            <a:r>
              <a:rPr lang="en-US" altLang="zh-CN" sz="1200" dirty="0">
                <a:cs typeface="Verdana" panose="020B0604030504040204" charset="0"/>
              </a:rPr>
              <a:t>Verdana</a:t>
            </a: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-1838325" y="307721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字号：</a:t>
            </a: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-1842770" y="3394075"/>
            <a:ext cx="1845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封面页标题：</a:t>
            </a:r>
            <a:r>
              <a:rPr lang="en-US" altLang="zh-CN" sz="1200" dirty="0">
                <a:cs typeface="Verdana" panose="020B0604030504040204" charset="0"/>
              </a:rPr>
              <a:t>40-48px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正文标题：</a:t>
            </a:r>
            <a:r>
              <a:rPr lang="en-US" altLang="zh-CN" sz="1200" dirty="0">
                <a:cs typeface="Verdana" panose="020B0604030504040204" charset="0"/>
              </a:rPr>
              <a:t>16-24px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正文内容：</a:t>
            </a:r>
            <a:r>
              <a:rPr lang="en-US" altLang="zh-CN" sz="1200" dirty="0">
                <a:cs typeface="Verdana" panose="020B0604030504040204" charset="0"/>
              </a:rPr>
              <a:t>12-18px</a:t>
            </a: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-1838325" y="10655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b="1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defRPr>
            </a:lvl1pPr>
          </a:lstStyle>
          <a:p>
            <a:pPr lvl="0"/>
            <a:r>
              <a:rPr lang="zh-CN" altLang="en-US" dirty="0"/>
              <a:t>强调色：</a:t>
            </a:r>
          </a:p>
        </p:txBody>
      </p:sp>
      <p:sp>
        <p:nvSpPr>
          <p:cNvPr id="25" name="文本框 24"/>
          <p:cNvSpPr txBox="1"/>
          <p:nvPr userDrawn="1"/>
        </p:nvSpPr>
        <p:spPr>
          <a:xfrm>
            <a:off x="-1760220" y="4460875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形状：</a:t>
            </a:r>
          </a:p>
        </p:txBody>
      </p:sp>
      <p:sp>
        <p:nvSpPr>
          <p:cNvPr id="26" name="矩形 25"/>
          <p:cNvSpPr/>
          <p:nvPr userDrawn="1"/>
        </p:nvSpPr>
        <p:spPr>
          <a:xfrm>
            <a:off x="-1762125" y="5020945"/>
            <a:ext cx="140081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形状一</a:t>
            </a:r>
          </a:p>
        </p:txBody>
      </p:sp>
      <p:sp>
        <p:nvSpPr>
          <p:cNvPr id="27" name="矩形 26"/>
          <p:cNvSpPr/>
          <p:nvPr userDrawn="1"/>
        </p:nvSpPr>
        <p:spPr>
          <a:xfrm>
            <a:off x="-1772920" y="5556250"/>
            <a:ext cx="1400810" cy="396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形状二</a:t>
            </a:r>
          </a:p>
        </p:txBody>
      </p:sp>
      <p:sp>
        <p:nvSpPr>
          <p:cNvPr id="28" name="矩形 27"/>
          <p:cNvSpPr/>
          <p:nvPr userDrawn="1"/>
        </p:nvSpPr>
        <p:spPr>
          <a:xfrm>
            <a:off x="-1772920" y="6153150"/>
            <a:ext cx="1400810" cy="396240"/>
          </a:xfrm>
          <a:prstGeom prst="rect">
            <a:avLst/>
          </a:prstGeom>
          <a:solidFill>
            <a:srgbClr val="F08F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形状三</a:t>
            </a:r>
          </a:p>
        </p:txBody>
      </p:sp>
      <p:sp>
        <p:nvSpPr>
          <p:cNvPr id="29" name="矩形 28"/>
          <p:cNvSpPr/>
          <p:nvPr userDrawn="1"/>
        </p:nvSpPr>
        <p:spPr>
          <a:xfrm>
            <a:off x="-1772920" y="6727190"/>
            <a:ext cx="1400810" cy="39624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形状四</a:t>
            </a:r>
          </a:p>
        </p:txBody>
      </p:sp>
      <p:sp>
        <p:nvSpPr>
          <p:cNvPr id="30" name="矩形 29"/>
          <p:cNvSpPr/>
          <p:nvPr userDrawn="1"/>
        </p:nvSpPr>
        <p:spPr>
          <a:xfrm>
            <a:off x="-1772920" y="7311390"/>
            <a:ext cx="1400810" cy="396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形状五</a:t>
            </a:r>
          </a:p>
        </p:txBody>
      </p:sp>
      <p:sp>
        <p:nvSpPr>
          <p:cNvPr id="31" name="矩形 30"/>
          <p:cNvSpPr/>
          <p:nvPr userDrawn="1"/>
        </p:nvSpPr>
        <p:spPr>
          <a:xfrm>
            <a:off x="-1772920" y="7856220"/>
            <a:ext cx="1400810" cy="396240"/>
          </a:xfrm>
          <a:prstGeom prst="rect">
            <a:avLst/>
          </a:prstGeom>
          <a:solidFill>
            <a:srgbClr val="F0F0F0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</a:rPr>
              <a:t>形状六</a:t>
            </a:r>
          </a:p>
        </p:txBody>
      </p:sp>
      <p:sp>
        <p:nvSpPr>
          <p:cNvPr id="32" name="矩形 31"/>
          <p:cNvSpPr/>
          <p:nvPr userDrawn="1"/>
        </p:nvSpPr>
        <p:spPr>
          <a:xfrm>
            <a:off x="-1772920" y="8418830"/>
            <a:ext cx="1400810" cy="396240"/>
          </a:xfrm>
          <a:prstGeom prst="rect">
            <a:avLst/>
          </a:prstGeom>
          <a:solidFill>
            <a:srgbClr val="09BBDB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F0F0F0"/>
                </a:solidFill>
              </a:rPr>
              <a:t>形状七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60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10210" y="376553"/>
            <a:ext cx="2362185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数据缓存区</a:t>
            </a: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1</a:t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DC8C4DE5-69A3-4378-BF85-210E5D7D7A6E}"/>
              </a:ext>
            </a:extLst>
          </p:cNvPr>
          <p:cNvSpPr/>
          <p:nvPr/>
        </p:nvSpPr>
        <p:spPr>
          <a:xfrm>
            <a:off x="225425" y="6366783"/>
            <a:ext cx="3131627" cy="402674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数据库缓存区内存分布</a:t>
            </a:r>
          </a:p>
        </p:txBody>
      </p:sp>
      <p:sp>
        <p:nvSpPr>
          <p:cNvPr id="25" name="圆角矩形 80">
            <a:extLst>
              <a:ext uri="{FF2B5EF4-FFF2-40B4-BE49-F238E27FC236}">
                <a16:creationId xmlns:a16="http://schemas.microsoft.com/office/drawing/2014/main" id="{D99054CF-02ED-47EB-9388-29B6745CA6E3}"/>
              </a:ext>
            </a:extLst>
          </p:cNvPr>
          <p:cNvSpPr/>
          <p:nvPr/>
        </p:nvSpPr>
        <p:spPr>
          <a:xfrm>
            <a:off x="304800" y="1648099"/>
            <a:ext cx="7180110" cy="3836011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26" name="圆角矩形 83">
            <a:extLst>
              <a:ext uri="{FF2B5EF4-FFF2-40B4-BE49-F238E27FC236}">
                <a16:creationId xmlns:a16="http://schemas.microsoft.com/office/drawing/2014/main" id="{D55732B0-5316-4149-86D8-9D48CD323A0E}"/>
              </a:ext>
            </a:extLst>
          </p:cNvPr>
          <p:cNvSpPr/>
          <p:nvPr/>
        </p:nvSpPr>
        <p:spPr>
          <a:xfrm>
            <a:off x="2694962" y="2220818"/>
            <a:ext cx="4697730" cy="31408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07739980-3D38-42AC-8B78-E491E4736230}"/>
              </a:ext>
            </a:extLst>
          </p:cNvPr>
          <p:cNvSpPr txBox="1">
            <a:spLocks/>
          </p:cNvSpPr>
          <p:nvPr/>
        </p:nvSpPr>
        <p:spPr>
          <a:xfrm>
            <a:off x="2863978" y="1752983"/>
            <a:ext cx="3171190" cy="65595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u="none" strike="noStrike" kern="1200" cap="none" spc="0" normalizeH="0">
                <a:solidFill>
                  <a:schemeClr val="tx1"/>
                </a:solidFill>
                <a:uFillTx/>
                <a:latin typeface="Verdana" panose="020B0604030504040204" charset="0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1600" dirty="0">
                <a:solidFill>
                  <a:srgbClr val="0070C0"/>
                </a:solidFill>
              </a:rPr>
              <a:t>Data Buffer Pool 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sp>
        <p:nvSpPr>
          <p:cNvPr id="28" name="圆角矩形 32">
            <a:extLst>
              <a:ext uri="{FF2B5EF4-FFF2-40B4-BE49-F238E27FC236}">
                <a16:creationId xmlns:a16="http://schemas.microsoft.com/office/drawing/2014/main" id="{75A45FD3-F3CE-46FD-9DDA-6AB670E5B2EE}"/>
              </a:ext>
            </a:extLst>
          </p:cNvPr>
          <p:cNvSpPr/>
          <p:nvPr/>
        </p:nvSpPr>
        <p:spPr>
          <a:xfrm>
            <a:off x="389700" y="2219576"/>
            <a:ext cx="2158365" cy="17033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29" name="圆角矩形 33">
            <a:extLst>
              <a:ext uri="{FF2B5EF4-FFF2-40B4-BE49-F238E27FC236}">
                <a16:creationId xmlns:a16="http://schemas.microsoft.com/office/drawing/2014/main" id="{479C551C-46B9-40F2-99AB-0B22E6FE7813}"/>
              </a:ext>
            </a:extLst>
          </p:cNvPr>
          <p:cNvSpPr/>
          <p:nvPr/>
        </p:nvSpPr>
        <p:spPr>
          <a:xfrm>
            <a:off x="514854" y="2700622"/>
            <a:ext cx="786743" cy="38005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partition</a:t>
            </a:r>
          </a:p>
          <a:p>
            <a:pPr algn="ctr"/>
            <a:r>
              <a:rPr lang="en-US" altLang="zh-CN" sz="1000" dirty="0"/>
              <a:t>buckets</a:t>
            </a:r>
          </a:p>
        </p:txBody>
      </p:sp>
      <p:sp>
        <p:nvSpPr>
          <p:cNvPr id="30" name="圆角矩形 34">
            <a:extLst>
              <a:ext uri="{FF2B5EF4-FFF2-40B4-BE49-F238E27FC236}">
                <a16:creationId xmlns:a16="http://schemas.microsoft.com/office/drawing/2014/main" id="{815AB473-09A2-4EE1-90EB-92F2AFEF0DEB}"/>
              </a:ext>
            </a:extLst>
          </p:cNvPr>
          <p:cNvSpPr/>
          <p:nvPr/>
        </p:nvSpPr>
        <p:spPr>
          <a:xfrm>
            <a:off x="1542284" y="2700622"/>
            <a:ext cx="786743" cy="38005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partition</a:t>
            </a:r>
          </a:p>
          <a:p>
            <a:pPr algn="ctr"/>
            <a:r>
              <a:rPr lang="en-US" altLang="zh-CN" sz="1000" dirty="0"/>
              <a:t>buckets</a:t>
            </a:r>
          </a:p>
        </p:txBody>
      </p:sp>
      <p:sp>
        <p:nvSpPr>
          <p:cNvPr id="31" name="圆角矩形 37">
            <a:extLst>
              <a:ext uri="{FF2B5EF4-FFF2-40B4-BE49-F238E27FC236}">
                <a16:creationId xmlns:a16="http://schemas.microsoft.com/office/drawing/2014/main" id="{D0BBD9FE-93D2-4E89-9C88-A604AD3CCFC7}"/>
              </a:ext>
            </a:extLst>
          </p:cNvPr>
          <p:cNvSpPr/>
          <p:nvPr/>
        </p:nvSpPr>
        <p:spPr>
          <a:xfrm>
            <a:off x="514854" y="3359752"/>
            <a:ext cx="786743" cy="38005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partition</a:t>
            </a:r>
          </a:p>
          <a:p>
            <a:pPr algn="ctr"/>
            <a:r>
              <a:rPr lang="en-US" altLang="zh-CN" sz="1000" dirty="0"/>
              <a:t>buckets</a:t>
            </a:r>
          </a:p>
        </p:txBody>
      </p:sp>
      <p:sp>
        <p:nvSpPr>
          <p:cNvPr id="32" name="圆角矩形 38">
            <a:extLst>
              <a:ext uri="{FF2B5EF4-FFF2-40B4-BE49-F238E27FC236}">
                <a16:creationId xmlns:a16="http://schemas.microsoft.com/office/drawing/2014/main" id="{6630168F-468F-4935-A237-8DA52C1D2B12}"/>
              </a:ext>
            </a:extLst>
          </p:cNvPr>
          <p:cNvSpPr/>
          <p:nvPr/>
        </p:nvSpPr>
        <p:spPr>
          <a:xfrm>
            <a:off x="1542284" y="3359752"/>
            <a:ext cx="786743" cy="38005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partition</a:t>
            </a:r>
          </a:p>
          <a:p>
            <a:pPr algn="ctr"/>
            <a:r>
              <a:rPr lang="en-US" altLang="zh-CN" sz="1000" dirty="0"/>
              <a:t>buckets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3A7EF50-5CAF-401C-823F-2EB7E10D10CB}"/>
              </a:ext>
            </a:extLst>
          </p:cNvPr>
          <p:cNvSpPr txBox="1"/>
          <p:nvPr/>
        </p:nvSpPr>
        <p:spPr>
          <a:xfrm>
            <a:off x="731389" y="2297046"/>
            <a:ext cx="1365885" cy="30777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CN" sz="1400" b="1" dirty="0">
                <a:ln>
                  <a:solidFill>
                    <a:schemeClr val="bg2">
                      <a:lumMod val="25000"/>
                    </a:schemeClr>
                  </a:solidFill>
                </a:ln>
                <a:sym typeface="+mn-ea"/>
              </a:rPr>
              <a:t>bucket area</a:t>
            </a:r>
            <a:endParaRPr lang="en-US" altLang="zh-CN" sz="1400" b="1" dirty="0">
              <a:ln>
                <a:solidFill>
                  <a:schemeClr val="bg2">
                    <a:lumMod val="25000"/>
                  </a:schemeClr>
                </a:solidFill>
              </a:ln>
              <a:solidFill>
                <a:schemeClr val="accent3"/>
              </a:solidFill>
              <a:effectLst/>
              <a:sym typeface="+mn-ea"/>
            </a:endParaRPr>
          </a:p>
        </p:txBody>
      </p:sp>
      <p:sp>
        <p:nvSpPr>
          <p:cNvPr id="34" name="圆角矩形 48">
            <a:extLst>
              <a:ext uri="{FF2B5EF4-FFF2-40B4-BE49-F238E27FC236}">
                <a16:creationId xmlns:a16="http://schemas.microsoft.com/office/drawing/2014/main" id="{51FC50EF-4F51-41E4-B7E8-87E18A2211FB}"/>
              </a:ext>
            </a:extLst>
          </p:cNvPr>
          <p:cNvSpPr/>
          <p:nvPr/>
        </p:nvSpPr>
        <p:spPr>
          <a:xfrm>
            <a:off x="2800372" y="2401613"/>
            <a:ext cx="2063847" cy="1715453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35" name="圆角矩形 49">
            <a:extLst>
              <a:ext uri="{FF2B5EF4-FFF2-40B4-BE49-F238E27FC236}">
                <a16:creationId xmlns:a16="http://schemas.microsoft.com/office/drawing/2014/main" id="{782BB1A2-6410-4BDD-9FC6-B21DEE0A0780}"/>
              </a:ext>
            </a:extLst>
          </p:cNvPr>
          <p:cNvSpPr/>
          <p:nvPr/>
        </p:nvSpPr>
        <p:spPr>
          <a:xfrm>
            <a:off x="2865142" y="2886743"/>
            <a:ext cx="786743" cy="38005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partition</a:t>
            </a:r>
          </a:p>
          <a:p>
            <a:pPr algn="ctr"/>
            <a:r>
              <a:rPr lang="en-US" altLang="zh-CN" sz="1000" dirty="0"/>
              <a:t>chunk</a:t>
            </a:r>
          </a:p>
        </p:txBody>
      </p:sp>
      <p:sp>
        <p:nvSpPr>
          <p:cNvPr id="36" name="圆角矩形 50">
            <a:extLst>
              <a:ext uri="{FF2B5EF4-FFF2-40B4-BE49-F238E27FC236}">
                <a16:creationId xmlns:a16="http://schemas.microsoft.com/office/drawing/2014/main" id="{C45F0CE9-C51B-4DC9-A431-105D0F5D2DBD}"/>
              </a:ext>
            </a:extLst>
          </p:cNvPr>
          <p:cNvSpPr/>
          <p:nvPr/>
        </p:nvSpPr>
        <p:spPr>
          <a:xfrm>
            <a:off x="3923687" y="2886743"/>
            <a:ext cx="786743" cy="38005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partition</a:t>
            </a:r>
          </a:p>
          <a:p>
            <a:pPr algn="ctr"/>
            <a:r>
              <a:rPr lang="en-US" altLang="zh-CN" sz="1000" dirty="0"/>
              <a:t>chunk</a:t>
            </a:r>
          </a:p>
        </p:txBody>
      </p:sp>
      <p:sp>
        <p:nvSpPr>
          <p:cNvPr id="37" name="圆角矩形 51">
            <a:extLst>
              <a:ext uri="{FF2B5EF4-FFF2-40B4-BE49-F238E27FC236}">
                <a16:creationId xmlns:a16="http://schemas.microsoft.com/office/drawing/2014/main" id="{1A23D883-DA1B-4A7C-BFFE-67E2DAC78D5F}"/>
              </a:ext>
            </a:extLst>
          </p:cNvPr>
          <p:cNvSpPr/>
          <p:nvPr/>
        </p:nvSpPr>
        <p:spPr>
          <a:xfrm>
            <a:off x="2865142" y="3545873"/>
            <a:ext cx="786743" cy="38005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partition</a:t>
            </a:r>
          </a:p>
          <a:p>
            <a:pPr algn="ctr"/>
            <a:r>
              <a:rPr lang="en-US" altLang="zh-CN" sz="1000" dirty="0"/>
              <a:t>chunk</a:t>
            </a:r>
          </a:p>
        </p:txBody>
      </p:sp>
      <p:sp>
        <p:nvSpPr>
          <p:cNvPr id="38" name="圆角矩形 52">
            <a:extLst>
              <a:ext uri="{FF2B5EF4-FFF2-40B4-BE49-F238E27FC236}">
                <a16:creationId xmlns:a16="http://schemas.microsoft.com/office/drawing/2014/main" id="{8024CF69-8C07-4409-86F9-158E1CE0961C}"/>
              </a:ext>
            </a:extLst>
          </p:cNvPr>
          <p:cNvSpPr/>
          <p:nvPr/>
        </p:nvSpPr>
        <p:spPr>
          <a:xfrm>
            <a:off x="3923687" y="3546508"/>
            <a:ext cx="786743" cy="38005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partition</a:t>
            </a:r>
          </a:p>
          <a:p>
            <a:pPr algn="ctr"/>
            <a:r>
              <a:rPr lang="en-US" altLang="zh-CN" sz="1000" dirty="0"/>
              <a:t>chunk</a:t>
            </a:r>
          </a:p>
        </p:txBody>
      </p:sp>
      <p:sp>
        <p:nvSpPr>
          <p:cNvPr id="39" name="圆角矩形 54">
            <a:extLst>
              <a:ext uri="{FF2B5EF4-FFF2-40B4-BE49-F238E27FC236}">
                <a16:creationId xmlns:a16="http://schemas.microsoft.com/office/drawing/2014/main" id="{8E433A30-AC4C-42DD-802B-3A8242484B91}"/>
              </a:ext>
            </a:extLst>
          </p:cNvPr>
          <p:cNvSpPr/>
          <p:nvPr/>
        </p:nvSpPr>
        <p:spPr>
          <a:xfrm>
            <a:off x="5123837" y="2410734"/>
            <a:ext cx="2031343" cy="170633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40" name="圆角矩形 55">
            <a:extLst>
              <a:ext uri="{FF2B5EF4-FFF2-40B4-BE49-F238E27FC236}">
                <a16:creationId xmlns:a16="http://schemas.microsoft.com/office/drawing/2014/main" id="{53655875-65D5-44A8-82B4-AFD2626DD608}"/>
              </a:ext>
            </a:extLst>
          </p:cNvPr>
          <p:cNvSpPr/>
          <p:nvPr/>
        </p:nvSpPr>
        <p:spPr>
          <a:xfrm>
            <a:off x="5187972" y="2886743"/>
            <a:ext cx="786743" cy="38005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partition</a:t>
            </a:r>
          </a:p>
          <a:p>
            <a:pPr algn="ctr"/>
            <a:r>
              <a:rPr lang="en-US" altLang="zh-CN" sz="1000" dirty="0"/>
              <a:t>chunk</a:t>
            </a:r>
          </a:p>
        </p:txBody>
      </p:sp>
      <p:sp>
        <p:nvSpPr>
          <p:cNvPr id="41" name="圆角矩形 56">
            <a:extLst>
              <a:ext uri="{FF2B5EF4-FFF2-40B4-BE49-F238E27FC236}">
                <a16:creationId xmlns:a16="http://schemas.microsoft.com/office/drawing/2014/main" id="{814F00E2-F564-4D67-840B-2DBD2ADD6BD8}"/>
              </a:ext>
            </a:extLst>
          </p:cNvPr>
          <p:cNvSpPr/>
          <p:nvPr/>
        </p:nvSpPr>
        <p:spPr>
          <a:xfrm>
            <a:off x="6246517" y="2886743"/>
            <a:ext cx="786743" cy="38005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partition</a:t>
            </a:r>
          </a:p>
          <a:p>
            <a:pPr algn="ctr"/>
            <a:r>
              <a:rPr lang="en-US" altLang="zh-CN" sz="1000" dirty="0"/>
              <a:t>chunk</a:t>
            </a:r>
          </a:p>
        </p:txBody>
      </p:sp>
      <p:sp>
        <p:nvSpPr>
          <p:cNvPr id="42" name="圆角矩形 57">
            <a:extLst>
              <a:ext uri="{FF2B5EF4-FFF2-40B4-BE49-F238E27FC236}">
                <a16:creationId xmlns:a16="http://schemas.microsoft.com/office/drawing/2014/main" id="{3AC1CDB6-78B4-4429-8EFB-0642F773D01C}"/>
              </a:ext>
            </a:extLst>
          </p:cNvPr>
          <p:cNvSpPr/>
          <p:nvPr/>
        </p:nvSpPr>
        <p:spPr>
          <a:xfrm>
            <a:off x="5187972" y="3545873"/>
            <a:ext cx="786743" cy="38005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partition</a:t>
            </a:r>
          </a:p>
          <a:p>
            <a:pPr algn="ctr"/>
            <a:r>
              <a:rPr lang="en-US" altLang="zh-CN" sz="1000" dirty="0"/>
              <a:t>chunk</a:t>
            </a:r>
          </a:p>
        </p:txBody>
      </p:sp>
      <p:sp>
        <p:nvSpPr>
          <p:cNvPr id="43" name="圆角矩形 58">
            <a:extLst>
              <a:ext uri="{FF2B5EF4-FFF2-40B4-BE49-F238E27FC236}">
                <a16:creationId xmlns:a16="http://schemas.microsoft.com/office/drawing/2014/main" id="{D4FA9413-06C4-4E47-82BF-C456ED803098}"/>
              </a:ext>
            </a:extLst>
          </p:cNvPr>
          <p:cNvSpPr/>
          <p:nvPr/>
        </p:nvSpPr>
        <p:spPr>
          <a:xfrm>
            <a:off x="6252613" y="3546381"/>
            <a:ext cx="786743" cy="38005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partition</a:t>
            </a:r>
          </a:p>
          <a:p>
            <a:pPr algn="ctr"/>
            <a:r>
              <a:rPr lang="en-US" altLang="zh-CN" sz="1000" dirty="0"/>
              <a:t>chunk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7CCE53C-EF12-4A53-9433-AF6DFC7B94DA}"/>
              </a:ext>
            </a:extLst>
          </p:cNvPr>
          <p:cNvSpPr txBox="1"/>
          <p:nvPr/>
        </p:nvSpPr>
        <p:spPr>
          <a:xfrm>
            <a:off x="3347750" y="2463614"/>
            <a:ext cx="962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sym typeface="+mn-ea"/>
              </a:rPr>
              <a:t>chunk</a:t>
            </a:r>
            <a:endParaRPr lang="en-US" altLang="zh-CN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  <a:sym typeface="+mn-ea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FE94832-839D-49F2-A6C0-985D8612157E}"/>
              </a:ext>
            </a:extLst>
          </p:cNvPr>
          <p:cNvSpPr txBox="1"/>
          <p:nvPr/>
        </p:nvSpPr>
        <p:spPr>
          <a:xfrm>
            <a:off x="5695654" y="2466672"/>
            <a:ext cx="962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sym typeface="+mn-ea"/>
              </a:rPr>
              <a:t>chunk</a:t>
            </a:r>
            <a:endParaRPr lang="en-US" altLang="zh-CN" sz="140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A2A6CB41-8701-4C6A-A428-B05C6F794246}"/>
              </a:ext>
            </a:extLst>
          </p:cNvPr>
          <p:cNvCxnSpPr>
            <a:endCxn id="53" idx="0"/>
          </p:cNvCxnSpPr>
          <p:nvPr/>
        </p:nvCxnSpPr>
        <p:spPr>
          <a:xfrm flipH="1">
            <a:off x="3801132" y="3919581"/>
            <a:ext cx="147955" cy="44323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DCFC5DFC-035B-46ED-8519-B30E5F79DAFE}"/>
              </a:ext>
            </a:extLst>
          </p:cNvPr>
          <p:cNvCxnSpPr>
            <a:endCxn id="48" idx="0"/>
          </p:cNvCxnSpPr>
          <p:nvPr/>
        </p:nvCxnSpPr>
        <p:spPr>
          <a:xfrm>
            <a:off x="4820307" y="3898626"/>
            <a:ext cx="174625" cy="48768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圆角矩形 73">
            <a:extLst>
              <a:ext uri="{FF2B5EF4-FFF2-40B4-BE49-F238E27FC236}">
                <a16:creationId xmlns:a16="http://schemas.microsoft.com/office/drawing/2014/main" id="{89E751B2-65C5-45F8-A801-54A848957AF5}"/>
              </a:ext>
            </a:extLst>
          </p:cNvPr>
          <p:cNvSpPr/>
          <p:nvPr/>
        </p:nvSpPr>
        <p:spPr>
          <a:xfrm>
            <a:off x="4559322" y="4386306"/>
            <a:ext cx="871220" cy="2787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圆角矩形 74">
            <a:extLst>
              <a:ext uri="{FF2B5EF4-FFF2-40B4-BE49-F238E27FC236}">
                <a16:creationId xmlns:a16="http://schemas.microsoft.com/office/drawing/2014/main" id="{271C3E90-33FE-4349-AE9F-B41ED268AEBE}"/>
              </a:ext>
            </a:extLst>
          </p:cNvPr>
          <p:cNvSpPr/>
          <p:nvPr/>
        </p:nvSpPr>
        <p:spPr>
          <a:xfrm>
            <a:off x="4686322" y="4513306"/>
            <a:ext cx="871220" cy="2787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圆角矩形 75">
            <a:extLst>
              <a:ext uri="{FF2B5EF4-FFF2-40B4-BE49-F238E27FC236}">
                <a16:creationId xmlns:a16="http://schemas.microsoft.com/office/drawing/2014/main" id="{7A0BEF10-94FC-41A4-BAD6-2331CA5B9D5B}"/>
              </a:ext>
            </a:extLst>
          </p:cNvPr>
          <p:cNvSpPr/>
          <p:nvPr/>
        </p:nvSpPr>
        <p:spPr>
          <a:xfrm>
            <a:off x="4813322" y="4640306"/>
            <a:ext cx="871220" cy="2787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圆角矩形 76">
            <a:extLst>
              <a:ext uri="{FF2B5EF4-FFF2-40B4-BE49-F238E27FC236}">
                <a16:creationId xmlns:a16="http://schemas.microsoft.com/office/drawing/2014/main" id="{1141EDEA-B391-4E44-A124-F269FA1BFC34}"/>
              </a:ext>
            </a:extLst>
          </p:cNvPr>
          <p:cNvSpPr/>
          <p:nvPr/>
        </p:nvSpPr>
        <p:spPr>
          <a:xfrm>
            <a:off x="4940322" y="4811756"/>
            <a:ext cx="871220" cy="2787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圆角矩形 77">
            <a:extLst>
              <a:ext uri="{FF2B5EF4-FFF2-40B4-BE49-F238E27FC236}">
                <a16:creationId xmlns:a16="http://schemas.microsoft.com/office/drawing/2014/main" id="{7D9DB54A-6FC9-4702-9C09-438CF287155D}"/>
              </a:ext>
            </a:extLst>
          </p:cNvPr>
          <p:cNvSpPr/>
          <p:nvPr/>
        </p:nvSpPr>
        <p:spPr>
          <a:xfrm>
            <a:off x="5067322" y="4894306"/>
            <a:ext cx="871220" cy="2787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block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4A391B9-0F51-4155-AC50-CF517062ACC0}"/>
              </a:ext>
            </a:extLst>
          </p:cNvPr>
          <p:cNvSpPr/>
          <p:nvPr/>
        </p:nvSpPr>
        <p:spPr>
          <a:xfrm>
            <a:off x="3267732" y="4362811"/>
            <a:ext cx="1066800" cy="822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ctrls</a:t>
            </a:r>
          </a:p>
        </p:txBody>
      </p:sp>
      <p:cxnSp>
        <p:nvCxnSpPr>
          <p:cNvPr id="54" name="曲线连接符 82">
            <a:extLst>
              <a:ext uri="{FF2B5EF4-FFF2-40B4-BE49-F238E27FC236}">
                <a16:creationId xmlns:a16="http://schemas.microsoft.com/office/drawing/2014/main" id="{84948C6B-418B-450D-88B9-581FCC6E6EFC}"/>
              </a:ext>
            </a:extLst>
          </p:cNvPr>
          <p:cNvCxnSpPr>
            <a:cxnSpLocks/>
            <a:stCxn id="31" idx="2"/>
            <a:endCxn id="53" idx="1"/>
          </p:cNvCxnSpPr>
          <p:nvPr/>
        </p:nvCxnSpPr>
        <p:spPr>
          <a:xfrm rot="16200000" flipH="1">
            <a:off x="1570739" y="3077297"/>
            <a:ext cx="1034481" cy="2359506"/>
          </a:xfrm>
          <a:prstGeom prst="curvedConnector2">
            <a:avLst/>
          </a:prstGeom>
          <a:ln>
            <a:prstDash val="sysDash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112FCABA-8D97-49D7-8FFC-D2F2DD449C0D}"/>
              </a:ext>
            </a:extLst>
          </p:cNvPr>
          <p:cNvSpPr txBox="1"/>
          <p:nvPr/>
        </p:nvSpPr>
        <p:spPr>
          <a:xfrm>
            <a:off x="5826782" y="4588052"/>
            <a:ext cx="1365885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CN" sz="1600" b="1" dirty="0">
                <a:ln>
                  <a:solidFill>
                    <a:schemeClr val="bg2">
                      <a:lumMod val="25000"/>
                    </a:schemeClr>
                  </a:solidFill>
                </a:ln>
                <a:sym typeface="+mn-ea"/>
              </a:rPr>
              <a:t>chunk area</a:t>
            </a:r>
            <a:endParaRPr lang="en-US" altLang="zh-CN" sz="1600" b="1" dirty="0">
              <a:ln>
                <a:solidFill>
                  <a:schemeClr val="bg2">
                    <a:lumMod val="25000"/>
                  </a:schemeClr>
                </a:solidFill>
              </a:ln>
              <a:solidFill>
                <a:schemeClr val="accent3"/>
              </a:solidFill>
              <a:effectLst/>
              <a:sym typeface="+mn-ea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689DC9EE-F24D-4E88-A6CD-592D0F7BAEDA}"/>
              </a:ext>
            </a:extLst>
          </p:cNvPr>
          <p:cNvCxnSpPr>
            <a:stCxn id="53" idx="3"/>
            <a:endCxn id="52" idx="1"/>
          </p:cNvCxnSpPr>
          <p:nvPr/>
        </p:nvCxnSpPr>
        <p:spPr>
          <a:xfrm>
            <a:off x="4334532" y="4774291"/>
            <a:ext cx="732790" cy="259715"/>
          </a:xfrm>
          <a:prstGeom prst="straightConnector1">
            <a:avLst/>
          </a:prstGeom>
          <a:ln>
            <a:prstDash val="dash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23CBF013-AD81-4F52-AE06-DEA157DEE3B7}"/>
              </a:ext>
            </a:extLst>
          </p:cNvPr>
          <p:cNvGrpSpPr/>
          <p:nvPr/>
        </p:nvGrpSpPr>
        <p:grpSpPr>
          <a:xfrm>
            <a:off x="7885520" y="1399753"/>
            <a:ext cx="4184560" cy="1483091"/>
            <a:chOff x="6322060" y="1219835"/>
            <a:chExt cx="4184560" cy="1483091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73A8B00A-D452-49EA-B46B-522BF217FFCB}"/>
                </a:ext>
              </a:extLst>
            </p:cNvPr>
            <p:cNvSpPr txBox="1"/>
            <p:nvPr/>
          </p:nvSpPr>
          <p:spPr>
            <a:xfrm>
              <a:off x="6322060" y="1680210"/>
              <a:ext cx="4184560" cy="10227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为了降低锁冲突，将整个缓存区划分了多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partition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，每个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partition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的大小相等，并且之间互相独立的，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block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会根据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id hash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到不同的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partition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。</a:t>
              </a: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635A3590-162E-4B64-B628-8B1DA2150C8F}"/>
                </a:ext>
              </a:extLst>
            </p:cNvPr>
            <p:cNvSpPr txBox="1"/>
            <p:nvPr/>
          </p:nvSpPr>
          <p:spPr>
            <a:xfrm>
              <a:off x="6382385" y="1219835"/>
              <a:ext cx="2830195" cy="4575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Partition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D37B567E-2262-40A3-9DF6-F914ADBAF6AA}"/>
              </a:ext>
            </a:extLst>
          </p:cNvPr>
          <p:cNvGrpSpPr/>
          <p:nvPr/>
        </p:nvGrpSpPr>
        <p:grpSpPr>
          <a:xfrm>
            <a:off x="7885520" y="2917223"/>
            <a:ext cx="4055110" cy="1486682"/>
            <a:chOff x="6322060" y="1219835"/>
            <a:chExt cx="4055110" cy="1486682"/>
          </a:xfrm>
        </p:grpSpPr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0E58AA28-2B0B-4658-99A3-751940434344}"/>
                </a:ext>
              </a:extLst>
            </p:cNvPr>
            <p:cNvSpPr txBox="1"/>
            <p:nvPr/>
          </p:nvSpPr>
          <p:spPr>
            <a:xfrm>
              <a:off x="6322060" y="1680210"/>
              <a:ext cx="4055110" cy="10263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每个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partition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内部的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block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以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hash list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的方式进行组织。实际中</a:t>
              </a:r>
              <a:r>
                <a:rPr lang="zh-CN" altLang="en-US" sz="1400" b="0" i="0" dirty="0">
                  <a:solidFill>
                    <a:srgbClr val="172B4D"/>
                  </a:solidFill>
                  <a:effectLst/>
                  <a:latin typeface="-apple-system"/>
                </a:rPr>
                <a:t>为了降低</a:t>
              </a:r>
              <a:r>
                <a:rPr lang="en-US" altLang="zh-CN" sz="1400" b="0" i="0" dirty="0">
                  <a:solidFill>
                    <a:srgbClr val="172B4D"/>
                  </a:solidFill>
                  <a:effectLst/>
                  <a:latin typeface="-apple-system"/>
                </a:rPr>
                <a:t>hash</a:t>
              </a:r>
              <a:r>
                <a:rPr lang="zh-CN" altLang="en-US" sz="1400" b="0" i="0" dirty="0">
                  <a:solidFill>
                    <a:srgbClr val="172B4D"/>
                  </a:solidFill>
                  <a:effectLst/>
                  <a:latin typeface="-apple-system"/>
                </a:rPr>
                <a:t>冲突，数据库</a:t>
              </a:r>
              <a:r>
                <a:rPr lang="en-US" altLang="zh-CN" sz="1400" b="0" i="0" dirty="0">
                  <a:solidFill>
                    <a:srgbClr val="172B4D"/>
                  </a:solidFill>
                  <a:effectLst/>
                  <a:latin typeface="-apple-system"/>
                </a:rPr>
                <a:t>bucket</a:t>
              </a:r>
              <a:r>
                <a:rPr lang="zh-CN" altLang="en-US" sz="1400" b="0" i="0" dirty="0">
                  <a:solidFill>
                    <a:srgbClr val="172B4D"/>
                  </a:solidFill>
                  <a:effectLst/>
                  <a:latin typeface="-apple-system"/>
                </a:rPr>
                <a:t>的数量设置为</a:t>
              </a:r>
              <a:r>
                <a:rPr lang="en-US" altLang="zh-CN" sz="1400" b="0" i="0" dirty="0">
                  <a:solidFill>
                    <a:srgbClr val="172B4D"/>
                  </a:solidFill>
                  <a:effectLst/>
                  <a:latin typeface="-apple-system"/>
                </a:rPr>
                <a:t>block</a:t>
              </a:r>
              <a:r>
                <a:rPr lang="zh-CN" altLang="en-US" sz="1400" b="0" i="0" dirty="0">
                  <a:solidFill>
                    <a:srgbClr val="172B4D"/>
                  </a:solidFill>
                  <a:effectLst/>
                  <a:latin typeface="-apple-system"/>
                </a:rPr>
                <a:t>数量的两倍。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609DC0B3-EEE0-4717-997C-48CE402C4F0E}"/>
                </a:ext>
              </a:extLst>
            </p:cNvPr>
            <p:cNvSpPr txBox="1"/>
            <p:nvPr/>
          </p:nvSpPr>
          <p:spPr>
            <a:xfrm>
              <a:off x="6382385" y="1219835"/>
              <a:ext cx="2830195" cy="4575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Bucket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1A84F9CE-8271-436A-B1DE-3BE387DEA263}"/>
              </a:ext>
            </a:extLst>
          </p:cNvPr>
          <p:cNvGrpSpPr/>
          <p:nvPr/>
        </p:nvGrpSpPr>
        <p:grpSpPr>
          <a:xfrm>
            <a:off x="7896225" y="4354665"/>
            <a:ext cx="4055110" cy="1159925"/>
            <a:chOff x="6322060" y="1219835"/>
            <a:chExt cx="4055110" cy="1159925"/>
          </a:xfrm>
        </p:grpSpPr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411E7769-20CF-468B-B9BB-CC41226E5870}"/>
                </a:ext>
              </a:extLst>
            </p:cNvPr>
            <p:cNvSpPr txBox="1"/>
            <p:nvPr/>
          </p:nvSpPr>
          <p:spPr>
            <a:xfrm>
              <a:off x="6322060" y="1680210"/>
              <a:ext cx="4055110" cy="69955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存放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block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以及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ctrl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的内存区域。数据库运行过程中能以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chunk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为单位动态扩展数据缓存区。</a:t>
              </a: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7AF6000B-2BDC-418C-98D3-A6B01319A264}"/>
                </a:ext>
              </a:extLst>
            </p:cNvPr>
            <p:cNvSpPr txBox="1"/>
            <p:nvPr/>
          </p:nvSpPr>
          <p:spPr>
            <a:xfrm>
              <a:off x="6382385" y="1219835"/>
              <a:ext cx="2830195" cy="4575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en-US" altLang="zh-CN" b="1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Chunk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9864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05866959-B71A-4410-B20E-3274B4121E71}"/>
              </a:ext>
            </a:extLst>
          </p:cNvPr>
          <p:cNvSpPr/>
          <p:nvPr/>
        </p:nvSpPr>
        <p:spPr>
          <a:xfrm>
            <a:off x="519535" y="1573884"/>
            <a:ext cx="5874779" cy="4038719"/>
          </a:xfrm>
          <a:prstGeom prst="roundRect">
            <a:avLst/>
          </a:prstGeom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: 圆角 135">
            <a:extLst>
              <a:ext uri="{FF2B5EF4-FFF2-40B4-BE49-F238E27FC236}">
                <a16:creationId xmlns:a16="http://schemas.microsoft.com/office/drawing/2014/main" id="{914FECDE-161A-4A44-B327-439D9B5DF084}"/>
              </a:ext>
            </a:extLst>
          </p:cNvPr>
          <p:cNvSpPr/>
          <p:nvPr/>
        </p:nvSpPr>
        <p:spPr>
          <a:xfrm>
            <a:off x="1995331" y="1789267"/>
            <a:ext cx="4152700" cy="3589195"/>
          </a:xfrm>
          <a:prstGeom prst="roundRect">
            <a:avLst/>
          </a:prstGeom>
          <a:ln>
            <a:prstDash val="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953CF6-FDBB-422C-9462-09C269A20C5B}"/>
              </a:ext>
            </a:extLst>
          </p:cNvPr>
          <p:cNvSpPr/>
          <p:nvPr/>
        </p:nvSpPr>
        <p:spPr>
          <a:xfrm>
            <a:off x="740778" y="2103120"/>
            <a:ext cx="1062784" cy="3146576"/>
          </a:xfrm>
          <a:prstGeom prst="roundRect">
            <a:avLst/>
          </a:prstGeom>
          <a:ln>
            <a:solidFill>
              <a:srgbClr val="70AD47"/>
            </a:solidFill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AD47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10210" y="376553"/>
            <a:ext cx="1926168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数据访问</a:t>
            </a: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2</a:t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DC8C4DE5-69A3-4378-BF85-210E5D7D7A6E}"/>
              </a:ext>
            </a:extLst>
          </p:cNvPr>
          <p:cNvSpPr/>
          <p:nvPr/>
        </p:nvSpPr>
        <p:spPr>
          <a:xfrm>
            <a:off x="225425" y="6366783"/>
            <a:ext cx="1951816" cy="402674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数据块的查找</a:t>
            </a:r>
          </a:p>
        </p:txBody>
      </p:sp>
      <p:sp>
        <p:nvSpPr>
          <p:cNvPr id="58" name="标题 1">
            <a:extLst>
              <a:ext uri="{FF2B5EF4-FFF2-40B4-BE49-F238E27FC236}">
                <a16:creationId xmlns:a16="http://schemas.microsoft.com/office/drawing/2014/main" id="{8930F2FF-E6E5-40C0-B16A-FC48D3504D5B}"/>
              </a:ext>
            </a:extLst>
          </p:cNvPr>
          <p:cNvSpPr txBox="1">
            <a:spLocks/>
          </p:cNvSpPr>
          <p:nvPr/>
        </p:nvSpPr>
        <p:spPr>
          <a:xfrm>
            <a:off x="2646660" y="969583"/>
            <a:ext cx="1208480" cy="57064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u="none" strike="noStrike" kern="1200" cap="none" spc="0" normalizeH="0">
                <a:solidFill>
                  <a:schemeClr val="tx1"/>
                </a:solidFill>
                <a:uFillTx/>
                <a:latin typeface="Verdana" panose="020B0604030504040204" charset="0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16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altLang="zh-CN" sz="1600" b="1" dirty="0">
                <a:solidFill>
                  <a:srgbClr val="ED7D31"/>
                </a:solidFill>
                <a:latin typeface="+mn-lt"/>
              </a:rPr>
              <a:t>Partition </a:t>
            </a:r>
            <a:endParaRPr lang="zh-CN" altLang="en-US" sz="1600" b="1" dirty="0">
              <a:solidFill>
                <a:srgbClr val="ED7D31"/>
              </a:solidFill>
              <a:latin typeface="+mn-lt"/>
            </a:endParaRPr>
          </a:p>
        </p:txBody>
      </p:sp>
      <p:sp>
        <p:nvSpPr>
          <p:cNvPr id="59" name="圆角矩形 3">
            <a:extLst>
              <a:ext uri="{FF2B5EF4-FFF2-40B4-BE49-F238E27FC236}">
                <a16:creationId xmlns:a16="http://schemas.microsoft.com/office/drawing/2014/main" id="{EC120C90-B0EA-42D6-BCB0-8E94BC4B000D}"/>
              </a:ext>
            </a:extLst>
          </p:cNvPr>
          <p:cNvSpPr/>
          <p:nvPr/>
        </p:nvSpPr>
        <p:spPr>
          <a:xfrm>
            <a:off x="884888" y="3333006"/>
            <a:ext cx="748476" cy="439596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bucket</a:t>
            </a:r>
          </a:p>
        </p:txBody>
      </p:sp>
      <p:sp>
        <p:nvSpPr>
          <p:cNvPr id="60" name="圆角矩形 7">
            <a:extLst>
              <a:ext uri="{FF2B5EF4-FFF2-40B4-BE49-F238E27FC236}">
                <a16:creationId xmlns:a16="http://schemas.microsoft.com/office/drawing/2014/main" id="{9136C4B2-D88F-4BBD-9A5A-B22BC90AB2A4}"/>
              </a:ext>
            </a:extLst>
          </p:cNvPr>
          <p:cNvSpPr/>
          <p:nvPr/>
        </p:nvSpPr>
        <p:spPr>
          <a:xfrm>
            <a:off x="2317938" y="3344195"/>
            <a:ext cx="932962" cy="42250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current</a:t>
            </a:r>
          </a:p>
          <a:p>
            <a:pPr algn="ctr"/>
            <a:r>
              <a:rPr lang="en-US" altLang="zh-CN" sz="1000" dirty="0"/>
              <a:t>block(x-y)</a:t>
            </a:r>
          </a:p>
          <a:p>
            <a:pPr algn="ctr"/>
            <a:endParaRPr lang="zh-CN" altLang="en-US" sz="1000" dirty="0"/>
          </a:p>
        </p:txBody>
      </p:sp>
      <p:sp>
        <p:nvSpPr>
          <p:cNvPr id="61" name="圆角矩形 10">
            <a:extLst>
              <a:ext uri="{FF2B5EF4-FFF2-40B4-BE49-F238E27FC236}">
                <a16:creationId xmlns:a16="http://schemas.microsoft.com/office/drawing/2014/main" id="{0C5BEB52-56C4-4B25-AACB-64E7D412639D}"/>
              </a:ext>
            </a:extLst>
          </p:cNvPr>
          <p:cNvSpPr/>
          <p:nvPr/>
        </p:nvSpPr>
        <p:spPr>
          <a:xfrm>
            <a:off x="3586899" y="3340026"/>
            <a:ext cx="932962" cy="42250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current</a:t>
            </a:r>
          </a:p>
          <a:p>
            <a:pPr algn="ctr"/>
            <a:r>
              <a:rPr lang="en-US" altLang="zh-CN" sz="1000" dirty="0"/>
              <a:t>block(a-b)</a:t>
            </a:r>
          </a:p>
          <a:p>
            <a:pPr algn="ctr"/>
            <a:endParaRPr lang="zh-CN" altLang="en-US" sz="1000" dirty="0"/>
          </a:p>
        </p:txBody>
      </p:sp>
      <p:sp>
        <p:nvSpPr>
          <p:cNvPr id="62" name="圆角矩形 11">
            <a:extLst>
              <a:ext uri="{FF2B5EF4-FFF2-40B4-BE49-F238E27FC236}">
                <a16:creationId xmlns:a16="http://schemas.microsoft.com/office/drawing/2014/main" id="{CEB31380-3F50-4E00-BC1F-BC8D11866B27}"/>
              </a:ext>
            </a:extLst>
          </p:cNvPr>
          <p:cNvSpPr/>
          <p:nvPr/>
        </p:nvSpPr>
        <p:spPr>
          <a:xfrm>
            <a:off x="4952418" y="3340197"/>
            <a:ext cx="932962" cy="422506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CR</a:t>
            </a:r>
          </a:p>
          <a:p>
            <a:pPr algn="ctr"/>
            <a:r>
              <a:rPr lang="en-US" altLang="zh-CN" sz="1000" dirty="0"/>
              <a:t>block(m-n)</a:t>
            </a:r>
          </a:p>
          <a:p>
            <a:pPr algn="ctr"/>
            <a:endParaRPr lang="zh-CN" altLang="en-US" sz="1000" dirty="0"/>
          </a:p>
        </p:txBody>
      </p:sp>
      <p:sp>
        <p:nvSpPr>
          <p:cNvPr id="64" name="圆角矩形 13">
            <a:extLst>
              <a:ext uri="{FF2B5EF4-FFF2-40B4-BE49-F238E27FC236}">
                <a16:creationId xmlns:a16="http://schemas.microsoft.com/office/drawing/2014/main" id="{5AFD125D-798D-4572-B5E5-38C95880AC98}"/>
              </a:ext>
            </a:extLst>
          </p:cNvPr>
          <p:cNvSpPr/>
          <p:nvPr/>
        </p:nvSpPr>
        <p:spPr>
          <a:xfrm>
            <a:off x="2311453" y="1938196"/>
            <a:ext cx="932962" cy="443939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CR</a:t>
            </a:r>
          </a:p>
          <a:p>
            <a:pPr algn="ctr"/>
            <a:r>
              <a:rPr lang="en-US" altLang="zh-CN" sz="1000" dirty="0"/>
              <a:t>block(x-y)</a:t>
            </a:r>
          </a:p>
          <a:p>
            <a:pPr algn="ctr"/>
            <a:endParaRPr lang="zh-CN" altLang="en-US" sz="1000" dirty="0"/>
          </a:p>
        </p:txBody>
      </p:sp>
      <p:sp>
        <p:nvSpPr>
          <p:cNvPr id="66" name="圆角矩形 15">
            <a:extLst>
              <a:ext uri="{FF2B5EF4-FFF2-40B4-BE49-F238E27FC236}">
                <a16:creationId xmlns:a16="http://schemas.microsoft.com/office/drawing/2014/main" id="{FCF868CD-7A6A-4A44-8744-CBE127E7B7ED}"/>
              </a:ext>
            </a:extLst>
          </p:cNvPr>
          <p:cNvSpPr/>
          <p:nvPr/>
        </p:nvSpPr>
        <p:spPr>
          <a:xfrm>
            <a:off x="4942900" y="2584883"/>
            <a:ext cx="932962" cy="42250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current</a:t>
            </a:r>
          </a:p>
          <a:p>
            <a:pPr algn="ctr"/>
            <a:r>
              <a:rPr lang="en-US" altLang="zh-CN" sz="1000" dirty="0"/>
              <a:t>block(m-n)</a:t>
            </a:r>
          </a:p>
          <a:p>
            <a:pPr algn="ctr"/>
            <a:endParaRPr lang="zh-CN" altLang="en-US" sz="1000" dirty="0"/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9647BEA1-8D8F-4CDB-AC7A-A705D039FF21}"/>
              </a:ext>
            </a:extLst>
          </p:cNvPr>
          <p:cNvCxnSpPr>
            <a:cxnSpLocks/>
            <a:stCxn id="60" idx="0"/>
            <a:endCxn id="69" idx="2"/>
          </p:cNvCxnSpPr>
          <p:nvPr/>
        </p:nvCxnSpPr>
        <p:spPr>
          <a:xfrm flipH="1" flipV="1">
            <a:off x="2777934" y="3021656"/>
            <a:ext cx="6485" cy="3225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DFA95738-B3B4-4B77-90D7-C003ECED35A0}"/>
              </a:ext>
            </a:extLst>
          </p:cNvPr>
          <p:cNvCxnSpPr>
            <a:cxnSpLocks/>
            <a:stCxn id="69" idx="0"/>
            <a:endCxn id="64" idx="2"/>
          </p:cNvCxnSpPr>
          <p:nvPr/>
        </p:nvCxnSpPr>
        <p:spPr>
          <a:xfrm flipV="1">
            <a:off x="2777934" y="2382135"/>
            <a:ext cx="0" cy="2170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圆角矩形 19">
            <a:extLst>
              <a:ext uri="{FF2B5EF4-FFF2-40B4-BE49-F238E27FC236}">
                <a16:creationId xmlns:a16="http://schemas.microsoft.com/office/drawing/2014/main" id="{50FCC6C0-7E2F-4CC1-A633-97E80FD63F20}"/>
              </a:ext>
            </a:extLst>
          </p:cNvPr>
          <p:cNvSpPr/>
          <p:nvPr/>
        </p:nvSpPr>
        <p:spPr>
          <a:xfrm>
            <a:off x="2311453" y="2599150"/>
            <a:ext cx="932962" cy="422506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CR</a:t>
            </a:r>
          </a:p>
          <a:p>
            <a:pPr algn="ctr"/>
            <a:r>
              <a:rPr lang="en-US" altLang="zh-CN" sz="1000" dirty="0"/>
              <a:t>block(x-y)</a:t>
            </a:r>
          </a:p>
          <a:p>
            <a:pPr algn="ctr"/>
            <a:endParaRPr lang="zh-CN" altLang="en-US" sz="1000" dirty="0"/>
          </a:p>
        </p:txBody>
      </p:sp>
      <p:sp>
        <p:nvSpPr>
          <p:cNvPr id="70" name="圆角矩形 20">
            <a:extLst>
              <a:ext uri="{FF2B5EF4-FFF2-40B4-BE49-F238E27FC236}">
                <a16:creationId xmlns:a16="http://schemas.microsoft.com/office/drawing/2014/main" id="{41103FAE-AE05-4A21-A694-B4F498E40BA1}"/>
              </a:ext>
            </a:extLst>
          </p:cNvPr>
          <p:cNvSpPr/>
          <p:nvPr/>
        </p:nvSpPr>
        <p:spPr>
          <a:xfrm>
            <a:off x="3586899" y="2588118"/>
            <a:ext cx="932962" cy="422506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CR</a:t>
            </a:r>
          </a:p>
          <a:p>
            <a:pPr algn="ctr"/>
            <a:r>
              <a:rPr lang="en-US" altLang="zh-CN" sz="1000" dirty="0"/>
              <a:t>block(a-b)</a:t>
            </a:r>
          </a:p>
          <a:p>
            <a:pPr algn="ctr"/>
            <a:endParaRPr lang="zh-CN" altLang="en-US" sz="1000" dirty="0"/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B9B2407B-F219-49C8-AA14-BF744255782F}"/>
              </a:ext>
            </a:extLst>
          </p:cNvPr>
          <p:cNvCxnSpPr>
            <a:cxnSpLocks/>
            <a:stCxn id="61" idx="0"/>
            <a:endCxn id="70" idx="2"/>
          </p:cNvCxnSpPr>
          <p:nvPr/>
        </p:nvCxnSpPr>
        <p:spPr>
          <a:xfrm flipV="1">
            <a:off x="4053380" y="3010624"/>
            <a:ext cx="0" cy="3294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AB8EECFE-AC5E-4FB9-8753-BF44838391A6}"/>
              </a:ext>
            </a:extLst>
          </p:cNvPr>
          <p:cNvCxnSpPr>
            <a:cxnSpLocks/>
            <a:stCxn id="62" idx="0"/>
            <a:endCxn id="66" idx="2"/>
          </p:cNvCxnSpPr>
          <p:nvPr/>
        </p:nvCxnSpPr>
        <p:spPr>
          <a:xfrm flipH="1" flipV="1">
            <a:off x="5409381" y="3007389"/>
            <a:ext cx="9518" cy="3328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圆角矩形 24">
            <a:extLst>
              <a:ext uri="{FF2B5EF4-FFF2-40B4-BE49-F238E27FC236}">
                <a16:creationId xmlns:a16="http://schemas.microsoft.com/office/drawing/2014/main" id="{AA7063A6-F380-420F-A152-5CB825E32BE5}"/>
              </a:ext>
            </a:extLst>
          </p:cNvPr>
          <p:cNvSpPr/>
          <p:nvPr/>
        </p:nvSpPr>
        <p:spPr>
          <a:xfrm>
            <a:off x="4942900" y="1959629"/>
            <a:ext cx="932962" cy="422506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CR</a:t>
            </a:r>
          </a:p>
          <a:p>
            <a:pPr algn="ctr"/>
            <a:r>
              <a:rPr lang="en-US" altLang="zh-CN" sz="1000" dirty="0"/>
              <a:t>block(m-n)</a:t>
            </a:r>
          </a:p>
          <a:p>
            <a:pPr algn="ctr"/>
            <a:endParaRPr lang="zh-CN" altLang="en-US" sz="1000" dirty="0"/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C8ED84FE-E28B-4684-BB9D-DD499EA768FA}"/>
              </a:ext>
            </a:extLst>
          </p:cNvPr>
          <p:cNvCxnSpPr>
            <a:cxnSpLocks/>
            <a:stCxn id="66" idx="0"/>
            <a:endCxn id="73" idx="2"/>
          </p:cNvCxnSpPr>
          <p:nvPr/>
        </p:nvCxnSpPr>
        <p:spPr>
          <a:xfrm flipV="1">
            <a:off x="5409381" y="2382135"/>
            <a:ext cx="0" cy="2027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CAA1D975-AD55-49B0-8CDF-D8D895E6729C}"/>
              </a:ext>
            </a:extLst>
          </p:cNvPr>
          <p:cNvCxnSpPr>
            <a:cxnSpLocks/>
            <a:stCxn id="59" idx="3"/>
            <a:endCxn id="60" idx="1"/>
          </p:cNvCxnSpPr>
          <p:nvPr/>
        </p:nvCxnSpPr>
        <p:spPr>
          <a:xfrm>
            <a:off x="1633364" y="3552804"/>
            <a:ext cx="684574" cy="26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2ABAAF25-D7DF-4CA5-ABA7-10C48F9A167E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 flipV="1">
            <a:off x="3250900" y="3551279"/>
            <a:ext cx="335999" cy="41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5C1EE2E6-8A79-4F54-AF58-AA73148548F0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>
            <a:off x="4519861" y="3551279"/>
            <a:ext cx="432557" cy="17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圆角矩形 29">
            <a:extLst>
              <a:ext uri="{FF2B5EF4-FFF2-40B4-BE49-F238E27FC236}">
                <a16:creationId xmlns:a16="http://schemas.microsoft.com/office/drawing/2014/main" id="{9E1F7862-F012-41D7-9FFD-6247777BAD3C}"/>
              </a:ext>
            </a:extLst>
          </p:cNvPr>
          <p:cNvSpPr/>
          <p:nvPr/>
        </p:nvSpPr>
        <p:spPr>
          <a:xfrm>
            <a:off x="894946" y="3984423"/>
            <a:ext cx="748476" cy="467901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bucket</a:t>
            </a:r>
          </a:p>
        </p:txBody>
      </p:sp>
      <p:sp>
        <p:nvSpPr>
          <p:cNvPr id="79" name="圆角矩形 30">
            <a:extLst>
              <a:ext uri="{FF2B5EF4-FFF2-40B4-BE49-F238E27FC236}">
                <a16:creationId xmlns:a16="http://schemas.microsoft.com/office/drawing/2014/main" id="{8E236813-43A7-45AE-9075-DDCC1F3C1740}"/>
              </a:ext>
            </a:extLst>
          </p:cNvPr>
          <p:cNvSpPr/>
          <p:nvPr/>
        </p:nvSpPr>
        <p:spPr>
          <a:xfrm>
            <a:off x="2344310" y="4006173"/>
            <a:ext cx="932962" cy="42250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block(j-k)</a:t>
            </a:r>
          </a:p>
          <a:p>
            <a:pPr algn="ctr"/>
            <a:endParaRPr lang="zh-CN" altLang="en-US" sz="1000" dirty="0"/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5A68465C-581D-4F7D-BC84-D06C569A0766}"/>
              </a:ext>
            </a:extLst>
          </p:cNvPr>
          <p:cNvCxnSpPr>
            <a:cxnSpLocks/>
            <a:stCxn id="78" idx="3"/>
            <a:endCxn id="79" idx="1"/>
          </p:cNvCxnSpPr>
          <p:nvPr/>
        </p:nvCxnSpPr>
        <p:spPr>
          <a:xfrm flipV="1">
            <a:off x="1643422" y="4217426"/>
            <a:ext cx="700888" cy="9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圆角矩形 42">
            <a:extLst>
              <a:ext uri="{FF2B5EF4-FFF2-40B4-BE49-F238E27FC236}">
                <a16:creationId xmlns:a16="http://schemas.microsoft.com/office/drawing/2014/main" id="{1895A056-D43E-4EA3-9F9B-7D7CF861F773}"/>
              </a:ext>
            </a:extLst>
          </p:cNvPr>
          <p:cNvSpPr/>
          <p:nvPr/>
        </p:nvSpPr>
        <p:spPr>
          <a:xfrm>
            <a:off x="894946" y="4680782"/>
            <a:ext cx="748476" cy="467901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bucket</a:t>
            </a:r>
          </a:p>
        </p:txBody>
      </p:sp>
      <p:sp>
        <p:nvSpPr>
          <p:cNvPr id="86" name="圆角矩形 43">
            <a:extLst>
              <a:ext uri="{FF2B5EF4-FFF2-40B4-BE49-F238E27FC236}">
                <a16:creationId xmlns:a16="http://schemas.microsoft.com/office/drawing/2014/main" id="{6E23D09F-8A37-443B-A7C1-67FA719FFE6E}"/>
              </a:ext>
            </a:extLst>
          </p:cNvPr>
          <p:cNvSpPr/>
          <p:nvPr/>
        </p:nvSpPr>
        <p:spPr>
          <a:xfrm>
            <a:off x="2344622" y="4708114"/>
            <a:ext cx="932962" cy="42250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block(a-c)</a:t>
            </a:r>
          </a:p>
          <a:p>
            <a:pPr algn="ctr"/>
            <a:endParaRPr lang="zh-CN" altLang="en-US" sz="1000" dirty="0"/>
          </a:p>
        </p:txBody>
      </p:sp>
      <p:sp>
        <p:nvSpPr>
          <p:cNvPr id="87" name="圆角矩形 44">
            <a:extLst>
              <a:ext uri="{FF2B5EF4-FFF2-40B4-BE49-F238E27FC236}">
                <a16:creationId xmlns:a16="http://schemas.microsoft.com/office/drawing/2014/main" id="{1A58F455-7882-49BA-BC17-1655C6ED5739}"/>
              </a:ext>
            </a:extLst>
          </p:cNvPr>
          <p:cNvSpPr/>
          <p:nvPr/>
        </p:nvSpPr>
        <p:spPr>
          <a:xfrm>
            <a:off x="3591599" y="4703891"/>
            <a:ext cx="932962" cy="42250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block(c-e)</a:t>
            </a:r>
          </a:p>
          <a:p>
            <a:pPr algn="ctr"/>
            <a:endParaRPr lang="zh-CN" altLang="en-US" sz="1000" dirty="0"/>
          </a:p>
        </p:txBody>
      </p:sp>
      <p:sp>
        <p:nvSpPr>
          <p:cNvPr id="88" name="圆角矩形 45">
            <a:extLst>
              <a:ext uri="{FF2B5EF4-FFF2-40B4-BE49-F238E27FC236}">
                <a16:creationId xmlns:a16="http://schemas.microsoft.com/office/drawing/2014/main" id="{8C9F720E-271F-43B4-AE8F-11FFDCC899D7}"/>
              </a:ext>
            </a:extLst>
          </p:cNvPr>
          <p:cNvSpPr/>
          <p:nvPr/>
        </p:nvSpPr>
        <p:spPr>
          <a:xfrm>
            <a:off x="4973632" y="4703895"/>
            <a:ext cx="932962" cy="422506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block(k-m)</a:t>
            </a:r>
          </a:p>
          <a:p>
            <a:pPr algn="ctr"/>
            <a:endParaRPr lang="zh-CN" altLang="en-US" sz="1000" dirty="0"/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6CDD4A4B-A305-4B55-AD30-24D014097DBF}"/>
              </a:ext>
            </a:extLst>
          </p:cNvPr>
          <p:cNvCxnSpPr>
            <a:cxnSpLocks/>
            <a:stCxn id="85" idx="3"/>
            <a:endCxn id="86" idx="1"/>
          </p:cNvCxnSpPr>
          <p:nvPr/>
        </p:nvCxnSpPr>
        <p:spPr>
          <a:xfrm>
            <a:off x="1643422" y="4914733"/>
            <a:ext cx="701200" cy="46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3B3C62E3-9265-4468-8041-14AC65E8335C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 flipV="1">
            <a:off x="3277584" y="4915144"/>
            <a:ext cx="314015" cy="42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062C7DE8-472F-4FC2-B5DC-5B67B0BA364B}"/>
              </a:ext>
            </a:extLst>
          </p:cNvPr>
          <p:cNvCxnSpPr>
            <a:cxnSpLocks/>
            <a:stCxn id="87" idx="3"/>
            <a:endCxn id="88" idx="1"/>
          </p:cNvCxnSpPr>
          <p:nvPr/>
        </p:nvCxnSpPr>
        <p:spPr>
          <a:xfrm>
            <a:off x="4524561" y="4915144"/>
            <a:ext cx="449071" cy="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标题 1">
            <a:extLst>
              <a:ext uri="{FF2B5EF4-FFF2-40B4-BE49-F238E27FC236}">
                <a16:creationId xmlns:a16="http://schemas.microsoft.com/office/drawing/2014/main" id="{0388F4F5-FEFA-4B9E-AB02-7B2276A8A2E8}"/>
              </a:ext>
            </a:extLst>
          </p:cNvPr>
          <p:cNvSpPr txBox="1">
            <a:spLocks/>
          </p:cNvSpPr>
          <p:nvPr/>
        </p:nvSpPr>
        <p:spPr>
          <a:xfrm>
            <a:off x="866393" y="2487160"/>
            <a:ext cx="952974" cy="51483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u="none" strike="noStrike" kern="1200" cap="none" spc="0" normalizeH="0">
                <a:solidFill>
                  <a:schemeClr val="tx1"/>
                </a:solidFill>
                <a:uFillTx/>
                <a:latin typeface="Verdana" panose="020B0604030504040204" charset="0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1400" b="1" dirty="0">
                <a:solidFill>
                  <a:srgbClr val="70AD47"/>
                </a:solidFill>
                <a:latin typeface="+mn-lt"/>
              </a:rPr>
              <a:t>Hash</a:t>
            </a:r>
            <a:r>
              <a:rPr lang="en-US" altLang="zh-CN" sz="1600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r>
              <a:rPr lang="en-US" altLang="zh-CN" sz="1400" b="1" dirty="0">
                <a:solidFill>
                  <a:srgbClr val="70AD47"/>
                </a:solidFill>
                <a:latin typeface="+mn-lt"/>
              </a:rPr>
              <a:t>Bucket</a:t>
            </a:r>
            <a:r>
              <a:rPr lang="en-US" altLang="zh-CN" sz="1400" dirty="0">
                <a:solidFill>
                  <a:srgbClr val="70AD47"/>
                </a:solidFill>
                <a:latin typeface="+mn-lt"/>
              </a:rPr>
              <a:t> </a:t>
            </a:r>
            <a:endParaRPr lang="zh-CN" altLang="en-US" sz="1400" dirty="0">
              <a:solidFill>
                <a:srgbClr val="70AD47"/>
              </a:solidFill>
              <a:latin typeface="+mn-lt"/>
            </a:endParaRPr>
          </a:p>
        </p:txBody>
      </p:sp>
      <p:sp>
        <p:nvSpPr>
          <p:cNvPr id="133" name="标题 1">
            <a:extLst>
              <a:ext uri="{FF2B5EF4-FFF2-40B4-BE49-F238E27FC236}">
                <a16:creationId xmlns:a16="http://schemas.microsoft.com/office/drawing/2014/main" id="{A7C58504-3BCD-4BB0-99B6-241092454C59}"/>
              </a:ext>
            </a:extLst>
          </p:cNvPr>
          <p:cNvSpPr txBox="1">
            <a:spLocks/>
          </p:cNvSpPr>
          <p:nvPr/>
        </p:nvSpPr>
        <p:spPr>
          <a:xfrm>
            <a:off x="3660343" y="1970155"/>
            <a:ext cx="1035482" cy="78768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u="none" strike="noStrike" kern="1200" cap="none" spc="0" normalizeH="0">
                <a:solidFill>
                  <a:schemeClr val="tx1"/>
                </a:solidFill>
                <a:uFillTx/>
                <a:latin typeface="Verdana" panose="020B0604030504040204" charset="0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1400" b="1" dirty="0">
                <a:solidFill>
                  <a:srgbClr val="0070C0"/>
                </a:solidFill>
                <a:latin typeface="+mn-lt"/>
              </a:rPr>
              <a:t>Hash Chain</a:t>
            </a:r>
            <a:endParaRPr lang="zh-CN" altLang="en-US" sz="1400" b="1" dirty="0">
              <a:solidFill>
                <a:srgbClr val="0070C0"/>
              </a:solidFill>
              <a:latin typeface="+mn-lt"/>
            </a:endParaRPr>
          </a:p>
        </p:txBody>
      </p:sp>
      <p:graphicFrame>
        <p:nvGraphicFramePr>
          <p:cNvPr id="143" name="表格 143">
            <a:extLst>
              <a:ext uri="{FF2B5EF4-FFF2-40B4-BE49-F238E27FC236}">
                <a16:creationId xmlns:a16="http://schemas.microsoft.com/office/drawing/2014/main" id="{64513A0B-CD28-4EA4-8D5F-4F6C1CD0C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934500"/>
              </p:ext>
            </p:extLst>
          </p:nvPr>
        </p:nvGraphicFramePr>
        <p:xfrm>
          <a:off x="6971583" y="1573884"/>
          <a:ext cx="3958968" cy="3983856"/>
        </p:xfrm>
        <a:graphic>
          <a:graphicData uri="http://schemas.openxmlformats.org/drawingml/2006/table">
            <a:tbl>
              <a:tblPr bandRow="1">
                <a:tableStyleId>{3C2FFA5D-87B4-456A-9821-1D502468CF0F}</a:tableStyleId>
              </a:tblPr>
              <a:tblGrid>
                <a:gridCol w="494871">
                  <a:extLst>
                    <a:ext uri="{9D8B030D-6E8A-4147-A177-3AD203B41FA5}">
                      <a16:colId xmlns:a16="http://schemas.microsoft.com/office/drawing/2014/main" val="1024475990"/>
                    </a:ext>
                  </a:extLst>
                </a:gridCol>
                <a:gridCol w="494871">
                  <a:extLst>
                    <a:ext uri="{9D8B030D-6E8A-4147-A177-3AD203B41FA5}">
                      <a16:colId xmlns:a16="http://schemas.microsoft.com/office/drawing/2014/main" val="1568546878"/>
                    </a:ext>
                  </a:extLst>
                </a:gridCol>
                <a:gridCol w="494871">
                  <a:extLst>
                    <a:ext uri="{9D8B030D-6E8A-4147-A177-3AD203B41FA5}">
                      <a16:colId xmlns:a16="http://schemas.microsoft.com/office/drawing/2014/main" val="67352209"/>
                    </a:ext>
                  </a:extLst>
                </a:gridCol>
                <a:gridCol w="494871">
                  <a:extLst>
                    <a:ext uri="{9D8B030D-6E8A-4147-A177-3AD203B41FA5}">
                      <a16:colId xmlns:a16="http://schemas.microsoft.com/office/drawing/2014/main" val="3824304130"/>
                    </a:ext>
                  </a:extLst>
                </a:gridCol>
                <a:gridCol w="494871">
                  <a:extLst>
                    <a:ext uri="{9D8B030D-6E8A-4147-A177-3AD203B41FA5}">
                      <a16:colId xmlns:a16="http://schemas.microsoft.com/office/drawing/2014/main" val="4113732658"/>
                    </a:ext>
                  </a:extLst>
                </a:gridCol>
                <a:gridCol w="494871">
                  <a:extLst>
                    <a:ext uri="{9D8B030D-6E8A-4147-A177-3AD203B41FA5}">
                      <a16:colId xmlns:a16="http://schemas.microsoft.com/office/drawing/2014/main" val="1106226000"/>
                    </a:ext>
                  </a:extLst>
                </a:gridCol>
                <a:gridCol w="494871">
                  <a:extLst>
                    <a:ext uri="{9D8B030D-6E8A-4147-A177-3AD203B41FA5}">
                      <a16:colId xmlns:a16="http://schemas.microsoft.com/office/drawing/2014/main" val="2010887313"/>
                    </a:ext>
                  </a:extLst>
                </a:gridCol>
                <a:gridCol w="494871">
                  <a:extLst>
                    <a:ext uri="{9D8B030D-6E8A-4147-A177-3AD203B41FA5}">
                      <a16:colId xmlns:a16="http://schemas.microsoft.com/office/drawing/2014/main" val="3611593532"/>
                    </a:ext>
                  </a:extLst>
                </a:gridCol>
              </a:tblGrid>
              <a:tr h="497982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08F4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687057"/>
                  </a:ext>
                </a:extLst>
              </a:tr>
              <a:tr h="497982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219467"/>
                  </a:ext>
                </a:extLst>
              </a:tr>
              <a:tr h="497982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kern="12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08F4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091790"/>
                  </a:ext>
                </a:extLst>
              </a:tr>
              <a:tr h="497982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rgbClr val="F08F4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696774"/>
                  </a:ext>
                </a:extLst>
              </a:tr>
              <a:tr h="497982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246960"/>
                  </a:ext>
                </a:extLst>
              </a:tr>
              <a:tr h="497982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257272"/>
                  </a:ext>
                </a:extLst>
              </a:tr>
              <a:tr h="497982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rgbClr val="F08F4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rgbClr val="F08F4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38529"/>
                  </a:ext>
                </a:extLst>
              </a:tr>
              <a:tr h="497982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72505"/>
                  </a:ext>
                </a:extLst>
              </a:tr>
            </a:tbl>
          </a:graphicData>
        </a:graphic>
      </p:graphicFrame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22EDF49B-AEB7-4B84-8390-22AA71A1CE27}"/>
              </a:ext>
            </a:extLst>
          </p:cNvPr>
          <p:cNvCxnSpPr>
            <a:cxnSpLocks/>
          </p:cNvCxnSpPr>
          <p:nvPr/>
        </p:nvCxnSpPr>
        <p:spPr>
          <a:xfrm flipV="1">
            <a:off x="5725236" y="1789267"/>
            <a:ext cx="3514298" cy="9685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747010E7-C8B8-4CBF-A4E5-EBADA00FF120}"/>
              </a:ext>
            </a:extLst>
          </p:cNvPr>
          <p:cNvCxnSpPr>
            <a:cxnSpLocks/>
          </p:cNvCxnSpPr>
          <p:nvPr/>
        </p:nvCxnSpPr>
        <p:spPr>
          <a:xfrm flipV="1">
            <a:off x="2906973" y="3306721"/>
            <a:ext cx="6250675" cy="1504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C6FB0C6D-393B-49D3-AB9A-A1A2E812B683}"/>
              </a:ext>
            </a:extLst>
          </p:cNvPr>
          <p:cNvCxnSpPr>
            <a:cxnSpLocks/>
          </p:cNvCxnSpPr>
          <p:nvPr/>
        </p:nvCxnSpPr>
        <p:spPr>
          <a:xfrm>
            <a:off x="4367284" y="3671248"/>
            <a:ext cx="5800298" cy="1139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F5FFEABB-74F5-4F4D-8403-ECC8BD2F7D3D}"/>
              </a:ext>
            </a:extLst>
          </p:cNvPr>
          <p:cNvCxnSpPr>
            <a:cxnSpLocks/>
          </p:cNvCxnSpPr>
          <p:nvPr/>
        </p:nvCxnSpPr>
        <p:spPr>
          <a:xfrm flipV="1">
            <a:off x="4367284" y="2854312"/>
            <a:ext cx="3903259" cy="1956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64" name="标题 1">
            <a:extLst>
              <a:ext uri="{FF2B5EF4-FFF2-40B4-BE49-F238E27FC236}">
                <a16:creationId xmlns:a16="http://schemas.microsoft.com/office/drawing/2014/main" id="{363D3346-CBE3-4AB1-A186-0CD69AF623BD}"/>
              </a:ext>
            </a:extLst>
          </p:cNvPr>
          <p:cNvSpPr txBox="1">
            <a:spLocks/>
          </p:cNvSpPr>
          <p:nvPr/>
        </p:nvSpPr>
        <p:spPr>
          <a:xfrm>
            <a:off x="8505346" y="1180323"/>
            <a:ext cx="1611426" cy="3044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u="none" strike="noStrike" kern="1200" cap="none" spc="0" normalizeH="0">
                <a:solidFill>
                  <a:schemeClr val="tx1"/>
                </a:solidFill>
                <a:uFillTx/>
                <a:latin typeface="Verdana" panose="020B0604030504040204" charset="0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1400" b="1" dirty="0">
                <a:solidFill>
                  <a:srgbClr val="0070C0"/>
                </a:solidFill>
                <a:latin typeface="+mn-lt"/>
              </a:rPr>
              <a:t>Data Block</a:t>
            </a:r>
            <a:endParaRPr lang="zh-CN" altLang="en-US" sz="1400" b="1" dirty="0">
              <a:solidFill>
                <a:srgbClr val="0070C0"/>
              </a:solidFill>
              <a:latin typeface="+mn-lt"/>
            </a:endParaRPr>
          </a:p>
        </p:txBody>
      </p: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7BFE3DBB-05DC-4582-B155-FAC6ECD5010D}"/>
              </a:ext>
            </a:extLst>
          </p:cNvPr>
          <p:cNvCxnSpPr>
            <a:cxnSpLocks/>
          </p:cNvCxnSpPr>
          <p:nvPr/>
        </p:nvCxnSpPr>
        <p:spPr>
          <a:xfrm>
            <a:off x="2906973" y="4333164"/>
            <a:ext cx="4781495" cy="477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525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1ED0A4D-19B0-4D0B-992B-5187EABA8F57}"/>
              </a:ext>
            </a:extLst>
          </p:cNvPr>
          <p:cNvSpPr/>
          <p:nvPr/>
        </p:nvSpPr>
        <p:spPr>
          <a:xfrm>
            <a:off x="449580" y="4933315"/>
            <a:ext cx="6812280" cy="1013953"/>
          </a:xfrm>
          <a:prstGeom prst="roundRect">
            <a:avLst/>
          </a:prstGeom>
          <a:ln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10210" y="376553"/>
            <a:ext cx="1926168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数据访问</a:t>
            </a: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3</a:t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DC8C4DE5-69A3-4378-BF85-210E5D7D7A6E}"/>
              </a:ext>
            </a:extLst>
          </p:cNvPr>
          <p:cNvSpPr/>
          <p:nvPr/>
        </p:nvSpPr>
        <p:spPr>
          <a:xfrm>
            <a:off x="225425" y="6366783"/>
            <a:ext cx="1951816" cy="402674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数据块的淘汰</a:t>
            </a:r>
          </a:p>
        </p:txBody>
      </p:sp>
      <p:sp>
        <p:nvSpPr>
          <p:cNvPr id="50" name="圆角矩形 9">
            <a:extLst>
              <a:ext uri="{FF2B5EF4-FFF2-40B4-BE49-F238E27FC236}">
                <a16:creationId xmlns:a16="http://schemas.microsoft.com/office/drawing/2014/main" id="{A41D9084-CF9B-453C-AFD5-9B57AD636857}"/>
              </a:ext>
            </a:extLst>
          </p:cNvPr>
          <p:cNvSpPr/>
          <p:nvPr/>
        </p:nvSpPr>
        <p:spPr>
          <a:xfrm>
            <a:off x="1139190" y="5143499"/>
            <a:ext cx="2545080" cy="439737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/>
          </a:p>
          <a:p>
            <a:pPr algn="ctr"/>
            <a:r>
              <a:rPr lang="en-US" altLang="zh-CN" sz="1200" dirty="0"/>
              <a:t>Young Area</a:t>
            </a:r>
          </a:p>
          <a:p>
            <a:pPr algn="ctr"/>
            <a:endParaRPr lang="zh-CN" altLang="en-US" sz="1200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45D9330-3C65-42CA-BCFC-BA1D718A52D0}"/>
              </a:ext>
            </a:extLst>
          </p:cNvPr>
          <p:cNvCxnSpPr>
            <a:cxnSpLocks/>
          </p:cNvCxnSpPr>
          <p:nvPr/>
        </p:nvCxnSpPr>
        <p:spPr>
          <a:xfrm flipV="1">
            <a:off x="510540" y="5568633"/>
            <a:ext cx="6667500" cy="22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标题 1">
            <a:extLst>
              <a:ext uri="{FF2B5EF4-FFF2-40B4-BE49-F238E27FC236}">
                <a16:creationId xmlns:a16="http://schemas.microsoft.com/office/drawing/2014/main" id="{B4F0FBF9-BED2-43A6-924C-7DB51AEA9C60}"/>
              </a:ext>
            </a:extLst>
          </p:cNvPr>
          <p:cNvSpPr txBox="1">
            <a:spLocks/>
          </p:cNvSpPr>
          <p:nvPr/>
        </p:nvSpPr>
        <p:spPr>
          <a:xfrm>
            <a:off x="6218524" y="5205096"/>
            <a:ext cx="1043336" cy="3170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u="none" strike="noStrike" kern="1200" cap="none" spc="0" normalizeH="0">
                <a:solidFill>
                  <a:schemeClr val="tx1"/>
                </a:solidFill>
                <a:uFillTx/>
                <a:latin typeface="Verdana" panose="020B0604030504040204" charset="0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16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altLang="zh-CN" sz="1600" b="1" dirty="0">
                <a:solidFill>
                  <a:srgbClr val="1D5487"/>
                </a:solidFill>
                <a:latin typeface="+mn-lt"/>
              </a:rPr>
              <a:t>Cold </a:t>
            </a:r>
            <a:endParaRPr lang="zh-CN" altLang="en-US" sz="1600" b="1" dirty="0">
              <a:solidFill>
                <a:srgbClr val="1D5487"/>
              </a:solidFill>
              <a:latin typeface="+mn-lt"/>
            </a:endParaRPr>
          </a:p>
        </p:txBody>
      </p:sp>
      <p:sp>
        <p:nvSpPr>
          <p:cNvPr id="80" name="标题 1">
            <a:extLst>
              <a:ext uri="{FF2B5EF4-FFF2-40B4-BE49-F238E27FC236}">
                <a16:creationId xmlns:a16="http://schemas.microsoft.com/office/drawing/2014/main" id="{C4F9E198-0E4E-4ECC-8A11-5EF141DE1089}"/>
              </a:ext>
            </a:extLst>
          </p:cNvPr>
          <p:cNvSpPr txBox="1">
            <a:spLocks/>
          </p:cNvSpPr>
          <p:nvPr/>
        </p:nvSpPr>
        <p:spPr>
          <a:xfrm>
            <a:off x="510540" y="5205486"/>
            <a:ext cx="1043336" cy="3170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u="none" strike="noStrike" kern="1200" cap="none" spc="0" normalizeH="0">
                <a:solidFill>
                  <a:schemeClr val="tx1"/>
                </a:solidFill>
                <a:uFillTx/>
                <a:latin typeface="Verdana" panose="020B0604030504040204" charset="0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1600" b="1" dirty="0">
                <a:solidFill>
                  <a:srgbClr val="ED7D31"/>
                </a:solidFill>
                <a:latin typeface="+mn-lt"/>
              </a:rPr>
              <a:t>Hot</a:t>
            </a:r>
            <a:endParaRPr lang="zh-CN" altLang="en-US" sz="1600" b="1" dirty="0">
              <a:solidFill>
                <a:srgbClr val="ED7D31"/>
              </a:solidFill>
              <a:latin typeface="+mn-lt"/>
            </a:endParaRPr>
          </a:p>
        </p:txBody>
      </p:sp>
      <p:sp>
        <p:nvSpPr>
          <p:cNvPr id="84" name="标题 1">
            <a:extLst>
              <a:ext uri="{FF2B5EF4-FFF2-40B4-BE49-F238E27FC236}">
                <a16:creationId xmlns:a16="http://schemas.microsoft.com/office/drawing/2014/main" id="{AD374A62-D61C-48D1-8CD6-66A103CB2EF8}"/>
              </a:ext>
            </a:extLst>
          </p:cNvPr>
          <p:cNvSpPr txBox="1">
            <a:spLocks/>
          </p:cNvSpPr>
          <p:nvPr/>
        </p:nvSpPr>
        <p:spPr>
          <a:xfrm>
            <a:off x="3209521" y="5657613"/>
            <a:ext cx="1106978" cy="28965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u="none" strike="noStrike" kern="1200" cap="none" spc="0" normalizeH="0">
                <a:solidFill>
                  <a:schemeClr val="tx1"/>
                </a:solidFill>
                <a:uFillTx/>
                <a:latin typeface="Verdana" panose="020B0604030504040204" charset="0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1400" b="1" dirty="0">
                <a:solidFill>
                  <a:srgbClr val="70AD47"/>
                </a:solidFill>
                <a:latin typeface="+mn-lt"/>
              </a:rPr>
              <a:t>LRU List</a:t>
            </a:r>
            <a:r>
              <a:rPr lang="en-US" altLang="zh-CN" sz="16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altLang="zh-CN" sz="1400" dirty="0">
                <a:solidFill>
                  <a:srgbClr val="70AD47"/>
                </a:solidFill>
                <a:latin typeface="+mn-lt"/>
              </a:rPr>
              <a:t> </a:t>
            </a:r>
            <a:endParaRPr lang="zh-CN" altLang="en-US" sz="1400" dirty="0">
              <a:solidFill>
                <a:srgbClr val="70AD47"/>
              </a:solidFill>
              <a:latin typeface="+mn-lt"/>
            </a:endParaRPr>
          </a:p>
        </p:txBody>
      </p:sp>
      <p:sp>
        <p:nvSpPr>
          <p:cNvPr id="48" name="圆角矩形 6">
            <a:extLst>
              <a:ext uri="{FF2B5EF4-FFF2-40B4-BE49-F238E27FC236}">
                <a16:creationId xmlns:a16="http://schemas.microsoft.com/office/drawing/2014/main" id="{E46D0844-FD48-4E41-B5D1-D8D0E20F0320}"/>
              </a:ext>
            </a:extLst>
          </p:cNvPr>
          <p:cNvSpPr/>
          <p:nvPr/>
        </p:nvSpPr>
        <p:spPr>
          <a:xfrm>
            <a:off x="3684270" y="5143499"/>
            <a:ext cx="2545080" cy="439737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Old Area</a:t>
            </a:r>
          </a:p>
        </p:txBody>
      </p:sp>
      <p:sp>
        <p:nvSpPr>
          <p:cNvPr id="81" name="标题 1">
            <a:extLst>
              <a:ext uri="{FF2B5EF4-FFF2-40B4-BE49-F238E27FC236}">
                <a16:creationId xmlns:a16="http://schemas.microsoft.com/office/drawing/2014/main" id="{9A8AFC66-B037-488C-AF0B-44E71F16519D}"/>
              </a:ext>
            </a:extLst>
          </p:cNvPr>
          <p:cNvSpPr txBox="1">
            <a:spLocks/>
          </p:cNvSpPr>
          <p:nvPr/>
        </p:nvSpPr>
        <p:spPr>
          <a:xfrm>
            <a:off x="3391806" y="5205096"/>
            <a:ext cx="1043336" cy="3170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u="none" strike="noStrike" kern="1200" cap="none" spc="0" normalizeH="0">
                <a:solidFill>
                  <a:schemeClr val="tx1"/>
                </a:solidFill>
                <a:uFillTx/>
                <a:latin typeface="Verdana" panose="020B0604030504040204" charset="0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1600" b="1" dirty="0">
                <a:solidFill>
                  <a:schemeClr val="bg1"/>
                </a:solidFill>
                <a:latin typeface="+mn-lt"/>
              </a:rPr>
              <a:t>Old</a:t>
            </a:r>
            <a:endParaRPr lang="zh-CN" altLang="en-US" sz="1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1A3A1A91-5E1D-47D3-85C9-CFD4D2FEC3B2}"/>
              </a:ext>
            </a:extLst>
          </p:cNvPr>
          <p:cNvSpPr/>
          <p:nvPr/>
        </p:nvSpPr>
        <p:spPr>
          <a:xfrm>
            <a:off x="449580" y="1408845"/>
            <a:ext cx="6824345" cy="3261679"/>
          </a:xfrm>
          <a:prstGeom prst="roundRect">
            <a:avLst/>
          </a:prstGeom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5" name="圆角矩形 3">
            <a:extLst>
              <a:ext uri="{FF2B5EF4-FFF2-40B4-BE49-F238E27FC236}">
                <a16:creationId xmlns:a16="http://schemas.microsoft.com/office/drawing/2014/main" id="{A31E6E5C-AE85-4C66-9DE5-0B3E81F65191}"/>
              </a:ext>
            </a:extLst>
          </p:cNvPr>
          <p:cNvSpPr/>
          <p:nvPr/>
        </p:nvSpPr>
        <p:spPr>
          <a:xfrm>
            <a:off x="687406" y="1699456"/>
            <a:ext cx="1065759" cy="304709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Resident</a:t>
            </a:r>
          </a:p>
        </p:txBody>
      </p:sp>
      <p:sp>
        <p:nvSpPr>
          <p:cNvPr id="96" name="圆角矩形 3">
            <a:extLst>
              <a:ext uri="{FF2B5EF4-FFF2-40B4-BE49-F238E27FC236}">
                <a16:creationId xmlns:a16="http://schemas.microsoft.com/office/drawing/2014/main" id="{5814FE34-AB32-44B7-8A39-8FE57C75042D}"/>
              </a:ext>
            </a:extLst>
          </p:cNvPr>
          <p:cNvSpPr/>
          <p:nvPr/>
        </p:nvSpPr>
        <p:spPr>
          <a:xfrm>
            <a:off x="687406" y="2263503"/>
            <a:ext cx="1064103" cy="310249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Main</a:t>
            </a:r>
          </a:p>
        </p:txBody>
      </p:sp>
      <p:sp>
        <p:nvSpPr>
          <p:cNvPr id="97" name="圆角矩形 3">
            <a:extLst>
              <a:ext uri="{FF2B5EF4-FFF2-40B4-BE49-F238E27FC236}">
                <a16:creationId xmlns:a16="http://schemas.microsoft.com/office/drawing/2014/main" id="{E18BA422-00B7-4973-9FA4-2DDA4351BAE8}"/>
              </a:ext>
            </a:extLst>
          </p:cNvPr>
          <p:cNvSpPr/>
          <p:nvPr/>
        </p:nvSpPr>
        <p:spPr>
          <a:xfrm>
            <a:off x="687406" y="2876475"/>
            <a:ext cx="1065760" cy="304482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Auxiliary</a:t>
            </a:r>
          </a:p>
        </p:txBody>
      </p:sp>
      <p:sp>
        <p:nvSpPr>
          <p:cNvPr id="98" name="圆角矩形 3">
            <a:extLst>
              <a:ext uri="{FF2B5EF4-FFF2-40B4-BE49-F238E27FC236}">
                <a16:creationId xmlns:a16="http://schemas.microsoft.com/office/drawing/2014/main" id="{97D45743-6802-4BD5-890A-D1B76CCA79FD}"/>
              </a:ext>
            </a:extLst>
          </p:cNvPr>
          <p:cNvSpPr/>
          <p:nvPr/>
        </p:nvSpPr>
        <p:spPr>
          <a:xfrm>
            <a:off x="687998" y="3453417"/>
            <a:ext cx="1065760" cy="304035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Dirty</a:t>
            </a:r>
          </a:p>
        </p:txBody>
      </p:sp>
      <p:sp>
        <p:nvSpPr>
          <p:cNvPr id="99" name="圆角矩形 3">
            <a:extLst>
              <a:ext uri="{FF2B5EF4-FFF2-40B4-BE49-F238E27FC236}">
                <a16:creationId xmlns:a16="http://schemas.microsoft.com/office/drawing/2014/main" id="{B0EC6EDB-F156-4BB2-9AC6-97614D397924}"/>
              </a:ext>
            </a:extLst>
          </p:cNvPr>
          <p:cNvSpPr/>
          <p:nvPr/>
        </p:nvSpPr>
        <p:spPr>
          <a:xfrm>
            <a:off x="687406" y="4072770"/>
            <a:ext cx="1065759" cy="300090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Temporary</a:t>
            </a:r>
          </a:p>
        </p:txBody>
      </p:sp>
      <p:sp>
        <p:nvSpPr>
          <p:cNvPr id="112" name="圆角矩形 30">
            <a:extLst>
              <a:ext uri="{FF2B5EF4-FFF2-40B4-BE49-F238E27FC236}">
                <a16:creationId xmlns:a16="http://schemas.microsoft.com/office/drawing/2014/main" id="{B0B83044-A30E-40B6-A8DC-71F3FCD97A01}"/>
              </a:ext>
            </a:extLst>
          </p:cNvPr>
          <p:cNvSpPr/>
          <p:nvPr/>
        </p:nvSpPr>
        <p:spPr>
          <a:xfrm>
            <a:off x="2051009" y="1699456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62085868-A91D-4569-9981-3BF95E8E712F}"/>
              </a:ext>
            </a:extLst>
          </p:cNvPr>
          <p:cNvCxnSpPr>
            <a:cxnSpLocks/>
            <a:endCxn id="112" idx="1"/>
          </p:cNvCxnSpPr>
          <p:nvPr/>
        </p:nvCxnSpPr>
        <p:spPr>
          <a:xfrm>
            <a:off x="1753165" y="1846252"/>
            <a:ext cx="297844" cy="5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圆角矩形 30">
            <a:extLst>
              <a:ext uri="{FF2B5EF4-FFF2-40B4-BE49-F238E27FC236}">
                <a16:creationId xmlns:a16="http://schemas.microsoft.com/office/drawing/2014/main" id="{7175122B-C35F-43EB-A989-477730AB1470}"/>
              </a:ext>
            </a:extLst>
          </p:cNvPr>
          <p:cNvSpPr/>
          <p:nvPr/>
        </p:nvSpPr>
        <p:spPr>
          <a:xfrm>
            <a:off x="3214053" y="1699456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sp>
        <p:nvSpPr>
          <p:cNvPr id="146" name="圆角矩形 30">
            <a:extLst>
              <a:ext uri="{FF2B5EF4-FFF2-40B4-BE49-F238E27FC236}">
                <a16:creationId xmlns:a16="http://schemas.microsoft.com/office/drawing/2014/main" id="{50B03989-46AD-4CA6-853F-D0F33F55429B}"/>
              </a:ext>
            </a:extLst>
          </p:cNvPr>
          <p:cNvSpPr/>
          <p:nvPr/>
        </p:nvSpPr>
        <p:spPr>
          <a:xfrm>
            <a:off x="4376269" y="1693898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7C3F88E7-7965-4FBD-8154-3A861F635C42}"/>
              </a:ext>
            </a:extLst>
          </p:cNvPr>
          <p:cNvCxnSpPr>
            <a:cxnSpLocks/>
            <a:stCxn id="112" idx="3"/>
            <a:endCxn id="145" idx="1"/>
          </p:cNvCxnSpPr>
          <p:nvPr/>
        </p:nvCxnSpPr>
        <p:spPr>
          <a:xfrm>
            <a:off x="2914553" y="1851810"/>
            <a:ext cx="299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58BCB848-3E36-472F-B4D9-DA940EF2A882}"/>
              </a:ext>
            </a:extLst>
          </p:cNvPr>
          <p:cNvCxnSpPr>
            <a:cxnSpLocks/>
            <a:endCxn id="146" idx="1"/>
          </p:cNvCxnSpPr>
          <p:nvPr/>
        </p:nvCxnSpPr>
        <p:spPr>
          <a:xfrm>
            <a:off x="4077597" y="1846252"/>
            <a:ext cx="2986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圆角矩形 30">
            <a:extLst>
              <a:ext uri="{FF2B5EF4-FFF2-40B4-BE49-F238E27FC236}">
                <a16:creationId xmlns:a16="http://schemas.microsoft.com/office/drawing/2014/main" id="{F48DE6E5-7EA0-4095-B1A6-7D424E99858B}"/>
              </a:ext>
            </a:extLst>
          </p:cNvPr>
          <p:cNvSpPr/>
          <p:nvPr/>
        </p:nvSpPr>
        <p:spPr>
          <a:xfrm>
            <a:off x="2051009" y="2271326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24AE2BF3-1854-4AC4-A69C-5B167A146DE7}"/>
              </a:ext>
            </a:extLst>
          </p:cNvPr>
          <p:cNvCxnSpPr>
            <a:cxnSpLocks/>
            <a:endCxn id="153" idx="1"/>
          </p:cNvCxnSpPr>
          <p:nvPr/>
        </p:nvCxnSpPr>
        <p:spPr>
          <a:xfrm>
            <a:off x="1751509" y="2423680"/>
            <a:ext cx="299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圆角矩形 30">
            <a:extLst>
              <a:ext uri="{FF2B5EF4-FFF2-40B4-BE49-F238E27FC236}">
                <a16:creationId xmlns:a16="http://schemas.microsoft.com/office/drawing/2014/main" id="{95337E3F-7045-4682-AC09-C8E844220DCF}"/>
              </a:ext>
            </a:extLst>
          </p:cNvPr>
          <p:cNvSpPr/>
          <p:nvPr/>
        </p:nvSpPr>
        <p:spPr>
          <a:xfrm>
            <a:off x="3214053" y="2271326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sp>
        <p:nvSpPr>
          <p:cNvPr id="156" name="圆角矩形 30">
            <a:extLst>
              <a:ext uri="{FF2B5EF4-FFF2-40B4-BE49-F238E27FC236}">
                <a16:creationId xmlns:a16="http://schemas.microsoft.com/office/drawing/2014/main" id="{CDDB8361-BE43-44A0-A7C9-9C76E4F46EA3}"/>
              </a:ext>
            </a:extLst>
          </p:cNvPr>
          <p:cNvSpPr/>
          <p:nvPr/>
        </p:nvSpPr>
        <p:spPr>
          <a:xfrm>
            <a:off x="4376269" y="2265768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sp>
        <p:nvSpPr>
          <p:cNvPr id="158" name="圆角矩形 30">
            <a:extLst>
              <a:ext uri="{FF2B5EF4-FFF2-40B4-BE49-F238E27FC236}">
                <a16:creationId xmlns:a16="http://schemas.microsoft.com/office/drawing/2014/main" id="{FC047C72-3CF8-40FB-B051-5ADEA433DE3E}"/>
              </a:ext>
            </a:extLst>
          </p:cNvPr>
          <p:cNvSpPr/>
          <p:nvPr/>
        </p:nvSpPr>
        <p:spPr>
          <a:xfrm>
            <a:off x="5537657" y="2265768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57E06C71-1772-4CBA-9782-B64F82A6B08F}"/>
              </a:ext>
            </a:extLst>
          </p:cNvPr>
          <p:cNvCxnSpPr>
            <a:cxnSpLocks/>
            <a:stCxn id="153" idx="3"/>
            <a:endCxn id="155" idx="1"/>
          </p:cNvCxnSpPr>
          <p:nvPr/>
        </p:nvCxnSpPr>
        <p:spPr>
          <a:xfrm>
            <a:off x="2914553" y="2423680"/>
            <a:ext cx="299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EBB769D4-AA05-4FC4-A137-ED7CC1A2C7C8}"/>
              </a:ext>
            </a:extLst>
          </p:cNvPr>
          <p:cNvCxnSpPr>
            <a:cxnSpLocks/>
            <a:endCxn id="156" idx="1"/>
          </p:cNvCxnSpPr>
          <p:nvPr/>
        </p:nvCxnSpPr>
        <p:spPr>
          <a:xfrm>
            <a:off x="4077597" y="2418122"/>
            <a:ext cx="2986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15E51FAC-E3A2-4821-9A6B-CC7B9EFF0608}"/>
              </a:ext>
            </a:extLst>
          </p:cNvPr>
          <p:cNvCxnSpPr>
            <a:cxnSpLocks/>
            <a:endCxn id="158" idx="1"/>
          </p:cNvCxnSpPr>
          <p:nvPr/>
        </p:nvCxnSpPr>
        <p:spPr>
          <a:xfrm>
            <a:off x="5239813" y="2418122"/>
            <a:ext cx="2978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圆角矩形 30">
            <a:extLst>
              <a:ext uri="{FF2B5EF4-FFF2-40B4-BE49-F238E27FC236}">
                <a16:creationId xmlns:a16="http://schemas.microsoft.com/office/drawing/2014/main" id="{A3E593FE-DA13-4368-80AD-78FB0E376542}"/>
              </a:ext>
            </a:extLst>
          </p:cNvPr>
          <p:cNvSpPr/>
          <p:nvPr/>
        </p:nvSpPr>
        <p:spPr>
          <a:xfrm>
            <a:off x="2051009" y="2872911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8625A204-1B8D-47B3-A041-AA55D0B2D703}"/>
              </a:ext>
            </a:extLst>
          </p:cNvPr>
          <p:cNvCxnSpPr>
            <a:cxnSpLocks/>
            <a:endCxn id="163" idx="1"/>
          </p:cNvCxnSpPr>
          <p:nvPr/>
        </p:nvCxnSpPr>
        <p:spPr>
          <a:xfrm>
            <a:off x="1751509" y="3025265"/>
            <a:ext cx="299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圆角矩形 30">
            <a:extLst>
              <a:ext uri="{FF2B5EF4-FFF2-40B4-BE49-F238E27FC236}">
                <a16:creationId xmlns:a16="http://schemas.microsoft.com/office/drawing/2014/main" id="{E64DBC9E-753A-4574-8AB5-ACFB4F1C9A4A}"/>
              </a:ext>
            </a:extLst>
          </p:cNvPr>
          <p:cNvSpPr/>
          <p:nvPr/>
        </p:nvSpPr>
        <p:spPr>
          <a:xfrm>
            <a:off x="3214053" y="2872911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sp>
        <p:nvSpPr>
          <p:cNvPr id="168" name="圆角矩形 30">
            <a:extLst>
              <a:ext uri="{FF2B5EF4-FFF2-40B4-BE49-F238E27FC236}">
                <a16:creationId xmlns:a16="http://schemas.microsoft.com/office/drawing/2014/main" id="{32BD9628-E5B4-4DC1-9C0A-C8536B46C26F}"/>
              </a:ext>
            </a:extLst>
          </p:cNvPr>
          <p:cNvSpPr/>
          <p:nvPr/>
        </p:nvSpPr>
        <p:spPr>
          <a:xfrm>
            <a:off x="4376269" y="2867353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sp>
        <p:nvSpPr>
          <p:cNvPr id="169" name="圆角矩形 30">
            <a:extLst>
              <a:ext uri="{FF2B5EF4-FFF2-40B4-BE49-F238E27FC236}">
                <a16:creationId xmlns:a16="http://schemas.microsoft.com/office/drawing/2014/main" id="{05AD4CDA-F0E2-4C77-9C3C-B58A9B6C5C14}"/>
              </a:ext>
            </a:extLst>
          </p:cNvPr>
          <p:cNvSpPr/>
          <p:nvPr/>
        </p:nvSpPr>
        <p:spPr>
          <a:xfrm>
            <a:off x="5537657" y="2867353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EC0307D5-A45A-4822-A6F5-F8B970C9FDDB}"/>
              </a:ext>
            </a:extLst>
          </p:cNvPr>
          <p:cNvCxnSpPr>
            <a:cxnSpLocks/>
            <a:stCxn id="163" idx="3"/>
            <a:endCxn id="167" idx="1"/>
          </p:cNvCxnSpPr>
          <p:nvPr/>
        </p:nvCxnSpPr>
        <p:spPr>
          <a:xfrm>
            <a:off x="2914553" y="3025265"/>
            <a:ext cx="299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AD6E5EF1-3D80-49C9-92DA-68735ECE3B6B}"/>
              </a:ext>
            </a:extLst>
          </p:cNvPr>
          <p:cNvCxnSpPr>
            <a:cxnSpLocks/>
            <a:endCxn id="168" idx="1"/>
          </p:cNvCxnSpPr>
          <p:nvPr/>
        </p:nvCxnSpPr>
        <p:spPr>
          <a:xfrm>
            <a:off x="4077597" y="3019707"/>
            <a:ext cx="2986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0E76F714-AB41-48CF-AF00-80F166D64FCD}"/>
              </a:ext>
            </a:extLst>
          </p:cNvPr>
          <p:cNvCxnSpPr>
            <a:cxnSpLocks/>
            <a:endCxn id="169" idx="1"/>
          </p:cNvCxnSpPr>
          <p:nvPr/>
        </p:nvCxnSpPr>
        <p:spPr>
          <a:xfrm>
            <a:off x="5239813" y="3019707"/>
            <a:ext cx="2978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圆角矩形 30">
            <a:extLst>
              <a:ext uri="{FF2B5EF4-FFF2-40B4-BE49-F238E27FC236}">
                <a16:creationId xmlns:a16="http://schemas.microsoft.com/office/drawing/2014/main" id="{624A1F08-2198-44EB-A6A9-F8517A1167F0}"/>
              </a:ext>
            </a:extLst>
          </p:cNvPr>
          <p:cNvSpPr/>
          <p:nvPr/>
        </p:nvSpPr>
        <p:spPr>
          <a:xfrm>
            <a:off x="2051009" y="3452256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cxnSp>
        <p:nvCxnSpPr>
          <p:cNvPr id="174" name="直接箭头连接符 173">
            <a:extLst>
              <a:ext uri="{FF2B5EF4-FFF2-40B4-BE49-F238E27FC236}">
                <a16:creationId xmlns:a16="http://schemas.microsoft.com/office/drawing/2014/main" id="{F856B163-ED61-4E3D-904A-F8E3AB7E48FB}"/>
              </a:ext>
            </a:extLst>
          </p:cNvPr>
          <p:cNvCxnSpPr>
            <a:cxnSpLocks/>
            <a:endCxn id="173" idx="1"/>
          </p:cNvCxnSpPr>
          <p:nvPr/>
        </p:nvCxnSpPr>
        <p:spPr>
          <a:xfrm>
            <a:off x="1751509" y="3604610"/>
            <a:ext cx="299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圆角矩形 30">
            <a:extLst>
              <a:ext uri="{FF2B5EF4-FFF2-40B4-BE49-F238E27FC236}">
                <a16:creationId xmlns:a16="http://schemas.microsoft.com/office/drawing/2014/main" id="{033ED28E-CF3B-4557-A8FB-B9A4DFCBECCA}"/>
              </a:ext>
            </a:extLst>
          </p:cNvPr>
          <p:cNvSpPr/>
          <p:nvPr/>
        </p:nvSpPr>
        <p:spPr>
          <a:xfrm>
            <a:off x="3214053" y="3452256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4593F49F-F474-4047-9C93-57DF5B2F9E0F}"/>
              </a:ext>
            </a:extLst>
          </p:cNvPr>
          <p:cNvCxnSpPr>
            <a:cxnSpLocks/>
            <a:stCxn id="173" idx="3"/>
            <a:endCxn id="175" idx="1"/>
          </p:cNvCxnSpPr>
          <p:nvPr/>
        </p:nvCxnSpPr>
        <p:spPr>
          <a:xfrm>
            <a:off x="2914553" y="3604610"/>
            <a:ext cx="299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圆角矩形 30">
            <a:extLst>
              <a:ext uri="{FF2B5EF4-FFF2-40B4-BE49-F238E27FC236}">
                <a16:creationId xmlns:a16="http://schemas.microsoft.com/office/drawing/2014/main" id="{9478B747-6F45-4DAF-A252-FB6B3FD67EC7}"/>
              </a:ext>
            </a:extLst>
          </p:cNvPr>
          <p:cNvSpPr/>
          <p:nvPr/>
        </p:nvSpPr>
        <p:spPr>
          <a:xfrm>
            <a:off x="2051009" y="4076431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4D251FB7-645E-4AF1-90FC-2FFF51B5F9B2}"/>
              </a:ext>
            </a:extLst>
          </p:cNvPr>
          <p:cNvCxnSpPr>
            <a:cxnSpLocks/>
            <a:endCxn id="181" idx="1"/>
          </p:cNvCxnSpPr>
          <p:nvPr/>
        </p:nvCxnSpPr>
        <p:spPr>
          <a:xfrm>
            <a:off x="1751509" y="4228785"/>
            <a:ext cx="299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圆角矩形 30">
            <a:extLst>
              <a:ext uri="{FF2B5EF4-FFF2-40B4-BE49-F238E27FC236}">
                <a16:creationId xmlns:a16="http://schemas.microsoft.com/office/drawing/2014/main" id="{BD882E3C-3D38-4064-BA96-97874FC9C79F}"/>
              </a:ext>
            </a:extLst>
          </p:cNvPr>
          <p:cNvSpPr/>
          <p:nvPr/>
        </p:nvSpPr>
        <p:spPr>
          <a:xfrm>
            <a:off x="3214053" y="4076431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sp>
        <p:nvSpPr>
          <p:cNvPr id="184" name="圆角矩形 30">
            <a:extLst>
              <a:ext uri="{FF2B5EF4-FFF2-40B4-BE49-F238E27FC236}">
                <a16:creationId xmlns:a16="http://schemas.microsoft.com/office/drawing/2014/main" id="{AE632AD1-100A-48C8-8FA9-E9AE3A82970F}"/>
              </a:ext>
            </a:extLst>
          </p:cNvPr>
          <p:cNvSpPr/>
          <p:nvPr/>
        </p:nvSpPr>
        <p:spPr>
          <a:xfrm>
            <a:off x="4376269" y="4070873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E090642A-7EC0-4C00-B433-394D5EFC99E4}"/>
              </a:ext>
            </a:extLst>
          </p:cNvPr>
          <p:cNvCxnSpPr>
            <a:cxnSpLocks/>
            <a:stCxn id="181" idx="3"/>
            <a:endCxn id="183" idx="1"/>
          </p:cNvCxnSpPr>
          <p:nvPr/>
        </p:nvCxnSpPr>
        <p:spPr>
          <a:xfrm>
            <a:off x="2914553" y="4228785"/>
            <a:ext cx="299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FF3DEDC2-3E45-4550-9622-F9D78F9546DD}"/>
              </a:ext>
            </a:extLst>
          </p:cNvPr>
          <p:cNvCxnSpPr>
            <a:cxnSpLocks/>
            <a:endCxn id="184" idx="1"/>
          </p:cNvCxnSpPr>
          <p:nvPr/>
        </p:nvCxnSpPr>
        <p:spPr>
          <a:xfrm>
            <a:off x="4077597" y="4223227"/>
            <a:ext cx="2986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文本框 188">
            <a:extLst>
              <a:ext uri="{FF2B5EF4-FFF2-40B4-BE49-F238E27FC236}">
                <a16:creationId xmlns:a16="http://schemas.microsoft.com/office/drawing/2014/main" id="{9E307EE9-1A3E-4392-B7AA-9F88FB400D46}"/>
              </a:ext>
            </a:extLst>
          </p:cNvPr>
          <p:cNvSpPr txBox="1"/>
          <p:nvPr/>
        </p:nvSpPr>
        <p:spPr>
          <a:xfrm>
            <a:off x="5745839" y="3842092"/>
            <a:ext cx="1310724" cy="457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8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Partition</a:t>
            </a:r>
            <a:endParaRPr lang="zh-CN" altLang="en-US" sz="1800" b="1" dirty="0">
              <a:solidFill>
                <a:schemeClr val="accent1">
                  <a:lumMod val="75000"/>
                </a:schemeClr>
              </a:solidFill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grpSp>
        <p:nvGrpSpPr>
          <p:cNvPr id="190" name="组合 189">
            <a:extLst>
              <a:ext uri="{FF2B5EF4-FFF2-40B4-BE49-F238E27FC236}">
                <a16:creationId xmlns:a16="http://schemas.microsoft.com/office/drawing/2014/main" id="{E897585C-C91C-4987-AFD1-BA1770F6ACD5}"/>
              </a:ext>
            </a:extLst>
          </p:cNvPr>
          <p:cNvGrpSpPr/>
          <p:nvPr/>
        </p:nvGrpSpPr>
        <p:grpSpPr>
          <a:xfrm>
            <a:off x="7862917" y="1266289"/>
            <a:ext cx="4055110" cy="836760"/>
            <a:chOff x="6322060" y="1219835"/>
            <a:chExt cx="4055110" cy="836760"/>
          </a:xfrm>
        </p:grpSpPr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164B4833-15BE-41F9-8839-6F7C9D5C23B0}"/>
                </a:ext>
              </a:extLst>
            </p:cNvPr>
            <p:cNvSpPr txBox="1"/>
            <p:nvPr/>
          </p:nvSpPr>
          <p:spPr>
            <a:xfrm>
              <a:off x="6322060" y="1680210"/>
              <a:ext cx="4055110" cy="37638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常驻内存块会被加入到此链表，不会被淘汰</a:t>
              </a:r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CB4EB91B-D54A-4CBD-86B8-7EC0E138D72A}"/>
                </a:ext>
              </a:extLst>
            </p:cNvPr>
            <p:cNvSpPr txBox="1"/>
            <p:nvPr/>
          </p:nvSpPr>
          <p:spPr>
            <a:xfrm>
              <a:off x="6382383" y="1219835"/>
              <a:ext cx="2830195" cy="4575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Resident List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grpSp>
        <p:nvGrpSpPr>
          <p:cNvPr id="194" name="组合 193">
            <a:extLst>
              <a:ext uri="{FF2B5EF4-FFF2-40B4-BE49-F238E27FC236}">
                <a16:creationId xmlns:a16="http://schemas.microsoft.com/office/drawing/2014/main" id="{92C42D73-AA09-4ECC-A70D-2603A6FEE98A}"/>
              </a:ext>
            </a:extLst>
          </p:cNvPr>
          <p:cNvGrpSpPr/>
          <p:nvPr/>
        </p:nvGrpSpPr>
        <p:grpSpPr>
          <a:xfrm>
            <a:off x="7869473" y="2140294"/>
            <a:ext cx="4055110" cy="836760"/>
            <a:chOff x="6322060" y="1219835"/>
            <a:chExt cx="4055110" cy="836760"/>
          </a:xfrm>
        </p:grpSpPr>
        <p:sp>
          <p:nvSpPr>
            <p:cNvPr id="195" name="文本框 194">
              <a:extLst>
                <a:ext uri="{FF2B5EF4-FFF2-40B4-BE49-F238E27FC236}">
                  <a16:creationId xmlns:a16="http://schemas.microsoft.com/office/drawing/2014/main" id="{CECFFE3E-212E-47D5-BBCC-6BA6A416943F}"/>
                </a:ext>
              </a:extLst>
            </p:cNvPr>
            <p:cNvSpPr txBox="1"/>
            <p:nvPr/>
          </p:nvSpPr>
          <p:spPr>
            <a:xfrm>
              <a:off x="6322060" y="1680210"/>
              <a:ext cx="4055110" cy="37638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热度较高的块，被淘汰的概率较低</a:t>
              </a:r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FE1D0579-3BAE-473D-B2CA-64F710500A29}"/>
                </a:ext>
              </a:extLst>
            </p:cNvPr>
            <p:cNvSpPr txBox="1"/>
            <p:nvPr/>
          </p:nvSpPr>
          <p:spPr>
            <a:xfrm>
              <a:off x="6382385" y="1219835"/>
              <a:ext cx="2830195" cy="4575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Main List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9FBA7BE8-4045-4E00-BD60-341E551B501F}"/>
              </a:ext>
            </a:extLst>
          </p:cNvPr>
          <p:cNvGrpSpPr/>
          <p:nvPr/>
        </p:nvGrpSpPr>
        <p:grpSpPr>
          <a:xfrm>
            <a:off x="7862916" y="3123541"/>
            <a:ext cx="4055110" cy="836760"/>
            <a:chOff x="6322060" y="1219835"/>
            <a:chExt cx="4055110" cy="836760"/>
          </a:xfrm>
        </p:grpSpPr>
        <p:sp>
          <p:nvSpPr>
            <p:cNvPr id="198" name="文本框 197">
              <a:extLst>
                <a:ext uri="{FF2B5EF4-FFF2-40B4-BE49-F238E27FC236}">
                  <a16:creationId xmlns:a16="http://schemas.microsoft.com/office/drawing/2014/main" id="{A0EF37F1-4EB2-4E25-BCD2-FCE65AC5A244}"/>
                </a:ext>
              </a:extLst>
            </p:cNvPr>
            <p:cNvSpPr txBox="1"/>
            <p:nvPr/>
          </p:nvSpPr>
          <p:spPr>
            <a:xfrm>
              <a:off x="6322060" y="1680210"/>
              <a:ext cx="4055110" cy="37638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热度较低的块，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会被优先淘汰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99" name="文本框 198">
              <a:extLst>
                <a:ext uri="{FF2B5EF4-FFF2-40B4-BE49-F238E27FC236}">
                  <a16:creationId xmlns:a16="http://schemas.microsoft.com/office/drawing/2014/main" id="{A1756349-29BF-4C0E-B6A7-D445894FF0EF}"/>
                </a:ext>
              </a:extLst>
            </p:cNvPr>
            <p:cNvSpPr txBox="1"/>
            <p:nvPr/>
          </p:nvSpPr>
          <p:spPr>
            <a:xfrm>
              <a:off x="6382385" y="1219835"/>
              <a:ext cx="2830195" cy="4575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Auxiliary List</a:t>
              </a:r>
            </a:p>
          </p:txBody>
        </p:sp>
      </p:grpSp>
      <p:grpSp>
        <p:nvGrpSpPr>
          <p:cNvPr id="200" name="组合 199">
            <a:extLst>
              <a:ext uri="{FF2B5EF4-FFF2-40B4-BE49-F238E27FC236}">
                <a16:creationId xmlns:a16="http://schemas.microsoft.com/office/drawing/2014/main" id="{39F06911-684E-4A60-9334-1C62531B21B8}"/>
              </a:ext>
            </a:extLst>
          </p:cNvPr>
          <p:cNvGrpSpPr/>
          <p:nvPr/>
        </p:nvGrpSpPr>
        <p:grpSpPr>
          <a:xfrm>
            <a:off x="7862916" y="5037807"/>
            <a:ext cx="4055110" cy="836760"/>
            <a:chOff x="6322060" y="1219835"/>
            <a:chExt cx="4055110" cy="836760"/>
          </a:xfrm>
        </p:grpSpPr>
        <p:sp>
          <p:nvSpPr>
            <p:cNvPr id="201" name="文本框 200">
              <a:extLst>
                <a:ext uri="{FF2B5EF4-FFF2-40B4-BE49-F238E27FC236}">
                  <a16:creationId xmlns:a16="http://schemas.microsoft.com/office/drawing/2014/main" id="{BC02504E-B9FC-481F-B8B8-BA2835447814}"/>
                </a:ext>
              </a:extLst>
            </p:cNvPr>
            <p:cNvSpPr txBox="1"/>
            <p:nvPr/>
          </p:nvSpPr>
          <p:spPr>
            <a:xfrm>
              <a:off x="6322060" y="1680210"/>
              <a:ext cx="4055110" cy="37638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临时表的数据块，不持久化</a:t>
              </a:r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B0F742E3-11B5-490E-8D38-A78DFCCA1397}"/>
                </a:ext>
              </a:extLst>
            </p:cNvPr>
            <p:cNvSpPr txBox="1"/>
            <p:nvPr/>
          </p:nvSpPr>
          <p:spPr>
            <a:xfrm>
              <a:off x="6382385" y="1219835"/>
              <a:ext cx="2830195" cy="4575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Temporary List</a:t>
              </a:r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ACC974F3-B88A-45A4-8576-090E6B78623E}"/>
              </a:ext>
            </a:extLst>
          </p:cNvPr>
          <p:cNvGrpSpPr/>
          <p:nvPr/>
        </p:nvGrpSpPr>
        <p:grpSpPr>
          <a:xfrm>
            <a:off x="7869473" y="4096555"/>
            <a:ext cx="4055110" cy="856398"/>
            <a:chOff x="6322060" y="1219835"/>
            <a:chExt cx="4055110" cy="856398"/>
          </a:xfrm>
        </p:grpSpPr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DE40313E-FDB9-4357-97C1-27281C05507E}"/>
                </a:ext>
              </a:extLst>
            </p:cNvPr>
            <p:cNvSpPr txBox="1"/>
            <p:nvPr/>
          </p:nvSpPr>
          <p:spPr>
            <a:xfrm>
              <a:off x="6322060" y="1699848"/>
              <a:ext cx="4055110" cy="37638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热度较低的脏块被，用于脏页的快速清理</a:t>
              </a:r>
            </a:p>
          </p:txBody>
        </p:sp>
        <p:sp>
          <p:nvSpPr>
            <p:cNvPr id="205" name="文本框 204">
              <a:extLst>
                <a:ext uri="{FF2B5EF4-FFF2-40B4-BE49-F238E27FC236}">
                  <a16:creationId xmlns:a16="http://schemas.microsoft.com/office/drawing/2014/main" id="{85700695-0303-4752-8864-14D46CC5FF6D}"/>
                </a:ext>
              </a:extLst>
            </p:cNvPr>
            <p:cNvSpPr txBox="1"/>
            <p:nvPr/>
          </p:nvSpPr>
          <p:spPr>
            <a:xfrm>
              <a:off x="6382385" y="1219835"/>
              <a:ext cx="2830195" cy="4575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Dirty List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5097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10210" y="376553"/>
            <a:ext cx="1926168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数据访问</a:t>
            </a: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4</a:t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DC8C4DE5-69A3-4378-BF85-210E5D7D7A6E}"/>
              </a:ext>
            </a:extLst>
          </p:cNvPr>
          <p:cNvSpPr/>
          <p:nvPr/>
        </p:nvSpPr>
        <p:spPr>
          <a:xfrm>
            <a:off x="225425" y="6366783"/>
            <a:ext cx="1951816" cy="402674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数据块的加载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0A51731E-507F-42EB-8681-EAD66F720721}"/>
              </a:ext>
            </a:extLst>
          </p:cNvPr>
          <p:cNvSpPr/>
          <p:nvPr/>
        </p:nvSpPr>
        <p:spPr>
          <a:xfrm>
            <a:off x="1541145" y="2275840"/>
            <a:ext cx="2733675" cy="2733675"/>
          </a:xfrm>
          <a:prstGeom prst="ellipse">
            <a:avLst/>
          </a:prstGeom>
          <a:noFill/>
          <a:ln w="12700" cmpd="sng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9B71F30-3BFF-40EB-BF68-515F47FFFFD8}"/>
              </a:ext>
            </a:extLst>
          </p:cNvPr>
          <p:cNvGrpSpPr/>
          <p:nvPr/>
        </p:nvGrpSpPr>
        <p:grpSpPr>
          <a:xfrm>
            <a:off x="2428240" y="1892935"/>
            <a:ext cx="958850" cy="958850"/>
            <a:chOff x="5471" y="4548"/>
            <a:chExt cx="1510" cy="1510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</p:grpSpPr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7752E73D-DF97-42CB-AA87-B5004777028B}"/>
                </a:ext>
              </a:extLst>
            </p:cNvPr>
            <p:cNvSpPr/>
            <p:nvPr/>
          </p:nvSpPr>
          <p:spPr>
            <a:xfrm>
              <a:off x="5471" y="4548"/>
              <a:ext cx="1511" cy="1511"/>
            </a:xfrm>
            <a:prstGeom prst="ellipse">
              <a:avLst/>
            </a:prstGeom>
            <a:grpFill/>
            <a:ln w="12700" cmpd="sng">
              <a:noFill/>
              <a:prstDash val="soli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pic>
          <p:nvPicPr>
            <p:cNvPr id="50" name="图片 49" descr="3504239">
              <a:extLst>
                <a:ext uri="{FF2B5EF4-FFF2-40B4-BE49-F238E27FC236}">
                  <a16:creationId xmlns:a16="http://schemas.microsoft.com/office/drawing/2014/main" id="{198B4006-603E-4317-8C92-5FFC972BE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56" y="4833"/>
              <a:ext cx="941" cy="941"/>
            </a:xfrm>
            <a:prstGeom prst="rect">
              <a:avLst/>
            </a:prstGeom>
          </p:spPr>
        </p:pic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34CA4803-274E-4638-8394-1B9F19D1404D}"/>
              </a:ext>
            </a:extLst>
          </p:cNvPr>
          <p:cNvGrpSpPr/>
          <p:nvPr/>
        </p:nvGrpSpPr>
        <p:grpSpPr>
          <a:xfrm>
            <a:off x="1153160" y="3162935"/>
            <a:ext cx="958850" cy="958850"/>
            <a:chOff x="6657" y="6804"/>
            <a:chExt cx="1510" cy="1510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</p:grpSpPr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9FD09052-17D6-47E5-AB0F-A7A52D3E919F}"/>
                </a:ext>
              </a:extLst>
            </p:cNvPr>
            <p:cNvSpPr/>
            <p:nvPr/>
          </p:nvSpPr>
          <p:spPr>
            <a:xfrm>
              <a:off x="6657" y="6804"/>
              <a:ext cx="1511" cy="1511"/>
            </a:xfrm>
            <a:prstGeom prst="ellipse">
              <a:avLst/>
            </a:prstGeom>
            <a:grpFill/>
            <a:ln w="12700" cmpd="sng">
              <a:noFill/>
              <a:prstDash val="soli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pic>
          <p:nvPicPr>
            <p:cNvPr id="53" name="图片 52" descr="4519016">
              <a:extLst>
                <a:ext uri="{FF2B5EF4-FFF2-40B4-BE49-F238E27FC236}">
                  <a16:creationId xmlns:a16="http://schemas.microsoft.com/office/drawing/2014/main" id="{3D9CA92D-470C-46E9-B1ED-7E718F4D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17" y="7164"/>
              <a:ext cx="791" cy="791"/>
            </a:xfrm>
            <a:prstGeom prst="rect">
              <a:avLst/>
            </a:prstGeom>
          </p:spPr>
        </p:pic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66435F02-567E-41D8-A767-1AC6E1D065B2}"/>
              </a:ext>
            </a:extLst>
          </p:cNvPr>
          <p:cNvGrpSpPr/>
          <p:nvPr/>
        </p:nvGrpSpPr>
        <p:grpSpPr>
          <a:xfrm>
            <a:off x="3691255" y="3162935"/>
            <a:ext cx="958850" cy="958850"/>
            <a:chOff x="9155" y="4956"/>
            <a:chExt cx="1510" cy="1510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F84ADB42-1EC8-4C3A-8911-55163EF5465A}"/>
                </a:ext>
              </a:extLst>
            </p:cNvPr>
            <p:cNvSpPr/>
            <p:nvPr/>
          </p:nvSpPr>
          <p:spPr>
            <a:xfrm>
              <a:off x="9155" y="4956"/>
              <a:ext cx="1511" cy="1511"/>
            </a:xfrm>
            <a:prstGeom prst="ellipse">
              <a:avLst/>
            </a:prstGeom>
            <a:grpFill/>
            <a:ln w="12700" cmpd="sng">
              <a:noFill/>
              <a:prstDash val="soli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pic>
          <p:nvPicPr>
            <p:cNvPr id="56" name="图片 55" descr="3658968">
              <a:extLst>
                <a:ext uri="{FF2B5EF4-FFF2-40B4-BE49-F238E27FC236}">
                  <a16:creationId xmlns:a16="http://schemas.microsoft.com/office/drawing/2014/main" id="{334210C4-1CAC-491B-A760-6E554D6F2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96" y="5305"/>
              <a:ext cx="630" cy="813"/>
            </a:xfrm>
            <a:prstGeom prst="rect">
              <a:avLst/>
            </a:prstGeom>
          </p:spPr>
        </p:pic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E035E4DE-D3C4-43A7-914F-2C8029677466}"/>
              </a:ext>
            </a:extLst>
          </p:cNvPr>
          <p:cNvGrpSpPr/>
          <p:nvPr/>
        </p:nvGrpSpPr>
        <p:grpSpPr>
          <a:xfrm>
            <a:off x="2428240" y="4424680"/>
            <a:ext cx="958850" cy="958850"/>
            <a:chOff x="12921" y="5126"/>
            <a:chExt cx="1510" cy="1510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</p:grpSpPr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01D9F66F-AC67-4C00-B362-0FA8E071EABE}"/>
                </a:ext>
              </a:extLst>
            </p:cNvPr>
            <p:cNvSpPr/>
            <p:nvPr/>
          </p:nvSpPr>
          <p:spPr>
            <a:xfrm>
              <a:off x="12921" y="5126"/>
              <a:ext cx="1511" cy="1511"/>
            </a:xfrm>
            <a:prstGeom prst="ellipse">
              <a:avLst/>
            </a:prstGeom>
            <a:grpFill/>
            <a:ln w="12700" cmpd="sng">
              <a:noFill/>
              <a:prstDash val="soli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pic>
          <p:nvPicPr>
            <p:cNvPr id="65" name="图片 64" descr="3504235">
              <a:extLst>
                <a:ext uri="{FF2B5EF4-FFF2-40B4-BE49-F238E27FC236}">
                  <a16:creationId xmlns:a16="http://schemas.microsoft.com/office/drawing/2014/main" id="{FB3444B8-1233-4CC1-ABE3-12AE555E39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191" y="5396"/>
              <a:ext cx="971" cy="971"/>
            </a:xfrm>
            <a:prstGeom prst="rect">
              <a:avLst/>
            </a:prstGeom>
          </p:spPr>
        </p:pic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BDCEC1DA-AE15-42BF-A676-D6EA94BA7C55}"/>
              </a:ext>
            </a:extLst>
          </p:cNvPr>
          <p:cNvGrpSpPr/>
          <p:nvPr/>
        </p:nvGrpSpPr>
        <p:grpSpPr>
          <a:xfrm>
            <a:off x="5765800" y="4233545"/>
            <a:ext cx="4627880" cy="1240592"/>
            <a:chOff x="6322060" y="4241165"/>
            <a:chExt cx="4055110" cy="1240592"/>
          </a:xfrm>
        </p:grpSpPr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F4974C63-3287-4384-B8F4-26FC3D3656ED}"/>
                </a:ext>
              </a:extLst>
            </p:cNvPr>
            <p:cNvSpPr txBox="1"/>
            <p:nvPr/>
          </p:nvSpPr>
          <p:spPr>
            <a:xfrm>
              <a:off x="6322060" y="4786630"/>
              <a:ext cx="4055110" cy="69512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异步预读只是提交一次读请求，不会阻塞当前线程。例如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Block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顺序访问的场景下，可以异步预读下一批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Block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。</a:t>
              </a: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E9BF523F-BADF-4664-8EE5-465EE30F6273}"/>
                </a:ext>
              </a:extLst>
            </p:cNvPr>
            <p:cNvSpPr txBox="1"/>
            <p:nvPr/>
          </p:nvSpPr>
          <p:spPr>
            <a:xfrm>
              <a:off x="6322060" y="4241165"/>
              <a:ext cx="2830195" cy="4575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异步预读</a:t>
              </a: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C1699DCE-2544-4F3D-B72C-C7BD3F945770}"/>
              </a:ext>
            </a:extLst>
          </p:cNvPr>
          <p:cNvGrpSpPr/>
          <p:nvPr/>
        </p:nvGrpSpPr>
        <p:grpSpPr>
          <a:xfrm>
            <a:off x="5765800" y="2687454"/>
            <a:ext cx="4574540" cy="1483091"/>
            <a:chOff x="6322060" y="2790190"/>
            <a:chExt cx="4055110" cy="1483091"/>
          </a:xfrm>
        </p:grpSpPr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C5E93BD2-8C21-40BA-9DE3-6553788746A5}"/>
                </a:ext>
              </a:extLst>
            </p:cNvPr>
            <p:cNvSpPr txBox="1"/>
            <p:nvPr/>
          </p:nvSpPr>
          <p:spPr>
            <a:xfrm>
              <a:off x="6322060" y="3250565"/>
              <a:ext cx="4055110" cy="10227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对于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Block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顺序访问的场景（例如全表扫描），为了提升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IO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效率，每次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IO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读一批连续的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Block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，一般是以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Extent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为单位。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7D0D1AF2-DA23-40D0-8EDF-B621F361931A}"/>
                </a:ext>
              </a:extLst>
            </p:cNvPr>
            <p:cNvSpPr txBox="1"/>
            <p:nvPr/>
          </p:nvSpPr>
          <p:spPr>
            <a:xfrm>
              <a:off x="6322060" y="2790190"/>
              <a:ext cx="2830195" cy="4575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同步预读</a:t>
              </a:r>
            </a:p>
          </p:txBody>
        </p: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E76153DE-C5D1-47F4-B2CA-D95BF2B7B57B}"/>
              </a:ext>
            </a:extLst>
          </p:cNvPr>
          <p:cNvGrpSpPr/>
          <p:nvPr/>
        </p:nvGrpSpPr>
        <p:grpSpPr>
          <a:xfrm>
            <a:off x="5765800" y="1183529"/>
            <a:ext cx="4483100" cy="1511777"/>
            <a:chOff x="6322060" y="1191149"/>
            <a:chExt cx="4055110" cy="1511777"/>
          </a:xfrm>
        </p:grpSpPr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6A7680D0-BE5C-4AFB-A1A9-8F9285F8EC37}"/>
                </a:ext>
              </a:extLst>
            </p:cNvPr>
            <p:cNvSpPr txBox="1"/>
            <p:nvPr/>
          </p:nvSpPr>
          <p:spPr>
            <a:xfrm>
              <a:off x="6322060" y="1680210"/>
              <a:ext cx="4055110" cy="10227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根据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Block Id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依次找到对应的表空间、数据文件、以及偏移，产生依次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IO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读，将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Block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加载到数据缓存区中。</a:t>
              </a: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16DFDDF5-9C70-47A4-B764-48592CDB5A2E}"/>
                </a:ext>
              </a:extLst>
            </p:cNvPr>
            <p:cNvSpPr txBox="1"/>
            <p:nvPr/>
          </p:nvSpPr>
          <p:spPr>
            <a:xfrm>
              <a:off x="6322060" y="1191149"/>
              <a:ext cx="2830195" cy="4575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单个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block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的读取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7713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10210" y="376553"/>
            <a:ext cx="1926168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数据访问</a:t>
            </a: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5</a:t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DC8C4DE5-69A3-4378-BF85-210E5D7D7A6E}"/>
              </a:ext>
            </a:extLst>
          </p:cNvPr>
          <p:cNvSpPr/>
          <p:nvPr/>
        </p:nvSpPr>
        <p:spPr>
          <a:xfrm>
            <a:off x="225425" y="6366783"/>
            <a:ext cx="1361911" cy="402674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并发控制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4EC08ADA-C299-4458-8A4B-7E0D6C6A3AF8}"/>
              </a:ext>
            </a:extLst>
          </p:cNvPr>
          <p:cNvGrpSpPr/>
          <p:nvPr/>
        </p:nvGrpSpPr>
        <p:grpSpPr>
          <a:xfrm>
            <a:off x="4123639" y="1714303"/>
            <a:ext cx="2968008" cy="2962482"/>
            <a:chOff x="4618386" y="2375063"/>
            <a:chExt cx="2968008" cy="2962482"/>
          </a:xfrm>
        </p:grpSpPr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A0649590-789E-43BE-8FCE-6116E91527E2}"/>
                </a:ext>
              </a:extLst>
            </p:cNvPr>
            <p:cNvSpPr>
              <a:spLocks noEditPoints="1"/>
            </p:cNvSpPr>
            <p:nvPr/>
          </p:nvSpPr>
          <p:spPr bwMode="auto">
            <a:xfrm rot="2954806">
              <a:off x="6670989" y="4622231"/>
              <a:ext cx="596501" cy="596501"/>
            </a:xfrm>
            <a:custGeom>
              <a:avLst/>
              <a:gdLst>
                <a:gd name="T0" fmla="*/ 192 w 384"/>
                <a:gd name="T1" fmla="*/ 0 h 384"/>
                <a:gd name="T2" fmla="*/ 0 w 384"/>
                <a:gd name="T3" fmla="*/ 192 h 384"/>
                <a:gd name="T4" fmla="*/ 192 w 384"/>
                <a:gd name="T5" fmla="*/ 384 h 384"/>
                <a:gd name="T6" fmla="*/ 384 w 384"/>
                <a:gd name="T7" fmla="*/ 192 h 384"/>
                <a:gd name="T8" fmla="*/ 192 w 384"/>
                <a:gd name="T9" fmla="*/ 0 h 384"/>
                <a:gd name="T10" fmla="*/ 192 w 384"/>
                <a:gd name="T11" fmla="*/ 349 h 384"/>
                <a:gd name="T12" fmla="*/ 35 w 384"/>
                <a:gd name="T13" fmla="*/ 192 h 384"/>
                <a:gd name="T14" fmla="*/ 192 w 384"/>
                <a:gd name="T15" fmla="*/ 35 h 384"/>
                <a:gd name="T16" fmla="*/ 349 w 384"/>
                <a:gd name="T17" fmla="*/ 192 h 384"/>
                <a:gd name="T18" fmla="*/ 192 w 384"/>
                <a:gd name="T19" fmla="*/ 34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384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cubicBezTo>
                    <a:pt x="298" y="384"/>
                    <a:pt x="384" y="298"/>
                    <a:pt x="384" y="192"/>
                  </a:cubicBezTo>
                  <a:cubicBezTo>
                    <a:pt x="384" y="86"/>
                    <a:pt x="298" y="0"/>
                    <a:pt x="192" y="0"/>
                  </a:cubicBezTo>
                  <a:close/>
                  <a:moveTo>
                    <a:pt x="192" y="349"/>
                  </a:moveTo>
                  <a:cubicBezTo>
                    <a:pt x="105" y="349"/>
                    <a:pt x="35" y="278"/>
                    <a:pt x="35" y="192"/>
                  </a:cubicBezTo>
                  <a:cubicBezTo>
                    <a:pt x="35" y="105"/>
                    <a:pt x="105" y="35"/>
                    <a:pt x="192" y="35"/>
                  </a:cubicBezTo>
                  <a:cubicBezTo>
                    <a:pt x="278" y="35"/>
                    <a:pt x="349" y="105"/>
                    <a:pt x="349" y="192"/>
                  </a:cubicBezTo>
                  <a:cubicBezTo>
                    <a:pt x="349" y="278"/>
                    <a:pt x="278" y="349"/>
                    <a:pt x="192" y="34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/>
            <a:lstStyle/>
            <a:p>
              <a:endParaRPr lang="en-US" sz="1200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4BA8BF4F-9D23-4D99-906E-5E5B502D38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2954806">
              <a:off x="6829209" y="4812490"/>
              <a:ext cx="287866" cy="254574"/>
            </a:xfrm>
            <a:custGeom>
              <a:avLst/>
              <a:gdLst>
                <a:gd name="connsiteX0" fmla="*/ 358785 w 512434"/>
                <a:gd name="connsiteY0" fmla="*/ 409158 h 453171"/>
                <a:gd name="connsiteX1" fmla="*/ 345300 w 512434"/>
                <a:gd name="connsiteY1" fmla="*/ 425866 h 453171"/>
                <a:gd name="connsiteX2" fmla="*/ 358785 w 512434"/>
                <a:gd name="connsiteY2" fmla="*/ 439722 h 453171"/>
                <a:gd name="connsiteX3" fmla="*/ 372270 w 512434"/>
                <a:gd name="connsiteY3" fmla="*/ 425866 h 453171"/>
                <a:gd name="connsiteX4" fmla="*/ 358785 w 512434"/>
                <a:gd name="connsiteY4" fmla="*/ 409158 h 453171"/>
                <a:gd name="connsiteX5" fmla="*/ 151153 w 512434"/>
                <a:gd name="connsiteY5" fmla="*/ 300585 h 453171"/>
                <a:gd name="connsiteX6" fmla="*/ 195731 w 512434"/>
                <a:gd name="connsiteY6" fmla="*/ 300585 h 453171"/>
                <a:gd name="connsiteX7" fmla="*/ 195731 w 512434"/>
                <a:gd name="connsiteY7" fmla="*/ 345175 h 453171"/>
                <a:gd name="connsiteX8" fmla="*/ 151153 w 512434"/>
                <a:gd name="connsiteY8" fmla="*/ 345175 h 453171"/>
                <a:gd name="connsiteX9" fmla="*/ 71978 w 512434"/>
                <a:gd name="connsiteY9" fmla="*/ 300585 h 453171"/>
                <a:gd name="connsiteX10" fmla="*/ 120152 w 512434"/>
                <a:gd name="connsiteY10" fmla="*/ 300585 h 453171"/>
                <a:gd name="connsiteX11" fmla="*/ 120152 w 512434"/>
                <a:gd name="connsiteY11" fmla="*/ 345175 h 453171"/>
                <a:gd name="connsiteX12" fmla="*/ 71978 w 512434"/>
                <a:gd name="connsiteY12" fmla="*/ 345175 h 453171"/>
                <a:gd name="connsiteX13" fmla="*/ 481786 w 512434"/>
                <a:gd name="connsiteY13" fmla="*/ 286492 h 453171"/>
                <a:gd name="connsiteX14" fmla="*/ 468300 w 512434"/>
                <a:gd name="connsiteY14" fmla="*/ 299940 h 453171"/>
                <a:gd name="connsiteX15" fmla="*/ 481786 w 512434"/>
                <a:gd name="connsiteY15" fmla="*/ 313389 h 453171"/>
                <a:gd name="connsiteX16" fmla="*/ 498948 w 512434"/>
                <a:gd name="connsiteY16" fmla="*/ 299940 h 453171"/>
                <a:gd name="connsiteX17" fmla="*/ 481786 w 512434"/>
                <a:gd name="connsiteY17" fmla="*/ 286492 h 453171"/>
                <a:gd name="connsiteX18" fmla="*/ 235785 w 512434"/>
                <a:gd name="connsiteY18" fmla="*/ 286492 h 453171"/>
                <a:gd name="connsiteX19" fmla="*/ 222300 w 512434"/>
                <a:gd name="connsiteY19" fmla="*/ 299940 h 453171"/>
                <a:gd name="connsiteX20" fmla="*/ 235785 w 512434"/>
                <a:gd name="connsiteY20" fmla="*/ 313389 h 453171"/>
                <a:gd name="connsiteX21" fmla="*/ 249270 w 512434"/>
                <a:gd name="connsiteY21" fmla="*/ 299940 h 453171"/>
                <a:gd name="connsiteX22" fmla="*/ 235785 w 512434"/>
                <a:gd name="connsiteY22" fmla="*/ 286492 h 453171"/>
                <a:gd name="connsiteX23" fmla="*/ 151153 w 512434"/>
                <a:gd name="connsiteY23" fmla="*/ 228588 h 453171"/>
                <a:gd name="connsiteX24" fmla="*/ 195731 w 512434"/>
                <a:gd name="connsiteY24" fmla="*/ 228588 h 453171"/>
                <a:gd name="connsiteX25" fmla="*/ 195731 w 512434"/>
                <a:gd name="connsiteY25" fmla="*/ 273178 h 453171"/>
                <a:gd name="connsiteX26" fmla="*/ 151153 w 512434"/>
                <a:gd name="connsiteY26" fmla="*/ 273178 h 453171"/>
                <a:gd name="connsiteX27" fmla="*/ 71978 w 512434"/>
                <a:gd name="connsiteY27" fmla="*/ 228588 h 453171"/>
                <a:gd name="connsiteX28" fmla="*/ 120152 w 512434"/>
                <a:gd name="connsiteY28" fmla="*/ 228588 h 453171"/>
                <a:gd name="connsiteX29" fmla="*/ 120152 w 512434"/>
                <a:gd name="connsiteY29" fmla="*/ 273178 h 453171"/>
                <a:gd name="connsiteX30" fmla="*/ 71978 w 512434"/>
                <a:gd name="connsiteY30" fmla="*/ 273178 h 453171"/>
                <a:gd name="connsiteX31" fmla="*/ 427028 w 512434"/>
                <a:gd name="connsiteY31" fmla="*/ 221695 h 453171"/>
                <a:gd name="connsiteX32" fmla="*/ 372270 w 512434"/>
                <a:gd name="connsiteY32" fmla="*/ 275896 h 453171"/>
                <a:gd name="connsiteX33" fmla="*/ 358785 w 512434"/>
                <a:gd name="connsiteY33" fmla="*/ 272636 h 453171"/>
                <a:gd name="connsiteX34" fmla="*/ 341622 w 512434"/>
                <a:gd name="connsiteY34" fmla="*/ 279564 h 453171"/>
                <a:gd name="connsiteX35" fmla="*/ 283596 w 512434"/>
                <a:gd name="connsiteY35" fmla="*/ 238404 h 453171"/>
                <a:gd name="connsiteX36" fmla="*/ 266433 w 512434"/>
                <a:gd name="connsiteY36" fmla="*/ 238404 h 453171"/>
                <a:gd name="connsiteX37" fmla="*/ 270111 w 512434"/>
                <a:gd name="connsiteY37" fmla="*/ 255520 h 453171"/>
                <a:gd name="connsiteX38" fmla="*/ 331406 w 512434"/>
                <a:gd name="connsiteY38" fmla="*/ 303200 h 453171"/>
                <a:gd name="connsiteX39" fmla="*/ 358785 w 512434"/>
                <a:gd name="connsiteY39" fmla="*/ 327245 h 453171"/>
                <a:gd name="connsiteX40" fmla="*/ 386164 w 512434"/>
                <a:gd name="connsiteY40" fmla="*/ 299940 h 453171"/>
                <a:gd name="connsiteX41" fmla="*/ 386164 w 512434"/>
                <a:gd name="connsiteY41" fmla="*/ 296680 h 453171"/>
                <a:gd name="connsiteX42" fmla="*/ 444191 w 512434"/>
                <a:gd name="connsiteY42" fmla="*/ 238404 h 453171"/>
                <a:gd name="connsiteX43" fmla="*/ 444191 w 512434"/>
                <a:gd name="connsiteY43" fmla="*/ 221695 h 453171"/>
                <a:gd name="connsiteX44" fmla="*/ 427028 w 512434"/>
                <a:gd name="connsiteY44" fmla="*/ 221695 h 453171"/>
                <a:gd name="connsiteX45" fmla="*/ 358785 w 512434"/>
                <a:gd name="connsiteY45" fmla="*/ 163826 h 453171"/>
                <a:gd name="connsiteX46" fmla="*/ 345300 w 512434"/>
                <a:gd name="connsiteY46" fmla="*/ 177274 h 453171"/>
                <a:gd name="connsiteX47" fmla="*/ 358785 w 512434"/>
                <a:gd name="connsiteY47" fmla="*/ 190723 h 453171"/>
                <a:gd name="connsiteX48" fmla="*/ 372270 w 512434"/>
                <a:gd name="connsiteY48" fmla="*/ 177274 h 453171"/>
                <a:gd name="connsiteX49" fmla="*/ 358785 w 512434"/>
                <a:gd name="connsiteY49" fmla="*/ 163826 h 453171"/>
                <a:gd name="connsiteX50" fmla="*/ 151153 w 512434"/>
                <a:gd name="connsiteY50" fmla="*/ 156592 h 453171"/>
                <a:gd name="connsiteX51" fmla="*/ 195731 w 512434"/>
                <a:gd name="connsiteY51" fmla="*/ 156592 h 453171"/>
                <a:gd name="connsiteX52" fmla="*/ 195731 w 512434"/>
                <a:gd name="connsiteY52" fmla="*/ 201182 h 453171"/>
                <a:gd name="connsiteX53" fmla="*/ 151153 w 512434"/>
                <a:gd name="connsiteY53" fmla="*/ 201182 h 453171"/>
                <a:gd name="connsiteX54" fmla="*/ 37595 w 512434"/>
                <a:gd name="connsiteY54" fmla="*/ 102289 h 453171"/>
                <a:gd name="connsiteX55" fmla="*/ 37595 w 512434"/>
                <a:gd name="connsiteY55" fmla="*/ 374925 h 453171"/>
                <a:gd name="connsiteX56" fmla="*/ 228838 w 512434"/>
                <a:gd name="connsiteY56" fmla="*/ 374925 h 453171"/>
                <a:gd name="connsiteX57" fmla="*/ 208406 w 512434"/>
                <a:gd name="connsiteY57" fmla="*/ 299940 h 453171"/>
                <a:gd name="connsiteX58" fmla="*/ 246001 w 512434"/>
                <a:gd name="connsiteY58" fmla="*/ 201318 h 453171"/>
                <a:gd name="connsiteX59" fmla="*/ 225569 w 512434"/>
                <a:gd name="connsiteY59" fmla="*/ 201318 h 453171"/>
                <a:gd name="connsiteX60" fmla="*/ 225569 w 512434"/>
                <a:gd name="connsiteY60" fmla="*/ 156898 h 453171"/>
                <a:gd name="connsiteX61" fmla="*/ 270111 w 512434"/>
                <a:gd name="connsiteY61" fmla="*/ 156898 h 453171"/>
                <a:gd name="connsiteX62" fmla="*/ 270111 w 512434"/>
                <a:gd name="connsiteY62" fmla="*/ 177274 h 453171"/>
                <a:gd name="connsiteX63" fmla="*/ 358785 w 512434"/>
                <a:gd name="connsiteY63" fmla="*/ 149970 h 453171"/>
                <a:gd name="connsiteX64" fmla="*/ 382895 w 512434"/>
                <a:gd name="connsiteY64" fmla="*/ 149970 h 453171"/>
                <a:gd name="connsiteX65" fmla="*/ 382895 w 512434"/>
                <a:gd name="connsiteY65" fmla="*/ 102289 h 453171"/>
                <a:gd name="connsiteX66" fmla="*/ 37595 w 512434"/>
                <a:gd name="connsiteY66" fmla="*/ 102289 h 453171"/>
                <a:gd name="connsiteX67" fmla="*/ 136894 w 512434"/>
                <a:gd name="connsiteY67" fmla="*/ 30564 h 453171"/>
                <a:gd name="connsiteX68" fmla="*/ 136894 w 512434"/>
                <a:gd name="connsiteY68" fmla="*/ 68057 h 453171"/>
                <a:gd name="connsiteX69" fmla="*/ 283596 w 512434"/>
                <a:gd name="connsiteY69" fmla="*/ 68057 h 453171"/>
                <a:gd name="connsiteX70" fmla="*/ 283596 w 512434"/>
                <a:gd name="connsiteY70" fmla="*/ 30564 h 453171"/>
                <a:gd name="connsiteX71" fmla="*/ 136894 w 512434"/>
                <a:gd name="connsiteY71" fmla="*/ 30564 h 453171"/>
                <a:gd name="connsiteX72" fmla="*/ 30648 w 512434"/>
                <a:gd name="connsiteY72" fmla="*/ 0 h 453171"/>
                <a:gd name="connsiteX73" fmla="*/ 389433 w 512434"/>
                <a:gd name="connsiteY73" fmla="*/ 0 h 453171"/>
                <a:gd name="connsiteX74" fmla="*/ 420490 w 512434"/>
                <a:gd name="connsiteY74" fmla="*/ 30564 h 453171"/>
                <a:gd name="connsiteX75" fmla="*/ 420490 w 512434"/>
                <a:gd name="connsiteY75" fmla="*/ 163826 h 453171"/>
                <a:gd name="connsiteX76" fmla="*/ 512434 w 512434"/>
                <a:gd name="connsiteY76" fmla="*/ 299940 h 453171"/>
                <a:gd name="connsiteX77" fmla="*/ 358785 w 512434"/>
                <a:gd name="connsiteY77" fmla="*/ 453171 h 453171"/>
                <a:gd name="connsiteX78" fmla="*/ 263164 w 512434"/>
                <a:gd name="connsiteY78" fmla="*/ 419346 h 453171"/>
                <a:gd name="connsiteX79" fmla="*/ 30648 w 512434"/>
                <a:gd name="connsiteY79" fmla="*/ 419346 h 453171"/>
                <a:gd name="connsiteX80" fmla="*/ 0 w 512434"/>
                <a:gd name="connsiteY80" fmla="*/ 388374 h 453171"/>
                <a:gd name="connsiteX81" fmla="*/ 0 w 512434"/>
                <a:gd name="connsiteY81" fmla="*/ 30564 h 453171"/>
                <a:gd name="connsiteX82" fmla="*/ 30648 w 512434"/>
                <a:gd name="connsiteY82" fmla="*/ 0 h 45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512434" h="453171">
                  <a:moveTo>
                    <a:pt x="358785" y="409158"/>
                  </a:moveTo>
                  <a:cubicBezTo>
                    <a:pt x="351838" y="409158"/>
                    <a:pt x="345300" y="415678"/>
                    <a:pt x="345300" y="425866"/>
                  </a:cubicBezTo>
                  <a:cubicBezTo>
                    <a:pt x="345300" y="432794"/>
                    <a:pt x="351838" y="439722"/>
                    <a:pt x="358785" y="439722"/>
                  </a:cubicBezTo>
                  <a:cubicBezTo>
                    <a:pt x="365732" y="439722"/>
                    <a:pt x="372270" y="432794"/>
                    <a:pt x="372270" y="425866"/>
                  </a:cubicBezTo>
                  <a:cubicBezTo>
                    <a:pt x="372270" y="415678"/>
                    <a:pt x="365732" y="409158"/>
                    <a:pt x="358785" y="409158"/>
                  </a:cubicBezTo>
                  <a:close/>
                  <a:moveTo>
                    <a:pt x="151153" y="300585"/>
                  </a:moveTo>
                  <a:lnTo>
                    <a:pt x="195731" y="300585"/>
                  </a:lnTo>
                  <a:lnTo>
                    <a:pt x="195731" y="345175"/>
                  </a:lnTo>
                  <a:lnTo>
                    <a:pt x="151153" y="345175"/>
                  </a:lnTo>
                  <a:close/>
                  <a:moveTo>
                    <a:pt x="71978" y="300585"/>
                  </a:moveTo>
                  <a:lnTo>
                    <a:pt x="120152" y="300585"/>
                  </a:lnTo>
                  <a:lnTo>
                    <a:pt x="120152" y="345175"/>
                  </a:lnTo>
                  <a:lnTo>
                    <a:pt x="71978" y="345175"/>
                  </a:lnTo>
                  <a:close/>
                  <a:moveTo>
                    <a:pt x="481786" y="286492"/>
                  </a:moveTo>
                  <a:cubicBezTo>
                    <a:pt x="474839" y="286492"/>
                    <a:pt x="468300" y="293012"/>
                    <a:pt x="468300" y="299940"/>
                  </a:cubicBezTo>
                  <a:cubicBezTo>
                    <a:pt x="468300" y="310128"/>
                    <a:pt x="474839" y="313389"/>
                    <a:pt x="481786" y="313389"/>
                  </a:cubicBezTo>
                  <a:cubicBezTo>
                    <a:pt x="492002" y="313389"/>
                    <a:pt x="498948" y="310128"/>
                    <a:pt x="498948" y="299940"/>
                  </a:cubicBezTo>
                  <a:cubicBezTo>
                    <a:pt x="498948" y="293012"/>
                    <a:pt x="492002" y="286492"/>
                    <a:pt x="481786" y="286492"/>
                  </a:cubicBezTo>
                  <a:close/>
                  <a:moveTo>
                    <a:pt x="235785" y="286492"/>
                  </a:moveTo>
                  <a:cubicBezTo>
                    <a:pt x="228838" y="286492"/>
                    <a:pt x="222300" y="293012"/>
                    <a:pt x="222300" y="299940"/>
                  </a:cubicBezTo>
                  <a:cubicBezTo>
                    <a:pt x="222300" y="310128"/>
                    <a:pt x="228838" y="313389"/>
                    <a:pt x="235785" y="313389"/>
                  </a:cubicBezTo>
                  <a:cubicBezTo>
                    <a:pt x="242732" y="313389"/>
                    <a:pt x="249270" y="310128"/>
                    <a:pt x="249270" y="299940"/>
                  </a:cubicBezTo>
                  <a:cubicBezTo>
                    <a:pt x="249270" y="293012"/>
                    <a:pt x="242732" y="286492"/>
                    <a:pt x="235785" y="286492"/>
                  </a:cubicBezTo>
                  <a:close/>
                  <a:moveTo>
                    <a:pt x="151153" y="228588"/>
                  </a:moveTo>
                  <a:lnTo>
                    <a:pt x="195731" y="228588"/>
                  </a:lnTo>
                  <a:lnTo>
                    <a:pt x="195731" y="273178"/>
                  </a:lnTo>
                  <a:lnTo>
                    <a:pt x="151153" y="273178"/>
                  </a:lnTo>
                  <a:close/>
                  <a:moveTo>
                    <a:pt x="71978" y="228588"/>
                  </a:moveTo>
                  <a:lnTo>
                    <a:pt x="120152" y="228588"/>
                  </a:lnTo>
                  <a:lnTo>
                    <a:pt x="120152" y="273178"/>
                  </a:lnTo>
                  <a:lnTo>
                    <a:pt x="71978" y="273178"/>
                  </a:lnTo>
                  <a:close/>
                  <a:moveTo>
                    <a:pt x="427028" y="221695"/>
                  </a:moveTo>
                  <a:cubicBezTo>
                    <a:pt x="427028" y="221695"/>
                    <a:pt x="427028" y="221695"/>
                    <a:pt x="372270" y="275896"/>
                  </a:cubicBezTo>
                  <a:cubicBezTo>
                    <a:pt x="369001" y="275896"/>
                    <a:pt x="365732" y="272636"/>
                    <a:pt x="358785" y="272636"/>
                  </a:cubicBezTo>
                  <a:cubicBezTo>
                    <a:pt x="351838" y="272636"/>
                    <a:pt x="345300" y="275896"/>
                    <a:pt x="341622" y="279564"/>
                  </a:cubicBezTo>
                  <a:cubicBezTo>
                    <a:pt x="341622" y="279564"/>
                    <a:pt x="341622" y="279564"/>
                    <a:pt x="283596" y="238404"/>
                  </a:cubicBezTo>
                  <a:cubicBezTo>
                    <a:pt x="280327" y="231883"/>
                    <a:pt x="270111" y="235143"/>
                    <a:pt x="266433" y="238404"/>
                  </a:cubicBezTo>
                  <a:cubicBezTo>
                    <a:pt x="263164" y="242071"/>
                    <a:pt x="266433" y="252260"/>
                    <a:pt x="270111" y="255520"/>
                  </a:cubicBezTo>
                  <a:cubicBezTo>
                    <a:pt x="270111" y="255520"/>
                    <a:pt x="270111" y="255520"/>
                    <a:pt x="331406" y="303200"/>
                  </a:cubicBezTo>
                  <a:cubicBezTo>
                    <a:pt x="331406" y="317056"/>
                    <a:pt x="345300" y="327245"/>
                    <a:pt x="358785" y="327245"/>
                  </a:cubicBezTo>
                  <a:cubicBezTo>
                    <a:pt x="375948" y="327245"/>
                    <a:pt x="386164" y="317056"/>
                    <a:pt x="386164" y="299940"/>
                  </a:cubicBezTo>
                  <a:lnTo>
                    <a:pt x="386164" y="296680"/>
                  </a:lnTo>
                  <a:cubicBezTo>
                    <a:pt x="386164" y="296680"/>
                    <a:pt x="386164" y="296680"/>
                    <a:pt x="444191" y="238404"/>
                  </a:cubicBezTo>
                  <a:cubicBezTo>
                    <a:pt x="447869" y="231883"/>
                    <a:pt x="451138" y="224955"/>
                    <a:pt x="444191" y="221695"/>
                  </a:cubicBezTo>
                  <a:cubicBezTo>
                    <a:pt x="440922" y="218027"/>
                    <a:pt x="433975" y="218027"/>
                    <a:pt x="427028" y="221695"/>
                  </a:cubicBezTo>
                  <a:close/>
                  <a:moveTo>
                    <a:pt x="358785" y="163826"/>
                  </a:moveTo>
                  <a:cubicBezTo>
                    <a:pt x="351838" y="163826"/>
                    <a:pt x="345300" y="170346"/>
                    <a:pt x="345300" y="177274"/>
                  </a:cubicBezTo>
                  <a:cubicBezTo>
                    <a:pt x="345300" y="184202"/>
                    <a:pt x="351838" y="190723"/>
                    <a:pt x="358785" y="190723"/>
                  </a:cubicBezTo>
                  <a:cubicBezTo>
                    <a:pt x="365732" y="190723"/>
                    <a:pt x="372270" y="184202"/>
                    <a:pt x="372270" y="177274"/>
                  </a:cubicBezTo>
                  <a:cubicBezTo>
                    <a:pt x="372270" y="170346"/>
                    <a:pt x="365732" y="163826"/>
                    <a:pt x="358785" y="163826"/>
                  </a:cubicBezTo>
                  <a:close/>
                  <a:moveTo>
                    <a:pt x="151153" y="156592"/>
                  </a:moveTo>
                  <a:lnTo>
                    <a:pt x="195731" y="156592"/>
                  </a:lnTo>
                  <a:lnTo>
                    <a:pt x="195731" y="201182"/>
                  </a:lnTo>
                  <a:lnTo>
                    <a:pt x="151153" y="201182"/>
                  </a:lnTo>
                  <a:close/>
                  <a:moveTo>
                    <a:pt x="37595" y="102289"/>
                  </a:moveTo>
                  <a:lnTo>
                    <a:pt x="37595" y="374925"/>
                  </a:lnTo>
                  <a:cubicBezTo>
                    <a:pt x="37595" y="374925"/>
                    <a:pt x="37595" y="374925"/>
                    <a:pt x="228838" y="374925"/>
                  </a:cubicBezTo>
                  <a:cubicBezTo>
                    <a:pt x="215353" y="354549"/>
                    <a:pt x="208406" y="327245"/>
                    <a:pt x="208406" y="299940"/>
                  </a:cubicBezTo>
                  <a:cubicBezTo>
                    <a:pt x="208406" y="262448"/>
                    <a:pt x="222300" y="228215"/>
                    <a:pt x="246001" y="201318"/>
                  </a:cubicBezTo>
                  <a:cubicBezTo>
                    <a:pt x="246001" y="201318"/>
                    <a:pt x="246001" y="201318"/>
                    <a:pt x="225569" y="201318"/>
                  </a:cubicBezTo>
                  <a:cubicBezTo>
                    <a:pt x="225569" y="201318"/>
                    <a:pt x="225569" y="201318"/>
                    <a:pt x="225569" y="156898"/>
                  </a:cubicBezTo>
                  <a:cubicBezTo>
                    <a:pt x="225569" y="156898"/>
                    <a:pt x="225569" y="156898"/>
                    <a:pt x="270111" y="156898"/>
                  </a:cubicBezTo>
                  <a:cubicBezTo>
                    <a:pt x="270111" y="156898"/>
                    <a:pt x="270111" y="156898"/>
                    <a:pt x="270111" y="177274"/>
                  </a:cubicBezTo>
                  <a:cubicBezTo>
                    <a:pt x="293812" y="160158"/>
                    <a:pt x="324868" y="149970"/>
                    <a:pt x="358785" y="149970"/>
                  </a:cubicBezTo>
                  <a:cubicBezTo>
                    <a:pt x="365732" y="149970"/>
                    <a:pt x="375948" y="149970"/>
                    <a:pt x="382895" y="149970"/>
                  </a:cubicBezTo>
                  <a:cubicBezTo>
                    <a:pt x="382895" y="149970"/>
                    <a:pt x="382895" y="149970"/>
                    <a:pt x="382895" y="102289"/>
                  </a:cubicBezTo>
                  <a:cubicBezTo>
                    <a:pt x="382895" y="102289"/>
                    <a:pt x="382895" y="102289"/>
                    <a:pt x="37595" y="102289"/>
                  </a:cubicBezTo>
                  <a:close/>
                  <a:moveTo>
                    <a:pt x="136894" y="30564"/>
                  </a:moveTo>
                  <a:lnTo>
                    <a:pt x="136894" y="68057"/>
                  </a:lnTo>
                  <a:cubicBezTo>
                    <a:pt x="136894" y="68057"/>
                    <a:pt x="136894" y="68057"/>
                    <a:pt x="283596" y="68057"/>
                  </a:cubicBezTo>
                  <a:cubicBezTo>
                    <a:pt x="283596" y="68057"/>
                    <a:pt x="283596" y="68057"/>
                    <a:pt x="283596" y="30564"/>
                  </a:cubicBezTo>
                  <a:cubicBezTo>
                    <a:pt x="283596" y="30564"/>
                    <a:pt x="283596" y="30564"/>
                    <a:pt x="136894" y="30564"/>
                  </a:cubicBezTo>
                  <a:close/>
                  <a:moveTo>
                    <a:pt x="30648" y="0"/>
                  </a:moveTo>
                  <a:cubicBezTo>
                    <a:pt x="30648" y="0"/>
                    <a:pt x="30648" y="0"/>
                    <a:pt x="389433" y="0"/>
                  </a:cubicBezTo>
                  <a:cubicBezTo>
                    <a:pt x="406596" y="0"/>
                    <a:pt x="420490" y="13856"/>
                    <a:pt x="420490" y="30564"/>
                  </a:cubicBezTo>
                  <a:cubicBezTo>
                    <a:pt x="420490" y="30564"/>
                    <a:pt x="420490" y="30564"/>
                    <a:pt x="420490" y="163826"/>
                  </a:cubicBezTo>
                  <a:cubicBezTo>
                    <a:pt x="474839" y="187463"/>
                    <a:pt x="512434" y="238404"/>
                    <a:pt x="512434" y="299940"/>
                  </a:cubicBezTo>
                  <a:cubicBezTo>
                    <a:pt x="512434" y="385113"/>
                    <a:pt x="444191" y="453171"/>
                    <a:pt x="358785" y="453171"/>
                  </a:cubicBezTo>
                  <a:cubicBezTo>
                    <a:pt x="324868" y="453171"/>
                    <a:pt x="290543" y="439722"/>
                    <a:pt x="263164" y="419346"/>
                  </a:cubicBezTo>
                  <a:cubicBezTo>
                    <a:pt x="263164" y="419346"/>
                    <a:pt x="263164" y="419346"/>
                    <a:pt x="30648" y="419346"/>
                  </a:cubicBezTo>
                  <a:cubicBezTo>
                    <a:pt x="13894" y="419346"/>
                    <a:pt x="0" y="405490"/>
                    <a:pt x="0" y="388374"/>
                  </a:cubicBezTo>
                  <a:cubicBezTo>
                    <a:pt x="0" y="388374"/>
                    <a:pt x="0" y="388374"/>
                    <a:pt x="0" y="30564"/>
                  </a:cubicBezTo>
                  <a:cubicBezTo>
                    <a:pt x="0" y="13856"/>
                    <a:pt x="13894" y="0"/>
                    <a:pt x="30648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pPr>
                <a:defRPr/>
              </a:pPr>
              <a:endParaRPr lang="en-US" sz="1200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2" name="Block Arc 19">
              <a:extLst>
                <a:ext uri="{FF2B5EF4-FFF2-40B4-BE49-F238E27FC236}">
                  <a16:creationId xmlns:a16="http://schemas.microsoft.com/office/drawing/2014/main" id="{A2183E35-9128-4EE1-AF72-48F56407482E}"/>
                </a:ext>
              </a:extLst>
            </p:cNvPr>
            <p:cNvSpPr/>
            <p:nvPr/>
          </p:nvSpPr>
          <p:spPr>
            <a:xfrm rot="2954806" flipH="1">
              <a:off x="4669166" y="2420317"/>
              <a:ext cx="2917228" cy="2917227"/>
            </a:xfrm>
            <a:prstGeom prst="blockArc">
              <a:avLst>
                <a:gd name="adj1" fmla="val 11789250"/>
                <a:gd name="adj2" fmla="val 15360620"/>
                <a:gd name="adj3" fmla="val 5119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900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3" name="Block Arc 20">
              <a:extLst>
                <a:ext uri="{FF2B5EF4-FFF2-40B4-BE49-F238E27FC236}">
                  <a16:creationId xmlns:a16="http://schemas.microsoft.com/office/drawing/2014/main" id="{3EAB95BC-A030-4CEC-8367-95E4FD8DFBFA}"/>
                </a:ext>
              </a:extLst>
            </p:cNvPr>
            <p:cNvSpPr/>
            <p:nvPr/>
          </p:nvSpPr>
          <p:spPr>
            <a:xfrm rot="2954806" flipH="1">
              <a:off x="4640384" y="2416566"/>
              <a:ext cx="2917228" cy="2917227"/>
            </a:xfrm>
            <a:prstGeom prst="blockArc">
              <a:avLst>
                <a:gd name="adj1" fmla="val 1053616"/>
                <a:gd name="adj2" fmla="val 4473124"/>
                <a:gd name="adj3" fmla="val 5193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endParaRPr>
            </a:p>
          </p:txBody>
        </p:sp>
        <p:sp>
          <p:nvSpPr>
            <p:cNvPr id="14" name="Block Arc 21">
              <a:extLst>
                <a:ext uri="{FF2B5EF4-FFF2-40B4-BE49-F238E27FC236}">
                  <a16:creationId xmlns:a16="http://schemas.microsoft.com/office/drawing/2014/main" id="{A1E4EE43-99F2-45B8-9514-B0D66BDB5826}"/>
                </a:ext>
              </a:extLst>
            </p:cNvPr>
            <p:cNvSpPr/>
            <p:nvPr/>
          </p:nvSpPr>
          <p:spPr>
            <a:xfrm rot="2954806">
              <a:off x="4618385" y="2391037"/>
              <a:ext cx="2917228" cy="2917227"/>
            </a:xfrm>
            <a:prstGeom prst="blockArc">
              <a:avLst>
                <a:gd name="adj1" fmla="val 1053616"/>
                <a:gd name="adj2" fmla="val 4473124"/>
                <a:gd name="adj3" fmla="val 5193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endParaRPr>
            </a:p>
          </p:txBody>
        </p:sp>
        <p:sp>
          <p:nvSpPr>
            <p:cNvPr id="15" name="Block Arc 22">
              <a:extLst>
                <a:ext uri="{FF2B5EF4-FFF2-40B4-BE49-F238E27FC236}">
                  <a16:creationId xmlns:a16="http://schemas.microsoft.com/office/drawing/2014/main" id="{C57763D1-D69E-40AD-A441-A2D5655ED940}"/>
                </a:ext>
              </a:extLst>
            </p:cNvPr>
            <p:cNvSpPr/>
            <p:nvPr/>
          </p:nvSpPr>
          <p:spPr>
            <a:xfrm rot="2954806">
              <a:off x="4630168" y="2375063"/>
              <a:ext cx="2917228" cy="2917227"/>
            </a:xfrm>
            <a:prstGeom prst="blockArc">
              <a:avLst>
                <a:gd name="adj1" fmla="val 11789250"/>
                <a:gd name="adj2" fmla="val 15360620"/>
                <a:gd name="adj3" fmla="val 5119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endParaRPr>
            </a:p>
          </p:txBody>
        </p:sp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AE55EEC7-17A8-4665-8BC6-28E620C0CA7E}"/>
                </a:ext>
              </a:extLst>
            </p:cNvPr>
            <p:cNvSpPr>
              <a:spLocks noEditPoints="1"/>
            </p:cNvSpPr>
            <p:nvPr/>
          </p:nvSpPr>
          <p:spPr bwMode="auto">
            <a:xfrm rot="2954806" flipH="1">
              <a:off x="4851670" y="2511051"/>
              <a:ext cx="596501" cy="596501"/>
            </a:xfrm>
            <a:custGeom>
              <a:avLst/>
              <a:gdLst>
                <a:gd name="T0" fmla="*/ 192 w 384"/>
                <a:gd name="T1" fmla="*/ 0 h 384"/>
                <a:gd name="T2" fmla="*/ 0 w 384"/>
                <a:gd name="T3" fmla="*/ 192 h 384"/>
                <a:gd name="T4" fmla="*/ 192 w 384"/>
                <a:gd name="T5" fmla="*/ 384 h 384"/>
                <a:gd name="T6" fmla="*/ 384 w 384"/>
                <a:gd name="T7" fmla="*/ 192 h 384"/>
                <a:gd name="T8" fmla="*/ 192 w 384"/>
                <a:gd name="T9" fmla="*/ 0 h 384"/>
                <a:gd name="T10" fmla="*/ 192 w 384"/>
                <a:gd name="T11" fmla="*/ 349 h 384"/>
                <a:gd name="T12" fmla="*/ 35 w 384"/>
                <a:gd name="T13" fmla="*/ 192 h 384"/>
                <a:gd name="T14" fmla="*/ 192 w 384"/>
                <a:gd name="T15" fmla="*/ 35 h 384"/>
                <a:gd name="T16" fmla="*/ 349 w 384"/>
                <a:gd name="T17" fmla="*/ 192 h 384"/>
                <a:gd name="T18" fmla="*/ 192 w 384"/>
                <a:gd name="T19" fmla="*/ 34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384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cubicBezTo>
                    <a:pt x="298" y="384"/>
                    <a:pt x="384" y="298"/>
                    <a:pt x="384" y="192"/>
                  </a:cubicBezTo>
                  <a:cubicBezTo>
                    <a:pt x="384" y="86"/>
                    <a:pt x="298" y="0"/>
                    <a:pt x="192" y="0"/>
                  </a:cubicBezTo>
                  <a:close/>
                  <a:moveTo>
                    <a:pt x="192" y="349"/>
                  </a:moveTo>
                  <a:cubicBezTo>
                    <a:pt x="105" y="349"/>
                    <a:pt x="35" y="278"/>
                    <a:pt x="35" y="192"/>
                  </a:cubicBezTo>
                  <a:cubicBezTo>
                    <a:pt x="35" y="105"/>
                    <a:pt x="105" y="35"/>
                    <a:pt x="192" y="35"/>
                  </a:cubicBezTo>
                  <a:cubicBezTo>
                    <a:pt x="278" y="35"/>
                    <a:pt x="349" y="105"/>
                    <a:pt x="349" y="192"/>
                  </a:cubicBezTo>
                  <a:cubicBezTo>
                    <a:pt x="349" y="278"/>
                    <a:pt x="278" y="349"/>
                    <a:pt x="192" y="34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/>
            <a:lstStyle/>
            <a:p>
              <a:endParaRPr lang="en-US" sz="1200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7" name="Freeform 273">
              <a:extLst>
                <a:ext uri="{FF2B5EF4-FFF2-40B4-BE49-F238E27FC236}">
                  <a16:creationId xmlns:a16="http://schemas.microsoft.com/office/drawing/2014/main" id="{29CFBD2B-BCE4-477C-AD4B-7DC63511B1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954806" flipH="1">
              <a:off x="5003357" y="2707205"/>
              <a:ext cx="282495" cy="192602"/>
            </a:xfrm>
            <a:custGeom>
              <a:avLst/>
              <a:gdLst>
                <a:gd name="T0" fmla="*/ 925 w 949"/>
                <a:gd name="T1" fmla="*/ 40 h 647"/>
                <a:gd name="T2" fmla="*/ 868 w 949"/>
                <a:gd name="T3" fmla="*/ 17 h 647"/>
                <a:gd name="T4" fmla="*/ 742 w 949"/>
                <a:gd name="T5" fmla="*/ 0 h 647"/>
                <a:gd name="T6" fmla="*/ 725 w 949"/>
                <a:gd name="T7" fmla="*/ 40 h 647"/>
                <a:gd name="T8" fmla="*/ 148 w 949"/>
                <a:gd name="T9" fmla="*/ 17 h 647"/>
                <a:gd name="T10" fmla="*/ 97 w 949"/>
                <a:gd name="T11" fmla="*/ 0 h 647"/>
                <a:gd name="T12" fmla="*/ 85 w 949"/>
                <a:gd name="T13" fmla="*/ 40 h 647"/>
                <a:gd name="T14" fmla="*/ 0 w 949"/>
                <a:gd name="T15" fmla="*/ 69 h 647"/>
                <a:gd name="T16" fmla="*/ 28 w 949"/>
                <a:gd name="T17" fmla="*/ 646 h 647"/>
                <a:gd name="T18" fmla="*/ 948 w 949"/>
                <a:gd name="T19" fmla="*/ 617 h 647"/>
                <a:gd name="T20" fmla="*/ 925 w 949"/>
                <a:gd name="T21" fmla="*/ 40 h 647"/>
                <a:gd name="T22" fmla="*/ 114 w 949"/>
                <a:gd name="T23" fmla="*/ 80 h 647"/>
                <a:gd name="T24" fmla="*/ 114 w 949"/>
                <a:gd name="T25" fmla="*/ 160 h 647"/>
                <a:gd name="T26" fmla="*/ 114 w 949"/>
                <a:gd name="T27" fmla="*/ 80 h 647"/>
                <a:gd name="T28" fmla="*/ 851 w 949"/>
                <a:gd name="T29" fmla="*/ 97 h 647"/>
                <a:gd name="T30" fmla="*/ 725 w 949"/>
                <a:gd name="T31" fmla="*/ 114 h 647"/>
                <a:gd name="T32" fmla="*/ 742 w 949"/>
                <a:gd name="T33" fmla="*/ 143 h 647"/>
                <a:gd name="T34" fmla="*/ 868 w 949"/>
                <a:gd name="T35" fmla="*/ 131 h 647"/>
                <a:gd name="T36" fmla="*/ 851 w 949"/>
                <a:gd name="T37" fmla="*/ 97 h 647"/>
                <a:gd name="T38" fmla="*/ 474 w 949"/>
                <a:gd name="T39" fmla="*/ 74 h 647"/>
                <a:gd name="T40" fmla="*/ 474 w 949"/>
                <a:gd name="T41" fmla="*/ 611 h 647"/>
                <a:gd name="T42" fmla="*/ 474 w 949"/>
                <a:gd name="T43" fmla="*/ 74 h 647"/>
                <a:gd name="T44" fmla="*/ 474 w 949"/>
                <a:gd name="T45" fmla="*/ 131 h 647"/>
                <a:gd name="T46" fmla="*/ 474 w 949"/>
                <a:gd name="T47" fmla="*/ 560 h 647"/>
                <a:gd name="T48" fmla="*/ 474 w 949"/>
                <a:gd name="T49" fmla="*/ 131 h 647"/>
                <a:gd name="T50" fmla="*/ 474 w 949"/>
                <a:gd name="T51" fmla="*/ 188 h 647"/>
                <a:gd name="T52" fmla="*/ 474 w 949"/>
                <a:gd name="T53" fmla="*/ 497 h 647"/>
                <a:gd name="T54" fmla="*/ 474 w 949"/>
                <a:gd name="T55" fmla="*/ 188 h 647"/>
                <a:gd name="T56" fmla="*/ 474 w 949"/>
                <a:gd name="T57" fmla="*/ 229 h 647"/>
                <a:gd name="T58" fmla="*/ 497 w 949"/>
                <a:gd name="T59" fmla="*/ 251 h 647"/>
                <a:gd name="T60" fmla="*/ 394 w 949"/>
                <a:gd name="T61" fmla="*/ 423 h 647"/>
                <a:gd name="T62" fmla="*/ 474 w 949"/>
                <a:gd name="T63" fmla="*/ 229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9" h="647">
                  <a:moveTo>
                    <a:pt x="925" y="40"/>
                  </a:moveTo>
                  <a:lnTo>
                    <a:pt x="925" y="40"/>
                  </a:lnTo>
                  <a:cubicBezTo>
                    <a:pt x="868" y="40"/>
                    <a:pt x="868" y="40"/>
                    <a:pt x="868" y="40"/>
                  </a:cubicBezTo>
                  <a:cubicBezTo>
                    <a:pt x="868" y="17"/>
                    <a:pt x="868" y="17"/>
                    <a:pt x="868" y="17"/>
                  </a:cubicBezTo>
                  <a:cubicBezTo>
                    <a:pt x="868" y="6"/>
                    <a:pt x="862" y="0"/>
                    <a:pt x="851" y="0"/>
                  </a:cubicBezTo>
                  <a:cubicBezTo>
                    <a:pt x="742" y="0"/>
                    <a:pt x="742" y="0"/>
                    <a:pt x="742" y="0"/>
                  </a:cubicBezTo>
                  <a:cubicBezTo>
                    <a:pt x="731" y="0"/>
                    <a:pt x="725" y="6"/>
                    <a:pt x="725" y="17"/>
                  </a:cubicBezTo>
                  <a:cubicBezTo>
                    <a:pt x="725" y="40"/>
                    <a:pt x="725" y="40"/>
                    <a:pt x="725" y="40"/>
                  </a:cubicBezTo>
                  <a:cubicBezTo>
                    <a:pt x="148" y="40"/>
                    <a:pt x="148" y="40"/>
                    <a:pt x="148" y="40"/>
                  </a:cubicBezTo>
                  <a:cubicBezTo>
                    <a:pt x="148" y="17"/>
                    <a:pt x="148" y="17"/>
                    <a:pt x="148" y="17"/>
                  </a:cubicBezTo>
                  <a:cubicBezTo>
                    <a:pt x="148" y="6"/>
                    <a:pt x="148" y="0"/>
                    <a:pt x="13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1" y="0"/>
                    <a:pt x="85" y="6"/>
                    <a:pt x="85" y="17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11" y="40"/>
                    <a:pt x="0" y="51"/>
                    <a:pt x="0" y="69"/>
                  </a:cubicBezTo>
                  <a:cubicBezTo>
                    <a:pt x="0" y="617"/>
                    <a:pt x="0" y="617"/>
                    <a:pt x="0" y="617"/>
                  </a:cubicBezTo>
                  <a:cubicBezTo>
                    <a:pt x="0" y="634"/>
                    <a:pt x="11" y="646"/>
                    <a:pt x="28" y="646"/>
                  </a:cubicBezTo>
                  <a:cubicBezTo>
                    <a:pt x="925" y="646"/>
                    <a:pt x="925" y="646"/>
                    <a:pt x="925" y="646"/>
                  </a:cubicBezTo>
                  <a:cubicBezTo>
                    <a:pt x="942" y="646"/>
                    <a:pt x="948" y="634"/>
                    <a:pt x="948" y="617"/>
                  </a:cubicBezTo>
                  <a:cubicBezTo>
                    <a:pt x="948" y="69"/>
                    <a:pt x="948" y="69"/>
                    <a:pt x="948" y="69"/>
                  </a:cubicBezTo>
                  <a:cubicBezTo>
                    <a:pt x="948" y="51"/>
                    <a:pt x="942" y="40"/>
                    <a:pt x="925" y="40"/>
                  </a:cubicBezTo>
                  <a:close/>
                  <a:moveTo>
                    <a:pt x="114" y="80"/>
                  </a:moveTo>
                  <a:lnTo>
                    <a:pt x="114" y="80"/>
                  </a:lnTo>
                  <a:cubicBezTo>
                    <a:pt x="97" y="80"/>
                    <a:pt x="74" y="97"/>
                    <a:pt x="74" y="120"/>
                  </a:cubicBezTo>
                  <a:cubicBezTo>
                    <a:pt x="74" y="143"/>
                    <a:pt x="97" y="160"/>
                    <a:pt x="114" y="160"/>
                  </a:cubicBezTo>
                  <a:cubicBezTo>
                    <a:pt x="143" y="160"/>
                    <a:pt x="160" y="143"/>
                    <a:pt x="160" y="120"/>
                  </a:cubicBezTo>
                  <a:cubicBezTo>
                    <a:pt x="160" y="97"/>
                    <a:pt x="143" y="80"/>
                    <a:pt x="114" y="80"/>
                  </a:cubicBezTo>
                  <a:close/>
                  <a:moveTo>
                    <a:pt x="851" y="97"/>
                  </a:moveTo>
                  <a:lnTo>
                    <a:pt x="851" y="97"/>
                  </a:lnTo>
                  <a:cubicBezTo>
                    <a:pt x="742" y="97"/>
                    <a:pt x="742" y="97"/>
                    <a:pt x="742" y="97"/>
                  </a:cubicBezTo>
                  <a:cubicBezTo>
                    <a:pt x="731" y="97"/>
                    <a:pt x="725" y="103"/>
                    <a:pt x="725" y="114"/>
                  </a:cubicBezTo>
                  <a:cubicBezTo>
                    <a:pt x="725" y="131"/>
                    <a:pt x="725" y="131"/>
                    <a:pt x="725" y="131"/>
                  </a:cubicBezTo>
                  <a:cubicBezTo>
                    <a:pt x="725" y="137"/>
                    <a:pt x="731" y="143"/>
                    <a:pt x="742" y="143"/>
                  </a:cubicBezTo>
                  <a:cubicBezTo>
                    <a:pt x="851" y="143"/>
                    <a:pt x="851" y="143"/>
                    <a:pt x="851" y="143"/>
                  </a:cubicBezTo>
                  <a:cubicBezTo>
                    <a:pt x="862" y="143"/>
                    <a:pt x="868" y="137"/>
                    <a:pt x="868" y="131"/>
                  </a:cubicBezTo>
                  <a:cubicBezTo>
                    <a:pt x="868" y="114"/>
                    <a:pt x="868" y="114"/>
                    <a:pt x="868" y="114"/>
                  </a:cubicBezTo>
                  <a:cubicBezTo>
                    <a:pt x="868" y="103"/>
                    <a:pt x="862" y="97"/>
                    <a:pt x="851" y="97"/>
                  </a:cubicBezTo>
                  <a:close/>
                  <a:moveTo>
                    <a:pt x="474" y="74"/>
                  </a:moveTo>
                  <a:lnTo>
                    <a:pt x="474" y="74"/>
                  </a:lnTo>
                  <a:cubicBezTo>
                    <a:pt x="623" y="74"/>
                    <a:pt x="742" y="194"/>
                    <a:pt x="742" y="343"/>
                  </a:cubicBezTo>
                  <a:cubicBezTo>
                    <a:pt x="742" y="491"/>
                    <a:pt x="623" y="611"/>
                    <a:pt x="474" y="611"/>
                  </a:cubicBezTo>
                  <a:cubicBezTo>
                    <a:pt x="331" y="611"/>
                    <a:pt x="206" y="491"/>
                    <a:pt x="206" y="343"/>
                  </a:cubicBezTo>
                  <a:cubicBezTo>
                    <a:pt x="206" y="194"/>
                    <a:pt x="331" y="74"/>
                    <a:pt x="474" y="74"/>
                  </a:cubicBezTo>
                  <a:close/>
                  <a:moveTo>
                    <a:pt x="474" y="131"/>
                  </a:moveTo>
                  <a:lnTo>
                    <a:pt x="474" y="131"/>
                  </a:lnTo>
                  <a:cubicBezTo>
                    <a:pt x="594" y="131"/>
                    <a:pt x="691" y="223"/>
                    <a:pt x="691" y="343"/>
                  </a:cubicBezTo>
                  <a:cubicBezTo>
                    <a:pt x="691" y="463"/>
                    <a:pt x="594" y="560"/>
                    <a:pt x="474" y="560"/>
                  </a:cubicBezTo>
                  <a:cubicBezTo>
                    <a:pt x="360" y="560"/>
                    <a:pt x="263" y="463"/>
                    <a:pt x="263" y="343"/>
                  </a:cubicBezTo>
                  <a:cubicBezTo>
                    <a:pt x="263" y="223"/>
                    <a:pt x="360" y="131"/>
                    <a:pt x="474" y="131"/>
                  </a:cubicBezTo>
                  <a:close/>
                  <a:moveTo>
                    <a:pt x="474" y="188"/>
                  </a:moveTo>
                  <a:lnTo>
                    <a:pt x="474" y="188"/>
                  </a:lnTo>
                  <a:cubicBezTo>
                    <a:pt x="560" y="188"/>
                    <a:pt x="628" y="257"/>
                    <a:pt x="628" y="343"/>
                  </a:cubicBezTo>
                  <a:cubicBezTo>
                    <a:pt x="628" y="428"/>
                    <a:pt x="560" y="497"/>
                    <a:pt x="474" y="497"/>
                  </a:cubicBezTo>
                  <a:cubicBezTo>
                    <a:pt x="394" y="497"/>
                    <a:pt x="325" y="428"/>
                    <a:pt x="325" y="343"/>
                  </a:cubicBezTo>
                  <a:cubicBezTo>
                    <a:pt x="325" y="257"/>
                    <a:pt x="394" y="188"/>
                    <a:pt x="474" y="188"/>
                  </a:cubicBezTo>
                  <a:close/>
                  <a:moveTo>
                    <a:pt x="474" y="229"/>
                  </a:moveTo>
                  <a:lnTo>
                    <a:pt x="474" y="229"/>
                  </a:lnTo>
                  <a:cubicBezTo>
                    <a:pt x="514" y="229"/>
                    <a:pt x="542" y="246"/>
                    <a:pt x="565" y="268"/>
                  </a:cubicBezTo>
                  <a:cubicBezTo>
                    <a:pt x="548" y="257"/>
                    <a:pt x="520" y="251"/>
                    <a:pt x="497" y="251"/>
                  </a:cubicBezTo>
                  <a:cubicBezTo>
                    <a:pt x="434" y="251"/>
                    <a:pt x="377" y="303"/>
                    <a:pt x="377" y="366"/>
                  </a:cubicBezTo>
                  <a:cubicBezTo>
                    <a:pt x="377" y="388"/>
                    <a:pt x="382" y="405"/>
                    <a:pt x="394" y="423"/>
                  </a:cubicBezTo>
                  <a:cubicBezTo>
                    <a:pt x="371" y="405"/>
                    <a:pt x="360" y="377"/>
                    <a:pt x="360" y="343"/>
                  </a:cubicBezTo>
                  <a:cubicBezTo>
                    <a:pt x="360" y="280"/>
                    <a:pt x="411" y="229"/>
                    <a:pt x="474" y="229"/>
                  </a:cubicBez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900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8" name="Freeform 23">
              <a:extLst>
                <a:ext uri="{FF2B5EF4-FFF2-40B4-BE49-F238E27FC236}">
                  <a16:creationId xmlns:a16="http://schemas.microsoft.com/office/drawing/2014/main" id="{E7970319-FD8E-4861-B001-305B5A6F1E15}"/>
                </a:ext>
              </a:extLst>
            </p:cNvPr>
            <p:cNvSpPr>
              <a:spLocks noEditPoints="1"/>
            </p:cNvSpPr>
            <p:nvPr/>
          </p:nvSpPr>
          <p:spPr bwMode="auto">
            <a:xfrm rot="2954806">
              <a:off x="6814178" y="2691580"/>
              <a:ext cx="596501" cy="596501"/>
            </a:xfrm>
            <a:custGeom>
              <a:avLst/>
              <a:gdLst>
                <a:gd name="T0" fmla="*/ 192 w 384"/>
                <a:gd name="T1" fmla="*/ 0 h 384"/>
                <a:gd name="T2" fmla="*/ 0 w 384"/>
                <a:gd name="T3" fmla="*/ 192 h 384"/>
                <a:gd name="T4" fmla="*/ 192 w 384"/>
                <a:gd name="T5" fmla="*/ 384 h 384"/>
                <a:gd name="T6" fmla="*/ 384 w 384"/>
                <a:gd name="T7" fmla="*/ 192 h 384"/>
                <a:gd name="T8" fmla="*/ 192 w 384"/>
                <a:gd name="T9" fmla="*/ 0 h 384"/>
                <a:gd name="T10" fmla="*/ 192 w 384"/>
                <a:gd name="T11" fmla="*/ 349 h 384"/>
                <a:gd name="T12" fmla="*/ 35 w 384"/>
                <a:gd name="T13" fmla="*/ 192 h 384"/>
                <a:gd name="T14" fmla="*/ 192 w 384"/>
                <a:gd name="T15" fmla="*/ 35 h 384"/>
                <a:gd name="T16" fmla="*/ 349 w 384"/>
                <a:gd name="T17" fmla="*/ 192 h 384"/>
                <a:gd name="T18" fmla="*/ 192 w 384"/>
                <a:gd name="T19" fmla="*/ 34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384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cubicBezTo>
                    <a:pt x="298" y="384"/>
                    <a:pt x="384" y="298"/>
                    <a:pt x="384" y="192"/>
                  </a:cubicBezTo>
                  <a:cubicBezTo>
                    <a:pt x="384" y="86"/>
                    <a:pt x="298" y="0"/>
                    <a:pt x="192" y="0"/>
                  </a:cubicBezTo>
                  <a:close/>
                  <a:moveTo>
                    <a:pt x="192" y="349"/>
                  </a:moveTo>
                  <a:cubicBezTo>
                    <a:pt x="105" y="349"/>
                    <a:pt x="35" y="278"/>
                    <a:pt x="35" y="192"/>
                  </a:cubicBezTo>
                  <a:cubicBezTo>
                    <a:pt x="35" y="105"/>
                    <a:pt x="105" y="35"/>
                    <a:pt x="192" y="35"/>
                  </a:cubicBezTo>
                  <a:cubicBezTo>
                    <a:pt x="278" y="35"/>
                    <a:pt x="349" y="105"/>
                    <a:pt x="349" y="192"/>
                  </a:cubicBezTo>
                  <a:cubicBezTo>
                    <a:pt x="349" y="278"/>
                    <a:pt x="278" y="349"/>
                    <a:pt x="192" y="34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/>
            <a:lstStyle/>
            <a:p>
              <a:endParaRPr lang="en-US" sz="1200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20" name="Freeform 23">
              <a:extLst>
                <a:ext uri="{FF2B5EF4-FFF2-40B4-BE49-F238E27FC236}">
                  <a16:creationId xmlns:a16="http://schemas.microsoft.com/office/drawing/2014/main" id="{2C3EE837-72B4-46F9-AC33-6A562D187F55}"/>
                </a:ext>
              </a:extLst>
            </p:cNvPr>
            <p:cNvSpPr>
              <a:spLocks noEditPoints="1"/>
            </p:cNvSpPr>
            <p:nvPr/>
          </p:nvSpPr>
          <p:spPr bwMode="auto">
            <a:xfrm rot="2954806">
              <a:off x="4813203" y="4415927"/>
              <a:ext cx="596501" cy="596501"/>
            </a:xfrm>
            <a:custGeom>
              <a:avLst/>
              <a:gdLst>
                <a:gd name="T0" fmla="*/ 192 w 384"/>
                <a:gd name="T1" fmla="*/ 0 h 384"/>
                <a:gd name="T2" fmla="*/ 0 w 384"/>
                <a:gd name="T3" fmla="*/ 192 h 384"/>
                <a:gd name="T4" fmla="*/ 192 w 384"/>
                <a:gd name="T5" fmla="*/ 384 h 384"/>
                <a:gd name="T6" fmla="*/ 384 w 384"/>
                <a:gd name="T7" fmla="*/ 192 h 384"/>
                <a:gd name="T8" fmla="*/ 192 w 384"/>
                <a:gd name="T9" fmla="*/ 0 h 384"/>
                <a:gd name="T10" fmla="*/ 192 w 384"/>
                <a:gd name="T11" fmla="*/ 349 h 384"/>
                <a:gd name="T12" fmla="*/ 35 w 384"/>
                <a:gd name="T13" fmla="*/ 192 h 384"/>
                <a:gd name="T14" fmla="*/ 192 w 384"/>
                <a:gd name="T15" fmla="*/ 35 h 384"/>
                <a:gd name="T16" fmla="*/ 349 w 384"/>
                <a:gd name="T17" fmla="*/ 192 h 384"/>
                <a:gd name="T18" fmla="*/ 192 w 384"/>
                <a:gd name="T19" fmla="*/ 34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384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4"/>
                    <a:pt x="192" y="384"/>
                  </a:cubicBezTo>
                  <a:cubicBezTo>
                    <a:pt x="298" y="384"/>
                    <a:pt x="384" y="298"/>
                    <a:pt x="384" y="192"/>
                  </a:cubicBezTo>
                  <a:cubicBezTo>
                    <a:pt x="384" y="86"/>
                    <a:pt x="298" y="0"/>
                    <a:pt x="192" y="0"/>
                  </a:cubicBezTo>
                  <a:close/>
                  <a:moveTo>
                    <a:pt x="192" y="349"/>
                  </a:moveTo>
                  <a:cubicBezTo>
                    <a:pt x="105" y="349"/>
                    <a:pt x="35" y="278"/>
                    <a:pt x="35" y="192"/>
                  </a:cubicBezTo>
                  <a:cubicBezTo>
                    <a:pt x="35" y="105"/>
                    <a:pt x="105" y="35"/>
                    <a:pt x="192" y="35"/>
                  </a:cubicBezTo>
                  <a:cubicBezTo>
                    <a:pt x="278" y="35"/>
                    <a:pt x="349" y="105"/>
                    <a:pt x="349" y="192"/>
                  </a:cubicBezTo>
                  <a:cubicBezTo>
                    <a:pt x="349" y="278"/>
                    <a:pt x="278" y="349"/>
                    <a:pt x="192" y="34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/>
            <a:lstStyle/>
            <a:p>
              <a:endParaRPr lang="en-US" sz="1200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21" name="Freeform 38">
              <a:extLst>
                <a:ext uri="{FF2B5EF4-FFF2-40B4-BE49-F238E27FC236}">
                  <a16:creationId xmlns:a16="http://schemas.microsoft.com/office/drawing/2014/main" id="{BBB57080-4C36-4431-A683-AD0B616C2718}"/>
                </a:ext>
              </a:extLst>
            </p:cNvPr>
            <p:cNvSpPr/>
            <p:nvPr/>
          </p:nvSpPr>
          <p:spPr>
            <a:xfrm rot="2954806" flipH="1">
              <a:off x="5445156" y="3167543"/>
              <a:ext cx="1364615" cy="1364615"/>
            </a:xfrm>
            <a:custGeom>
              <a:avLst/>
              <a:gdLst>
                <a:gd name="connsiteX0" fmla="*/ 0 w 1293577"/>
                <a:gd name="connsiteY0" fmla="*/ 646789 h 1293577"/>
                <a:gd name="connsiteX1" fmla="*/ 189441 w 1293577"/>
                <a:gd name="connsiteY1" fmla="*/ 189440 h 1293577"/>
                <a:gd name="connsiteX2" fmla="*/ 646790 w 1293577"/>
                <a:gd name="connsiteY2" fmla="*/ 1 h 1293577"/>
                <a:gd name="connsiteX3" fmla="*/ 1104139 w 1293577"/>
                <a:gd name="connsiteY3" fmla="*/ 189442 h 1293577"/>
                <a:gd name="connsiteX4" fmla="*/ 1293578 w 1293577"/>
                <a:gd name="connsiteY4" fmla="*/ 646791 h 1293577"/>
                <a:gd name="connsiteX5" fmla="*/ 1104138 w 1293577"/>
                <a:gd name="connsiteY5" fmla="*/ 1104140 h 1293577"/>
                <a:gd name="connsiteX6" fmla="*/ 646789 w 1293577"/>
                <a:gd name="connsiteY6" fmla="*/ 1293580 h 1293577"/>
                <a:gd name="connsiteX7" fmla="*/ 189440 w 1293577"/>
                <a:gd name="connsiteY7" fmla="*/ 1104139 h 1293577"/>
                <a:gd name="connsiteX8" fmla="*/ 0 w 1293577"/>
                <a:gd name="connsiteY8" fmla="*/ 646790 h 1293577"/>
                <a:gd name="connsiteX9" fmla="*/ 0 w 1293577"/>
                <a:gd name="connsiteY9" fmla="*/ 646789 h 1293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3577" h="1293577">
                  <a:moveTo>
                    <a:pt x="0" y="646789"/>
                  </a:moveTo>
                  <a:cubicBezTo>
                    <a:pt x="0" y="475250"/>
                    <a:pt x="68144" y="310737"/>
                    <a:pt x="189441" y="189440"/>
                  </a:cubicBezTo>
                  <a:cubicBezTo>
                    <a:pt x="310738" y="68144"/>
                    <a:pt x="475251" y="0"/>
                    <a:pt x="646790" y="1"/>
                  </a:cubicBezTo>
                  <a:cubicBezTo>
                    <a:pt x="818329" y="1"/>
                    <a:pt x="982842" y="68145"/>
                    <a:pt x="1104139" y="189442"/>
                  </a:cubicBezTo>
                  <a:cubicBezTo>
                    <a:pt x="1225435" y="310739"/>
                    <a:pt x="1293579" y="475252"/>
                    <a:pt x="1293578" y="646791"/>
                  </a:cubicBezTo>
                  <a:cubicBezTo>
                    <a:pt x="1293578" y="818330"/>
                    <a:pt x="1225434" y="982844"/>
                    <a:pt x="1104138" y="1104140"/>
                  </a:cubicBezTo>
                  <a:cubicBezTo>
                    <a:pt x="982841" y="1225436"/>
                    <a:pt x="818328" y="1293580"/>
                    <a:pt x="646789" y="1293580"/>
                  </a:cubicBezTo>
                  <a:cubicBezTo>
                    <a:pt x="475250" y="1293580"/>
                    <a:pt x="310736" y="1225436"/>
                    <a:pt x="189440" y="1104139"/>
                  </a:cubicBezTo>
                  <a:cubicBezTo>
                    <a:pt x="68144" y="982842"/>
                    <a:pt x="0" y="818329"/>
                    <a:pt x="0" y="646790"/>
                  </a:cubicBezTo>
                  <a:lnTo>
                    <a:pt x="0" y="64678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135" tIns="113135" rIns="113135" bIns="113135" numCol="1" spcCol="1270" anchor="b" anchorCtr="0">
              <a:noAutofit/>
            </a:bodyPr>
            <a:lstStyle/>
            <a:p>
              <a:pPr algn="ctr" defTabSz="6445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700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22" name="Freeform 40">
              <a:extLst>
                <a:ext uri="{FF2B5EF4-FFF2-40B4-BE49-F238E27FC236}">
                  <a16:creationId xmlns:a16="http://schemas.microsoft.com/office/drawing/2014/main" id="{80113B86-BE86-4E48-BC1E-C75BBE111E3D}"/>
                </a:ext>
              </a:extLst>
            </p:cNvPr>
            <p:cNvSpPr>
              <a:spLocks noEditPoints="1"/>
            </p:cNvSpPr>
            <p:nvPr/>
          </p:nvSpPr>
          <p:spPr bwMode="auto">
            <a:xfrm rot="2954806">
              <a:off x="7015874" y="2819886"/>
              <a:ext cx="207410" cy="327565"/>
            </a:xfrm>
            <a:custGeom>
              <a:avLst/>
              <a:gdLst>
                <a:gd name="T0" fmla="*/ 57 w 67"/>
                <a:gd name="T1" fmla="*/ 10 h 106"/>
                <a:gd name="T2" fmla="*/ 62 w 67"/>
                <a:gd name="T3" fmla="*/ 51 h 106"/>
                <a:gd name="T4" fmla="*/ 51 w 67"/>
                <a:gd name="T5" fmla="*/ 66 h 106"/>
                <a:gd name="T6" fmla="*/ 55 w 67"/>
                <a:gd name="T7" fmla="*/ 65 h 106"/>
                <a:gd name="T8" fmla="*/ 57 w 67"/>
                <a:gd name="T9" fmla="*/ 73 h 106"/>
                <a:gd name="T10" fmla="*/ 56 w 67"/>
                <a:gd name="T11" fmla="*/ 80 h 106"/>
                <a:gd name="T12" fmla="*/ 57 w 67"/>
                <a:gd name="T13" fmla="*/ 86 h 106"/>
                <a:gd name="T14" fmla="*/ 55 w 67"/>
                <a:gd name="T15" fmla="*/ 93 h 106"/>
                <a:gd name="T16" fmla="*/ 15 w 67"/>
                <a:gd name="T17" fmla="*/ 97 h 106"/>
                <a:gd name="T18" fmla="*/ 12 w 67"/>
                <a:gd name="T19" fmla="*/ 95 h 106"/>
                <a:gd name="T20" fmla="*/ 12 w 67"/>
                <a:gd name="T21" fmla="*/ 83 h 106"/>
                <a:gd name="T22" fmla="*/ 12 w 67"/>
                <a:gd name="T23" fmla="*/ 82 h 106"/>
                <a:gd name="T24" fmla="*/ 12 w 67"/>
                <a:gd name="T25" fmla="*/ 71 h 106"/>
                <a:gd name="T26" fmla="*/ 15 w 67"/>
                <a:gd name="T27" fmla="*/ 69 h 106"/>
                <a:gd name="T28" fmla="*/ 16 w 67"/>
                <a:gd name="T29" fmla="*/ 63 h 106"/>
                <a:gd name="T30" fmla="*/ 0 w 67"/>
                <a:gd name="T31" fmla="*/ 34 h 106"/>
                <a:gd name="T32" fmla="*/ 33 w 67"/>
                <a:gd name="T33" fmla="*/ 0 h 106"/>
                <a:gd name="T34" fmla="*/ 28 w 67"/>
                <a:gd name="T35" fmla="*/ 41 h 106"/>
                <a:gd name="T36" fmla="*/ 30 w 67"/>
                <a:gd name="T37" fmla="*/ 39 h 106"/>
                <a:gd name="T38" fmla="*/ 33 w 67"/>
                <a:gd name="T39" fmla="*/ 41 h 106"/>
                <a:gd name="T40" fmla="*/ 36 w 67"/>
                <a:gd name="T41" fmla="*/ 39 h 106"/>
                <a:gd name="T42" fmla="*/ 39 w 67"/>
                <a:gd name="T43" fmla="*/ 41 h 106"/>
                <a:gd name="T44" fmla="*/ 43 w 67"/>
                <a:gd name="T45" fmla="*/ 38 h 106"/>
                <a:gd name="T46" fmla="*/ 39 w 67"/>
                <a:gd name="T47" fmla="*/ 52 h 106"/>
                <a:gd name="T48" fmla="*/ 44 w 67"/>
                <a:gd name="T49" fmla="*/ 66 h 106"/>
                <a:gd name="T50" fmla="*/ 44 w 67"/>
                <a:gd name="T51" fmla="*/ 58 h 106"/>
                <a:gd name="T52" fmla="*/ 56 w 67"/>
                <a:gd name="T53" fmla="*/ 47 h 106"/>
                <a:gd name="T54" fmla="*/ 52 w 67"/>
                <a:gd name="T55" fmla="*/ 15 h 106"/>
                <a:gd name="T56" fmla="*/ 15 w 67"/>
                <a:gd name="T57" fmla="*/ 15 h 106"/>
                <a:gd name="T58" fmla="*/ 11 w 67"/>
                <a:gd name="T59" fmla="*/ 48 h 106"/>
                <a:gd name="T60" fmla="*/ 23 w 67"/>
                <a:gd name="T61" fmla="*/ 59 h 106"/>
                <a:gd name="T62" fmla="*/ 23 w 67"/>
                <a:gd name="T63" fmla="*/ 67 h 106"/>
                <a:gd name="T64" fmla="*/ 29 w 67"/>
                <a:gd name="T65" fmla="*/ 52 h 106"/>
                <a:gd name="T66" fmla="*/ 25 w 67"/>
                <a:gd name="T67" fmla="*/ 38 h 106"/>
                <a:gd name="T68" fmla="*/ 40 w 67"/>
                <a:gd name="T69" fmla="*/ 43 h 106"/>
                <a:gd name="T70" fmla="*/ 36 w 67"/>
                <a:gd name="T71" fmla="*/ 42 h 106"/>
                <a:gd name="T72" fmla="*/ 30 w 67"/>
                <a:gd name="T73" fmla="*/ 42 h 106"/>
                <a:gd name="T74" fmla="*/ 27 w 67"/>
                <a:gd name="T75" fmla="*/ 42 h 106"/>
                <a:gd name="T76" fmla="*/ 32 w 67"/>
                <a:gd name="T77" fmla="*/ 51 h 106"/>
                <a:gd name="T78" fmla="*/ 32 w 67"/>
                <a:gd name="T79" fmla="*/ 67 h 106"/>
                <a:gd name="T80" fmla="*/ 35 w 67"/>
                <a:gd name="T81" fmla="*/ 51 h 106"/>
                <a:gd name="T82" fmla="*/ 35 w 67"/>
                <a:gd name="T83" fmla="*/ 50 h 106"/>
                <a:gd name="T84" fmla="*/ 43 w 67"/>
                <a:gd name="T85" fmla="*/ 96 h 106"/>
                <a:gd name="T86" fmla="*/ 34 w 67"/>
                <a:gd name="T87" fmla="*/ 106 h 106"/>
                <a:gd name="T88" fmla="*/ 43 w 67"/>
                <a:gd name="T89" fmla="*/ 96 h 106"/>
                <a:gd name="T90" fmla="*/ 17 w 67"/>
                <a:gd name="T91" fmla="*/ 88 h 106"/>
                <a:gd name="T92" fmla="*/ 17 w 67"/>
                <a:gd name="T93" fmla="*/ 90 h 106"/>
                <a:gd name="T94" fmla="*/ 50 w 67"/>
                <a:gd name="T95" fmla="*/ 86 h 106"/>
                <a:gd name="T96" fmla="*/ 50 w 67"/>
                <a:gd name="T97" fmla="*/ 73 h 106"/>
                <a:gd name="T98" fmla="*/ 17 w 67"/>
                <a:gd name="T99" fmla="*/ 77 h 106"/>
                <a:gd name="T100" fmla="*/ 50 w 67"/>
                <a:gd name="T101" fmla="*/ 74 h 106"/>
                <a:gd name="T102" fmla="*/ 50 w 67"/>
                <a:gd name="T103" fmla="*/ 7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7" h="106">
                  <a:moveTo>
                    <a:pt x="33" y="0"/>
                  </a:moveTo>
                  <a:cubicBezTo>
                    <a:pt x="43" y="0"/>
                    <a:pt x="51" y="4"/>
                    <a:pt x="57" y="10"/>
                  </a:cubicBezTo>
                  <a:cubicBezTo>
                    <a:pt x="63" y="16"/>
                    <a:pt x="67" y="25"/>
                    <a:pt x="67" y="34"/>
                  </a:cubicBezTo>
                  <a:cubicBezTo>
                    <a:pt x="67" y="40"/>
                    <a:pt x="65" y="46"/>
                    <a:pt x="62" y="51"/>
                  </a:cubicBezTo>
                  <a:cubicBezTo>
                    <a:pt x="59" y="56"/>
                    <a:pt x="56" y="59"/>
                    <a:pt x="51" y="62"/>
                  </a:cubicBezTo>
                  <a:cubicBezTo>
                    <a:pt x="51" y="66"/>
                    <a:pt x="51" y="66"/>
                    <a:pt x="51" y="66"/>
                  </a:cubicBezTo>
                  <a:cubicBezTo>
                    <a:pt x="53" y="66"/>
                    <a:pt x="53" y="66"/>
                    <a:pt x="53" y="66"/>
                  </a:cubicBezTo>
                  <a:cubicBezTo>
                    <a:pt x="55" y="65"/>
                    <a:pt x="55" y="65"/>
                    <a:pt x="55" y="65"/>
                  </a:cubicBezTo>
                  <a:cubicBezTo>
                    <a:pt x="56" y="68"/>
                    <a:pt x="56" y="68"/>
                    <a:pt x="56" y="68"/>
                  </a:cubicBezTo>
                  <a:cubicBezTo>
                    <a:pt x="57" y="70"/>
                    <a:pt x="57" y="72"/>
                    <a:pt x="57" y="73"/>
                  </a:cubicBezTo>
                  <a:cubicBezTo>
                    <a:pt x="57" y="75"/>
                    <a:pt x="57" y="77"/>
                    <a:pt x="56" y="79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7" y="82"/>
                    <a:pt x="57" y="84"/>
                    <a:pt x="57" y="86"/>
                  </a:cubicBezTo>
                  <a:cubicBezTo>
                    <a:pt x="57" y="88"/>
                    <a:pt x="57" y="90"/>
                    <a:pt x="56" y="92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7"/>
                    <a:pt x="13" y="97"/>
                    <a:pt x="13" y="97"/>
                  </a:cubicBezTo>
                  <a:cubicBezTo>
                    <a:pt x="12" y="95"/>
                    <a:pt x="12" y="95"/>
                    <a:pt x="12" y="95"/>
                  </a:cubicBezTo>
                  <a:cubicBezTo>
                    <a:pt x="11" y="93"/>
                    <a:pt x="11" y="91"/>
                    <a:pt x="10" y="90"/>
                  </a:cubicBezTo>
                  <a:cubicBezTo>
                    <a:pt x="10" y="88"/>
                    <a:pt x="11" y="86"/>
                    <a:pt x="12" y="83"/>
                  </a:cubicBezTo>
                  <a:cubicBezTo>
                    <a:pt x="12" y="83"/>
                    <a:pt x="12" y="83"/>
                    <a:pt x="12" y="83"/>
                  </a:cubicBezTo>
                  <a:cubicBezTo>
                    <a:pt x="12" y="82"/>
                    <a:pt x="12" y="82"/>
                    <a:pt x="12" y="82"/>
                  </a:cubicBezTo>
                  <a:cubicBezTo>
                    <a:pt x="11" y="81"/>
                    <a:pt x="11" y="79"/>
                    <a:pt x="10" y="77"/>
                  </a:cubicBezTo>
                  <a:cubicBezTo>
                    <a:pt x="10" y="75"/>
                    <a:pt x="11" y="73"/>
                    <a:pt x="12" y="71"/>
                  </a:cubicBezTo>
                  <a:cubicBezTo>
                    <a:pt x="13" y="69"/>
                    <a:pt x="13" y="69"/>
                    <a:pt x="13" y="69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1" y="60"/>
                    <a:pt x="7" y="56"/>
                    <a:pt x="5" y="51"/>
                  </a:cubicBezTo>
                  <a:cubicBezTo>
                    <a:pt x="2" y="46"/>
                    <a:pt x="0" y="40"/>
                    <a:pt x="0" y="34"/>
                  </a:cubicBezTo>
                  <a:cubicBezTo>
                    <a:pt x="0" y="25"/>
                    <a:pt x="4" y="16"/>
                    <a:pt x="10" y="10"/>
                  </a:cubicBezTo>
                  <a:cubicBezTo>
                    <a:pt x="16" y="4"/>
                    <a:pt x="24" y="0"/>
                    <a:pt x="33" y="0"/>
                  </a:cubicBezTo>
                  <a:close/>
                  <a:moveTo>
                    <a:pt x="26" y="40"/>
                  </a:moveTo>
                  <a:cubicBezTo>
                    <a:pt x="27" y="41"/>
                    <a:pt x="27" y="41"/>
                    <a:pt x="28" y="41"/>
                  </a:cubicBezTo>
                  <a:cubicBezTo>
                    <a:pt x="28" y="41"/>
                    <a:pt x="29" y="41"/>
                    <a:pt x="30" y="40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2" y="41"/>
                    <a:pt x="33" y="41"/>
                  </a:cubicBezTo>
                  <a:cubicBezTo>
                    <a:pt x="34" y="41"/>
                    <a:pt x="35" y="41"/>
                    <a:pt x="35" y="40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7" y="41"/>
                    <a:pt x="38" y="41"/>
                    <a:pt x="39" y="41"/>
                  </a:cubicBezTo>
                  <a:cubicBezTo>
                    <a:pt x="40" y="41"/>
                    <a:pt x="41" y="41"/>
                    <a:pt x="42" y="40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67"/>
                    <a:pt x="39" y="67"/>
                    <a:pt x="39" y="67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50" y="55"/>
                    <a:pt x="54" y="52"/>
                    <a:pt x="56" y="47"/>
                  </a:cubicBezTo>
                  <a:cubicBezTo>
                    <a:pt x="59" y="44"/>
                    <a:pt x="60" y="39"/>
                    <a:pt x="60" y="34"/>
                  </a:cubicBezTo>
                  <a:cubicBezTo>
                    <a:pt x="60" y="27"/>
                    <a:pt x="57" y="20"/>
                    <a:pt x="52" y="15"/>
                  </a:cubicBezTo>
                  <a:cubicBezTo>
                    <a:pt x="47" y="10"/>
                    <a:pt x="41" y="7"/>
                    <a:pt x="33" y="7"/>
                  </a:cubicBezTo>
                  <a:cubicBezTo>
                    <a:pt x="26" y="7"/>
                    <a:pt x="19" y="10"/>
                    <a:pt x="15" y="15"/>
                  </a:cubicBezTo>
                  <a:cubicBezTo>
                    <a:pt x="10" y="20"/>
                    <a:pt x="7" y="27"/>
                    <a:pt x="7" y="34"/>
                  </a:cubicBezTo>
                  <a:cubicBezTo>
                    <a:pt x="7" y="39"/>
                    <a:pt x="8" y="44"/>
                    <a:pt x="11" y="48"/>
                  </a:cubicBezTo>
                  <a:cubicBezTo>
                    <a:pt x="13" y="52"/>
                    <a:pt x="17" y="55"/>
                    <a:pt x="21" y="58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40"/>
                    <a:pt x="26" y="40"/>
                    <a:pt x="26" y="40"/>
                  </a:cubicBezTo>
                  <a:close/>
                  <a:moveTo>
                    <a:pt x="40" y="43"/>
                  </a:moveTo>
                  <a:cubicBezTo>
                    <a:pt x="40" y="43"/>
                    <a:pt x="40" y="43"/>
                    <a:pt x="39" y="43"/>
                  </a:cubicBezTo>
                  <a:cubicBezTo>
                    <a:pt x="38" y="43"/>
                    <a:pt x="37" y="43"/>
                    <a:pt x="36" y="42"/>
                  </a:cubicBezTo>
                  <a:cubicBezTo>
                    <a:pt x="35" y="42"/>
                    <a:pt x="34" y="43"/>
                    <a:pt x="33" y="43"/>
                  </a:cubicBezTo>
                  <a:cubicBezTo>
                    <a:pt x="32" y="43"/>
                    <a:pt x="31" y="42"/>
                    <a:pt x="30" y="42"/>
                  </a:cubicBezTo>
                  <a:cubicBezTo>
                    <a:pt x="29" y="42"/>
                    <a:pt x="28" y="43"/>
                    <a:pt x="28" y="43"/>
                  </a:cubicBezTo>
                  <a:cubicBezTo>
                    <a:pt x="27" y="43"/>
                    <a:pt x="27" y="43"/>
                    <a:pt x="27" y="42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40" y="43"/>
                    <a:pt x="40" y="43"/>
                    <a:pt x="40" y="43"/>
                  </a:cubicBezTo>
                  <a:close/>
                  <a:moveTo>
                    <a:pt x="43" y="96"/>
                  </a:moveTo>
                  <a:cubicBezTo>
                    <a:pt x="24" y="98"/>
                    <a:pt x="24" y="98"/>
                    <a:pt x="24" y="98"/>
                  </a:cubicBezTo>
                  <a:cubicBezTo>
                    <a:pt x="25" y="103"/>
                    <a:pt x="29" y="106"/>
                    <a:pt x="34" y="106"/>
                  </a:cubicBezTo>
                  <a:cubicBezTo>
                    <a:pt x="39" y="106"/>
                    <a:pt x="43" y="102"/>
                    <a:pt x="43" y="97"/>
                  </a:cubicBezTo>
                  <a:cubicBezTo>
                    <a:pt x="43" y="97"/>
                    <a:pt x="43" y="97"/>
                    <a:pt x="43" y="96"/>
                  </a:cubicBezTo>
                  <a:close/>
                  <a:moveTo>
                    <a:pt x="50" y="85"/>
                  </a:moveTo>
                  <a:cubicBezTo>
                    <a:pt x="17" y="88"/>
                    <a:pt x="17" y="88"/>
                    <a:pt x="17" y="88"/>
                  </a:cubicBezTo>
                  <a:cubicBezTo>
                    <a:pt x="17" y="89"/>
                    <a:pt x="17" y="89"/>
                    <a:pt x="17" y="89"/>
                  </a:cubicBezTo>
                  <a:cubicBezTo>
                    <a:pt x="17" y="89"/>
                    <a:pt x="17" y="90"/>
                    <a:pt x="17" y="90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7"/>
                    <a:pt x="50" y="86"/>
                    <a:pt x="50" y="86"/>
                  </a:cubicBezTo>
                  <a:cubicBezTo>
                    <a:pt x="50" y="86"/>
                    <a:pt x="50" y="86"/>
                    <a:pt x="50" y="85"/>
                  </a:cubicBezTo>
                  <a:close/>
                  <a:moveTo>
                    <a:pt x="50" y="73"/>
                  </a:moveTo>
                  <a:cubicBezTo>
                    <a:pt x="17" y="76"/>
                    <a:pt x="17" y="76"/>
                    <a:pt x="17" y="76"/>
                  </a:cubicBezTo>
                  <a:cubicBezTo>
                    <a:pt x="17" y="76"/>
                    <a:pt x="17" y="76"/>
                    <a:pt x="17" y="77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50" y="74"/>
                    <a:pt x="50" y="74"/>
                    <a:pt x="50" y="74"/>
                  </a:cubicBezTo>
                  <a:cubicBezTo>
                    <a:pt x="50" y="74"/>
                    <a:pt x="50" y="74"/>
                    <a:pt x="50" y="73"/>
                  </a:cubicBezTo>
                  <a:cubicBezTo>
                    <a:pt x="50" y="73"/>
                    <a:pt x="50" y="73"/>
                    <a:pt x="50" y="73"/>
                  </a:cubicBez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900">
                <a:solidFill>
                  <a:prstClr val="black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25" name="Freeform 41">
              <a:extLst>
                <a:ext uri="{FF2B5EF4-FFF2-40B4-BE49-F238E27FC236}">
                  <a16:creationId xmlns:a16="http://schemas.microsoft.com/office/drawing/2014/main" id="{4E004835-E53F-4E10-9670-5AA23B6161B0}"/>
                </a:ext>
              </a:extLst>
            </p:cNvPr>
            <p:cNvSpPr>
              <a:spLocks noEditPoints="1"/>
            </p:cNvSpPr>
            <p:nvPr/>
          </p:nvSpPr>
          <p:spPr bwMode="auto">
            <a:xfrm rot="2954806">
              <a:off x="5010175" y="4563706"/>
              <a:ext cx="241021" cy="291839"/>
            </a:xfrm>
            <a:custGeom>
              <a:avLst/>
              <a:gdLst>
                <a:gd name="T0" fmla="*/ 0 w 77"/>
                <a:gd name="T1" fmla="*/ 85 h 93"/>
                <a:gd name="T2" fmla="*/ 30 w 77"/>
                <a:gd name="T3" fmla="*/ 20 h 93"/>
                <a:gd name="T4" fmla="*/ 38 w 77"/>
                <a:gd name="T5" fmla="*/ 26 h 93"/>
                <a:gd name="T6" fmla="*/ 39 w 77"/>
                <a:gd name="T7" fmla="*/ 27 h 93"/>
                <a:gd name="T8" fmla="*/ 39 w 77"/>
                <a:gd name="T9" fmla="*/ 27 h 93"/>
                <a:gd name="T10" fmla="*/ 40 w 77"/>
                <a:gd name="T11" fmla="*/ 27 h 93"/>
                <a:gd name="T12" fmla="*/ 40 w 77"/>
                <a:gd name="T13" fmla="*/ 28 h 93"/>
                <a:gd name="T14" fmla="*/ 40 w 77"/>
                <a:gd name="T15" fmla="*/ 28 h 93"/>
                <a:gd name="T16" fmla="*/ 41 w 77"/>
                <a:gd name="T17" fmla="*/ 28 h 93"/>
                <a:gd name="T18" fmla="*/ 41 w 77"/>
                <a:gd name="T19" fmla="*/ 29 h 93"/>
                <a:gd name="T20" fmla="*/ 42 w 77"/>
                <a:gd name="T21" fmla="*/ 29 h 93"/>
                <a:gd name="T22" fmla="*/ 42 w 77"/>
                <a:gd name="T23" fmla="*/ 29 h 93"/>
                <a:gd name="T24" fmla="*/ 43 w 77"/>
                <a:gd name="T25" fmla="*/ 29 h 93"/>
                <a:gd name="T26" fmla="*/ 43 w 77"/>
                <a:gd name="T27" fmla="*/ 30 h 93"/>
                <a:gd name="T28" fmla="*/ 43 w 77"/>
                <a:gd name="T29" fmla="*/ 30 h 93"/>
                <a:gd name="T30" fmla="*/ 48 w 77"/>
                <a:gd name="T31" fmla="*/ 33 h 93"/>
                <a:gd name="T32" fmla="*/ 48 w 77"/>
                <a:gd name="T33" fmla="*/ 33 h 93"/>
                <a:gd name="T34" fmla="*/ 49 w 77"/>
                <a:gd name="T35" fmla="*/ 34 h 93"/>
                <a:gd name="T36" fmla="*/ 49 w 77"/>
                <a:gd name="T37" fmla="*/ 34 h 93"/>
                <a:gd name="T38" fmla="*/ 50 w 77"/>
                <a:gd name="T39" fmla="*/ 34 h 93"/>
                <a:gd name="T40" fmla="*/ 50 w 77"/>
                <a:gd name="T41" fmla="*/ 35 h 93"/>
                <a:gd name="T42" fmla="*/ 50 w 77"/>
                <a:gd name="T43" fmla="*/ 35 h 93"/>
                <a:gd name="T44" fmla="*/ 51 w 77"/>
                <a:gd name="T45" fmla="*/ 35 h 93"/>
                <a:gd name="T46" fmla="*/ 51 w 77"/>
                <a:gd name="T47" fmla="*/ 36 h 93"/>
                <a:gd name="T48" fmla="*/ 52 w 77"/>
                <a:gd name="T49" fmla="*/ 36 h 93"/>
                <a:gd name="T50" fmla="*/ 52 w 77"/>
                <a:gd name="T51" fmla="*/ 36 h 93"/>
                <a:gd name="T52" fmla="*/ 53 w 77"/>
                <a:gd name="T53" fmla="*/ 37 h 93"/>
                <a:gd name="T54" fmla="*/ 53 w 77"/>
                <a:gd name="T55" fmla="*/ 37 h 93"/>
                <a:gd name="T56" fmla="*/ 48 w 77"/>
                <a:gd name="T57" fmla="*/ 79 h 93"/>
                <a:gd name="T58" fmla="*/ 7 w 77"/>
                <a:gd name="T59" fmla="*/ 91 h 93"/>
                <a:gd name="T60" fmla="*/ 35 w 77"/>
                <a:gd name="T61" fmla="*/ 64 h 93"/>
                <a:gd name="T62" fmla="*/ 19 w 77"/>
                <a:gd name="T63" fmla="*/ 53 h 93"/>
                <a:gd name="T64" fmla="*/ 3 w 77"/>
                <a:gd name="T65" fmla="*/ 88 h 93"/>
                <a:gd name="T66" fmla="*/ 73 w 77"/>
                <a:gd name="T67" fmla="*/ 93 h 93"/>
                <a:gd name="T68" fmla="*/ 54 w 77"/>
                <a:gd name="T69" fmla="*/ 83 h 93"/>
                <a:gd name="T70" fmla="*/ 69 w 77"/>
                <a:gd name="T71" fmla="*/ 42 h 93"/>
                <a:gd name="T72" fmla="*/ 34 w 77"/>
                <a:gd name="T73" fmla="*/ 0 h 93"/>
                <a:gd name="T74" fmla="*/ 69 w 77"/>
                <a:gd name="T75" fmla="*/ 4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7" h="93">
                  <a:moveTo>
                    <a:pt x="3" y="88"/>
                  </a:moveTo>
                  <a:cubicBezTo>
                    <a:pt x="2" y="87"/>
                    <a:pt x="1" y="86"/>
                    <a:pt x="0" y="85"/>
                  </a:cubicBezTo>
                  <a:cubicBezTo>
                    <a:pt x="0" y="72"/>
                    <a:pt x="0" y="58"/>
                    <a:pt x="0" y="45"/>
                  </a:cubicBezTo>
                  <a:cubicBezTo>
                    <a:pt x="12" y="40"/>
                    <a:pt x="21" y="32"/>
                    <a:pt x="30" y="20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4" y="30"/>
                    <a:pt x="44" y="30"/>
                    <a:pt x="44" y="30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62" y="43"/>
                    <a:pt x="62" y="43"/>
                    <a:pt x="62" y="43"/>
                  </a:cubicBezTo>
                  <a:cubicBezTo>
                    <a:pt x="53" y="55"/>
                    <a:pt x="49" y="67"/>
                    <a:pt x="48" y="79"/>
                  </a:cubicBezTo>
                  <a:cubicBezTo>
                    <a:pt x="36" y="84"/>
                    <a:pt x="23" y="88"/>
                    <a:pt x="11" y="93"/>
                  </a:cubicBezTo>
                  <a:cubicBezTo>
                    <a:pt x="9" y="92"/>
                    <a:pt x="8" y="91"/>
                    <a:pt x="7" y="91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7" y="69"/>
                    <a:pt x="32" y="68"/>
                    <a:pt x="35" y="64"/>
                  </a:cubicBezTo>
                  <a:cubicBezTo>
                    <a:pt x="38" y="60"/>
                    <a:pt x="37" y="54"/>
                    <a:pt x="32" y="51"/>
                  </a:cubicBezTo>
                  <a:cubicBezTo>
                    <a:pt x="28" y="47"/>
                    <a:pt x="22" y="49"/>
                    <a:pt x="19" y="53"/>
                  </a:cubicBezTo>
                  <a:cubicBezTo>
                    <a:pt x="16" y="57"/>
                    <a:pt x="16" y="62"/>
                    <a:pt x="19" y="65"/>
                  </a:cubicBezTo>
                  <a:cubicBezTo>
                    <a:pt x="3" y="88"/>
                    <a:pt x="3" y="88"/>
                    <a:pt x="3" y="88"/>
                  </a:cubicBezTo>
                  <a:close/>
                  <a:moveTo>
                    <a:pt x="27" y="93"/>
                  </a:moveTo>
                  <a:cubicBezTo>
                    <a:pt x="73" y="93"/>
                    <a:pt x="73" y="93"/>
                    <a:pt x="73" y="93"/>
                  </a:cubicBezTo>
                  <a:cubicBezTo>
                    <a:pt x="73" y="83"/>
                    <a:pt x="73" y="83"/>
                    <a:pt x="73" y="83"/>
                  </a:cubicBezTo>
                  <a:cubicBezTo>
                    <a:pt x="54" y="83"/>
                    <a:pt x="54" y="83"/>
                    <a:pt x="54" y="83"/>
                  </a:cubicBezTo>
                  <a:cubicBezTo>
                    <a:pt x="27" y="93"/>
                    <a:pt x="27" y="93"/>
                    <a:pt x="27" y="93"/>
                  </a:cubicBezTo>
                  <a:close/>
                  <a:moveTo>
                    <a:pt x="69" y="42"/>
                  </a:moveTo>
                  <a:cubicBezTo>
                    <a:pt x="77" y="31"/>
                    <a:pt x="77" y="31"/>
                    <a:pt x="77" y="31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6" y="12"/>
                    <a:pt x="26" y="12"/>
                    <a:pt x="26" y="12"/>
                  </a:cubicBezTo>
                  <a:lnTo>
                    <a:pt x="69" y="4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900">
                <a:solidFill>
                  <a:prstClr val="black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96C4B5B-DCFE-4B5C-8945-059CCAD3D8C3}"/>
              </a:ext>
            </a:extLst>
          </p:cNvPr>
          <p:cNvGrpSpPr/>
          <p:nvPr/>
        </p:nvGrpSpPr>
        <p:grpSpPr>
          <a:xfrm>
            <a:off x="7387993" y="1603549"/>
            <a:ext cx="3512110" cy="1323439"/>
            <a:chOff x="7871310" y="2073809"/>
            <a:chExt cx="3080614" cy="1323439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202DCCB-5274-40C8-A270-C0A921775522}"/>
                </a:ext>
              </a:extLst>
            </p:cNvPr>
            <p:cNvSpPr txBox="1"/>
            <p:nvPr/>
          </p:nvSpPr>
          <p:spPr>
            <a:xfrm>
              <a:off x="8511356" y="2073809"/>
              <a:ext cx="19730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LRU List Lock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52BD9199-ED2B-4837-AFA0-8620474F3C5D}"/>
                </a:ext>
              </a:extLst>
            </p:cNvPr>
            <p:cNvSpPr/>
            <p:nvPr/>
          </p:nvSpPr>
          <p:spPr>
            <a:xfrm>
              <a:off x="7871310" y="2443141"/>
              <a:ext cx="3080614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每个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LRU List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都有独立的互斥锁。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List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的插入、删除、搜索都需要在互斥锁内进行。</a:t>
              </a:r>
              <a:endParaRPr lang="en-US" altLang="zh-CN" sz="1400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  <a:p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实际中通过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spin lock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实现。</a:t>
              </a:r>
              <a:endParaRPr lang="en-US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  <a:p>
              <a:endParaRPr lang="en-US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0B92285-B8B7-4AE8-9A03-010D2CA6C40B}"/>
              </a:ext>
            </a:extLst>
          </p:cNvPr>
          <p:cNvGrpSpPr/>
          <p:nvPr/>
        </p:nvGrpSpPr>
        <p:grpSpPr>
          <a:xfrm>
            <a:off x="7387993" y="3930914"/>
            <a:ext cx="3080614" cy="1299131"/>
            <a:chOff x="7871310" y="4545315"/>
            <a:chExt cx="3080614" cy="1299131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F62E98F4-EE80-447E-95A5-55638EDA7BA6}"/>
                </a:ext>
              </a:extLst>
            </p:cNvPr>
            <p:cNvSpPr txBox="1"/>
            <p:nvPr/>
          </p:nvSpPr>
          <p:spPr>
            <a:xfrm>
              <a:off x="8422631" y="4545315"/>
              <a:ext cx="2333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Block write lock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41873B4D-9C02-4BBA-8654-B7723AE7C5A3}"/>
                </a:ext>
              </a:extLst>
            </p:cNvPr>
            <p:cNvSpPr/>
            <p:nvPr/>
          </p:nvSpPr>
          <p:spPr>
            <a:xfrm>
              <a:off x="7871310" y="4890339"/>
              <a:ext cx="3080614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当写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Block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时，修改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latch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状态，加排他锁。读写、写写之间不能并发。当加锁时有读操作正在进行时，升级为意向排他锁，避免出现“饿死”</a:t>
              </a:r>
              <a:endParaRPr lang="en-US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DE838225-DE9B-4A08-AD2E-344E35438493}"/>
              </a:ext>
            </a:extLst>
          </p:cNvPr>
          <p:cNvGrpSpPr/>
          <p:nvPr/>
        </p:nvGrpSpPr>
        <p:grpSpPr>
          <a:xfrm>
            <a:off x="577920" y="1611981"/>
            <a:ext cx="3608018" cy="1117518"/>
            <a:chOff x="1230940" y="2064287"/>
            <a:chExt cx="3137198" cy="1117518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9D21B03A-B03B-4C95-9A7F-C4866C334799}"/>
                </a:ext>
              </a:extLst>
            </p:cNvPr>
            <p:cNvSpPr txBox="1"/>
            <p:nvPr/>
          </p:nvSpPr>
          <p:spPr>
            <a:xfrm>
              <a:off x="1422528" y="2064287"/>
              <a:ext cx="19152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Bucket lock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C784E545-F25A-4BC6-88F7-470DCCE8CF2A}"/>
                </a:ext>
              </a:extLst>
            </p:cNvPr>
            <p:cNvSpPr/>
            <p:nvPr/>
          </p:nvSpPr>
          <p:spPr>
            <a:xfrm>
              <a:off x="1230940" y="2443141"/>
              <a:ext cx="3137198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每个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Bucket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都有独立的互斥锁。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Hash list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的插入、删除、搜索都需要在互斥锁内进行。</a:t>
              </a:r>
              <a:endParaRPr lang="en-US" altLang="zh-CN" sz="1400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  <a:p>
              <a:pPr algn="l"/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实际中通过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spin lock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实现。</a:t>
              </a:r>
              <a:endParaRPr lang="en-US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34B373F-BDD6-4550-B2B7-3253124B68A3}"/>
              </a:ext>
            </a:extLst>
          </p:cNvPr>
          <p:cNvGrpSpPr/>
          <p:nvPr/>
        </p:nvGrpSpPr>
        <p:grpSpPr>
          <a:xfrm>
            <a:off x="577350" y="4003245"/>
            <a:ext cx="3191196" cy="1323439"/>
            <a:chOff x="1280776" y="4511482"/>
            <a:chExt cx="3191196" cy="1323439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31632756-0904-4CE9-BDCD-DCC3AB52C563}"/>
                </a:ext>
              </a:extLst>
            </p:cNvPr>
            <p:cNvSpPr txBox="1"/>
            <p:nvPr/>
          </p:nvSpPr>
          <p:spPr>
            <a:xfrm>
              <a:off x="1484506" y="4511482"/>
              <a:ext cx="23134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Block Read lock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8FA56B54-91A1-492F-9D46-2793ED0F7D36}"/>
                </a:ext>
              </a:extLst>
            </p:cNvPr>
            <p:cNvSpPr/>
            <p:nvPr/>
          </p:nvSpPr>
          <p:spPr>
            <a:xfrm>
              <a:off x="1280776" y="4880814"/>
              <a:ext cx="3191196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每个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Block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都有独立的读写锁，通过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latch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实现。当读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Block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时，修改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latch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状态，并增加引用计数来加共享锁。读读之间可以并发。</a:t>
              </a:r>
              <a:endParaRPr lang="en-US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A9E7E787-3A10-4C4D-969A-C73E1D3F8AFA}"/>
              </a:ext>
            </a:extLst>
          </p:cNvPr>
          <p:cNvSpPr txBox="1"/>
          <p:nvPr/>
        </p:nvSpPr>
        <p:spPr>
          <a:xfrm>
            <a:off x="5065313" y="2989220"/>
            <a:ext cx="1210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并发控制</a:t>
            </a: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10FF80FD-8701-4BD1-AD0F-55B4A3103859}"/>
              </a:ext>
            </a:extLst>
          </p:cNvPr>
          <p:cNvSpPr/>
          <p:nvPr/>
        </p:nvSpPr>
        <p:spPr>
          <a:xfrm rot="2954806" flipH="1">
            <a:off x="4771308" y="2317390"/>
            <a:ext cx="1708150" cy="1708150"/>
          </a:xfrm>
          <a:custGeom>
            <a:avLst/>
            <a:gdLst>
              <a:gd name="connsiteX0" fmla="*/ 0 w 1293577"/>
              <a:gd name="connsiteY0" fmla="*/ 646789 h 1293577"/>
              <a:gd name="connsiteX1" fmla="*/ 189441 w 1293577"/>
              <a:gd name="connsiteY1" fmla="*/ 189440 h 1293577"/>
              <a:gd name="connsiteX2" fmla="*/ 646790 w 1293577"/>
              <a:gd name="connsiteY2" fmla="*/ 1 h 1293577"/>
              <a:gd name="connsiteX3" fmla="*/ 1104139 w 1293577"/>
              <a:gd name="connsiteY3" fmla="*/ 189442 h 1293577"/>
              <a:gd name="connsiteX4" fmla="*/ 1293578 w 1293577"/>
              <a:gd name="connsiteY4" fmla="*/ 646791 h 1293577"/>
              <a:gd name="connsiteX5" fmla="*/ 1104138 w 1293577"/>
              <a:gd name="connsiteY5" fmla="*/ 1104140 h 1293577"/>
              <a:gd name="connsiteX6" fmla="*/ 646789 w 1293577"/>
              <a:gd name="connsiteY6" fmla="*/ 1293580 h 1293577"/>
              <a:gd name="connsiteX7" fmla="*/ 189440 w 1293577"/>
              <a:gd name="connsiteY7" fmla="*/ 1104139 h 1293577"/>
              <a:gd name="connsiteX8" fmla="*/ 0 w 1293577"/>
              <a:gd name="connsiteY8" fmla="*/ 646790 h 1293577"/>
              <a:gd name="connsiteX9" fmla="*/ 0 w 1293577"/>
              <a:gd name="connsiteY9" fmla="*/ 646789 h 129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93577" h="1293577">
                <a:moveTo>
                  <a:pt x="0" y="646789"/>
                </a:moveTo>
                <a:cubicBezTo>
                  <a:pt x="0" y="475250"/>
                  <a:pt x="68144" y="310737"/>
                  <a:pt x="189441" y="189440"/>
                </a:cubicBezTo>
                <a:cubicBezTo>
                  <a:pt x="310738" y="68144"/>
                  <a:pt x="475251" y="0"/>
                  <a:pt x="646790" y="1"/>
                </a:cubicBezTo>
                <a:cubicBezTo>
                  <a:pt x="818329" y="1"/>
                  <a:pt x="982842" y="68145"/>
                  <a:pt x="1104139" y="189442"/>
                </a:cubicBezTo>
                <a:cubicBezTo>
                  <a:pt x="1225435" y="310739"/>
                  <a:pt x="1293579" y="475252"/>
                  <a:pt x="1293578" y="646791"/>
                </a:cubicBezTo>
                <a:cubicBezTo>
                  <a:pt x="1293578" y="818330"/>
                  <a:pt x="1225434" y="982844"/>
                  <a:pt x="1104138" y="1104140"/>
                </a:cubicBezTo>
                <a:cubicBezTo>
                  <a:pt x="982841" y="1225436"/>
                  <a:pt x="818328" y="1293580"/>
                  <a:pt x="646789" y="1293580"/>
                </a:cubicBezTo>
                <a:cubicBezTo>
                  <a:pt x="475250" y="1293580"/>
                  <a:pt x="310736" y="1225436"/>
                  <a:pt x="189440" y="1104139"/>
                </a:cubicBezTo>
                <a:cubicBezTo>
                  <a:pt x="68144" y="982842"/>
                  <a:pt x="0" y="818329"/>
                  <a:pt x="0" y="646790"/>
                </a:cubicBezTo>
                <a:lnTo>
                  <a:pt x="0" y="646789"/>
                </a:lnTo>
                <a:close/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50000"/>
                  </a:schemeClr>
                </a:solidFill>
              </a14:hiddenFill>
            </a:ext>
          </a:ex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35" tIns="113135" rIns="113135" bIns="113135" numCol="1" spcCol="1270" anchor="b" anchorCtr="0">
            <a:noAutofit/>
          </a:bodyPr>
          <a:lstStyle/>
          <a:p>
            <a:pPr algn="ctr" defTabSz="6445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700" dirty="0"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8153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2161</TotalTime>
  <Words>602</Words>
  <Application>Microsoft Office PowerPoint</Application>
  <PresentationFormat>宽屏</PresentationFormat>
  <Paragraphs>172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-apple-system</vt:lpstr>
      <vt:lpstr>微软雅黑</vt:lpstr>
      <vt:lpstr>Arial</vt:lpstr>
      <vt:lpstr>Calibri</vt:lpstr>
      <vt:lpstr>Verdana</vt:lpstr>
      <vt:lpstr>Wingdings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zhangjh</dc:creator>
  <cp:lastModifiedBy>guocl@sics.com</cp:lastModifiedBy>
  <cp:revision>208</cp:revision>
  <dcterms:created xsi:type="dcterms:W3CDTF">2021-03-09T02:51:00Z</dcterms:created>
  <dcterms:modified xsi:type="dcterms:W3CDTF">2022-08-15T12:14:09Z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