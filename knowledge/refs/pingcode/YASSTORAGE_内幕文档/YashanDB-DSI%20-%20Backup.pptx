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312" r:id="rId3"/>
    <p:sldId id="315" r:id="rId5"/>
    <p:sldId id="314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9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895" t="1335" r="931" b="1431"/>
          <a:stretch>
            <a:fillRect/>
          </a:stretch>
        </p:blipFill>
        <p:spPr>
          <a:xfrm>
            <a:off x="3249295" y="1468755"/>
            <a:ext cx="5278755" cy="39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259898" y="89093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备份恢复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98830" y="1031875"/>
            <a:ext cx="2635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备份恢复流程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174990" y="1483995"/>
            <a:ext cx="3692525" cy="417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ym typeface="Verdana" panose="020B0604030504040204" charset="0"/>
              </a:rPr>
              <a:t>data文件的页面会记录LSN作为版本号，更新页面会增加LSN。备份集也会记录一个基线LSN。增量备份时，会对data文件的页面进行过滤，根据上一次备份集的基线LSN作比较，未做更改的页面将被跳过，无需重复备份，从而大大减小备份集大小和备份时间。</a:t>
            </a:r>
            <a:endParaRPr lang="zh-CN" altLang="en-US" sz="1600">
              <a:sym typeface="Verdana" panose="020B0604030504040204" charset="0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ym typeface="Verdana" panose="020B0604030504040204" charset="0"/>
              </a:rPr>
              <a:t>恢复备份集时，也是由主线程进行文件分配，多个线程同时恢复，将备份集内的数据拷贝到数据库，然后对文件进行扩展填充，回放redo日志，启动数据库。</a:t>
            </a:r>
            <a:endParaRPr lang="zh-CN" altLang="en-US" sz="1600">
              <a:sym typeface="Verdana" panose="020B060403050404020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600">
              <a:sym typeface="Verdana" panose="020B060403050404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9715" y="1565910"/>
            <a:ext cx="3175000" cy="42208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YashanDb的物理备份恢复，支持全量备份和增量备份，备份和恢复都采用多线程模式。如上图，执行全量备份时，依次备份ctrl文件，data文件，redo和归档文件。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对于每个文件，主线程会根据分片大小进行切分，然后将每个分片的信息分配给空闲的后台线程，该后台线程去备份指定的分片，生成一个独立的文件，存入备份集。因此，对于较大的数据库文件，可能会生成很多个备份集文件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365877" y="1014741"/>
            <a:ext cx="5257798" cy="2233057"/>
            <a:chOff x="5740402" y="1300491"/>
            <a:chExt cx="5257798" cy="2233057"/>
          </a:xfrm>
        </p:grpSpPr>
        <p:sp>
          <p:nvSpPr>
            <p:cNvPr id="5" name="文本框 4"/>
            <p:cNvSpPr txBox="1"/>
            <p:nvPr/>
          </p:nvSpPr>
          <p:spPr>
            <a:xfrm>
              <a:off x="5740402" y="1300491"/>
              <a:ext cx="166549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增量备份原理</a:t>
              </a:r>
              <a:endParaRPr 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740402" y="1669823"/>
              <a:ext cx="5257798" cy="1863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data</a:t>
              </a:r>
              <a:r>
                <a:rPr lang="zh-CN" altLang="en-US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文件页面上的</a:t>
              </a:r>
              <a:r>
                <a:rPr lang="en-US" altLang="zh-CN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LSN</a:t>
              </a:r>
              <a:r>
                <a:rPr lang="zh-CN" altLang="en-US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（</a:t>
              </a:r>
              <a:r>
                <a:rPr lang="en-US" altLang="zh-CN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log sequence number</a:t>
              </a:r>
              <a:r>
                <a:rPr lang="zh-CN" altLang="en-US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），可当做页面发生变化的时间戳。每次备份结束，备份集会记录最新的</a:t>
              </a:r>
              <a:r>
                <a:rPr lang="en-US" altLang="zh-CN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LSN</a:t>
              </a:r>
              <a:r>
                <a:rPr lang="zh-CN" altLang="en-US" sz="1600" dirty="0"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。</a:t>
              </a:r>
              <a:endParaRPr lang="zh-CN" altLang="en-US" sz="1600" dirty="0"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增量备份时，首先找到上一次备份的</a:t>
              </a:r>
              <a:r>
                <a:rPr lang="en-US" altLang="zh-CN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LSN</a:t>
              </a: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作为基线</a:t>
              </a:r>
              <a:endParaRPr lang="zh-CN" altLang="en-US" sz="16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在备份</a:t>
              </a:r>
              <a:r>
                <a:rPr lang="en-US" altLang="zh-CN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data</a:t>
              </a: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文件时，读取一批页面，过滤到</a:t>
              </a:r>
              <a:r>
                <a:rPr lang="en-US" altLang="zh-CN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LSN</a:t>
              </a: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小于基线的页面，然后把剩余的页面写到备份文件中</a:t>
              </a:r>
              <a:endParaRPr lang="zh-CN" altLang="en-US" sz="16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其余流程和全量备份相同</a:t>
              </a:r>
              <a:endParaRPr lang="zh-CN" altLang="en-US" sz="16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365877" y="3589953"/>
            <a:ext cx="5257798" cy="1740297"/>
            <a:chOff x="5740402" y="3766483"/>
            <a:chExt cx="5257798" cy="1740297"/>
          </a:xfrm>
        </p:grpSpPr>
        <p:sp>
          <p:nvSpPr>
            <p:cNvPr id="13" name="文本框 12"/>
            <p:cNvSpPr txBox="1"/>
            <p:nvPr/>
          </p:nvSpPr>
          <p:spPr>
            <a:xfrm>
              <a:off x="5740402" y="3766483"/>
              <a:ext cx="1665496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dirty="0">
                  <a:solidFill>
                    <a:schemeClr val="accent1">
                      <a:lumMod val="75000"/>
                    </a:schemeClr>
                  </a:solidFill>
                  <a:latin typeface="Verdana" panose="020B0604030504040204" charset="0"/>
                  <a:ea typeface="微软雅黑" panose="020B0503020204020204" charset="-122"/>
                  <a:cs typeface="Verdana" panose="020B0604030504040204" charset="0"/>
                  <a:sym typeface="Verdana" panose="020B0604030504040204" charset="0"/>
                </a:rPr>
                <a:t>恢复流程</a:t>
              </a:r>
              <a:endParaRPr lang="zh-CN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740402" y="4135815"/>
              <a:ext cx="5257798" cy="1370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首先从全量备份集恢复出所有</a:t>
              </a:r>
              <a:r>
                <a:rPr lang="en-US" altLang="zh-CN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data</a:t>
              </a: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文件</a:t>
              </a:r>
              <a:endParaRPr lang="zh-CN" altLang="en-US" sz="16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lnSpc>
                  <a:spcPct val="11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然后依次恢复各增量备份集的</a:t>
              </a:r>
              <a:r>
                <a:rPr lang="en-US" altLang="zh-CN" sz="1600" dirty="0"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data</a:t>
              </a:r>
              <a:r>
                <a:rPr lang="zh-CN" altLang="en-US" sz="1600" dirty="0"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文件，用新的数据页面，覆盖旧的数据页面</a:t>
              </a:r>
              <a:endParaRPr lang="zh-CN" altLang="en-US" sz="1600" dirty="0"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把最后一个增量备份集的</a:t>
              </a:r>
              <a:r>
                <a:rPr lang="en-US" altLang="zh-CN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ctrl</a:t>
              </a: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文件和归档恢复出来</a:t>
              </a:r>
              <a:endParaRPr lang="zh-CN" altLang="en-US" sz="16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执行日志回放，然后</a:t>
              </a:r>
              <a:r>
                <a:rPr lang="en-US" altLang="zh-CN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OPEN</a:t>
              </a:r>
              <a:r>
                <a:rPr lang="zh-CN" altLang="en-US" sz="1600" b="0" i="0" dirty="0">
                  <a:solidFill>
                    <a:schemeClr val="tx1"/>
                  </a:solidFill>
                  <a:effectLst/>
                  <a:latin typeface="Verdana" panose="020B0604030504040204" charset="0"/>
                  <a:ea typeface="微软雅黑" panose="020B0503020204020204" charset="-122"/>
                  <a:cs typeface="+mj-lt"/>
                  <a:sym typeface="Verdana" panose="020B0604030504040204" charset="0"/>
                </a:rPr>
                <a:t>数据库</a:t>
              </a:r>
              <a:endParaRPr lang="zh-CN" altLang="en-US" sz="1600" b="0" i="0" dirty="0">
                <a:solidFill>
                  <a:schemeClr val="tx1"/>
                </a:solidFill>
                <a:effectLst/>
                <a:latin typeface="Verdana" panose="020B0604030504040204" charset="0"/>
                <a:ea typeface="微软雅黑" panose="020B0503020204020204" charset="-122"/>
                <a:cs typeface="+mj-lt"/>
                <a:sym typeface="Verdana" panose="020B060403050404020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410210" y="377191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增量备份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225425" y="6367460"/>
            <a:ext cx="1348740" cy="40132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备份恢复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1" name="流程图: 磁盘 20"/>
          <p:cNvSpPr/>
          <p:nvPr/>
        </p:nvSpPr>
        <p:spPr>
          <a:xfrm>
            <a:off x="307975" y="2547938"/>
            <a:ext cx="1332230" cy="87058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full backup</a:t>
            </a:r>
            <a:endParaRPr lang="en-US" altLang="zh-CN"/>
          </a:p>
        </p:txBody>
      </p:sp>
      <p:sp>
        <p:nvSpPr>
          <p:cNvPr id="22" name="流程图: 磁盘 21"/>
          <p:cNvSpPr/>
          <p:nvPr/>
        </p:nvSpPr>
        <p:spPr>
          <a:xfrm>
            <a:off x="1889125" y="2701925"/>
            <a:ext cx="1154430" cy="56261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increament</a:t>
            </a:r>
            <a:endParaRPr lang="en-US" altLang="zh-CN" sz="1200"/>
          </a:p>
          <a:p>
            <a:pPr algn="ctr"/>
            <a:r>
              <a:rPr lang="en-US" altLang="zh-CN" sz="1200"/>
              <a:t>#1</a:t>
            </a:r>
            <a:endParaRPr lang="en-US" altLang="zh-CN" sz="1200"/>
          </a:p>
        </p:txBody>
      </p:sp>
      <p:sp>
        <p:nvSpPr>
          <p:cNvPr id="24" name="流程图: 磁盘 23"/>
          <p:cNvSpPr/>
          <p:nvPr/>
        </p:nvSpPr>
        <p:spPr>
          <a:xfrm>
            <a:off x="3291840" y="2711768"/>
            <a:ext cx="1130300" cy="54292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increament</a:t>
            </a:r>
            <a:endParaRPr lang="en-US" altLang="zh-CN" sz="1200"/>
          </a:p>
          <a:p>
            <a:pPr algn="ctr"/>
            <a:r>
              <a:rPr lang="en-US" altLang="zh-CN" sz="1200"/>
              <a:t>#2</a:t>
            </a:r>
            <a:endParaRPr lang="en-US" altLang="zh-CN" sz="1200"/>
          </a:p>
        </p:txBody>
      </p:sp>
      <p:sp>
        <p:nvSpPr>
          <p:cNvPr id="25" name="流程图: 磁盘 24"/>
          <p:cNvSpPr/>
          <p:nvPr/>
        </p:nvSpPr>
        <p:spPr>
          <a:xfrm>
            <a:off x="4670425" y="2711768"/>
            <a:ext cx="1139825" cy="54292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increament</a:t>
            </a:r>
            <a:endParaRPr lang="en-US" altLang="zh-CN" sz="1200"/>
          </a:p>
          <a:p>
            <a:pPr algn="ctr"/>
            <a:r>
              <a:rPr lang="en-US" altLang="zh-CN" sz="1200"/>
              <a:t>#3</a:t>
            </a:r>
            <a:endParaRPr lang="en-US" altLang="zh-CN" sz="1200"/>
          </a:p>
        </p:txBody>
      </p:sp>
      <p:cxnSp>
        <p:nvCxnSpPr>
          <p:cNvPr id="28" name="直接箭头连接符 27"/>
          <p:cNvCxnSpPr>
            <a:stCxn id="21" idx="4"/>
            <a:endCxn id="22" idx="2"/>
          </p:cNvCxnSpPr>
          <p:nvPr/>
        </p:nvCxnSpPr>
        <p:spPr>
          <a:xfrm flipV="1">
            <a:off x="1640205" y="2983230"/>
            <a:ext cx="248920" cy="635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4"/>
            <a:endCxn id="24" idx="2"/>
          </p:cNvCxnSpPr>
          <p:nvPr/>
        </p:nvCxnSpPr>
        <p:spPr>
          <a:xfrm>
            <a:off x="3043555" y="2982913"/>
            <a:ext cx="248285" cy="635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4" idx="4"/>
            <a:endCxn id="25" idx="2"/>
          </p:cNvCxnSpPr>
          <p:nvPr/>
        </p:nvCxnSpPr>
        <p:spPr>
          <a:xfrm>
            <a:off x="4422140" y="2983865"/>
            <a:ext cx="248285" cy="0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65810" y="2137410"/>
            <a:ext cx="4171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T0</a:t>
            </a:r>
            <a:endParaRPr lang="en-US" sz="1400"/>
          </a:p>
        </p:txBody>
      </p:sp>
      <p:sp>
        <p:nvSpPr>
          <p:cNvPr id="36" name="文本框 35"/>
          <p:cNvSpPr txBox="1"/>
          <p:nvPr/>
        </p:nvSpPr>
        <p:spPr>
          <a:xfrm>
            <a:off x="2252345" y="2137410"/>
            <a:ext cx="440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T1</a:t>
            </a:r>
            <a:endParaRPr lang="en-US" sz="1400"/>
          </a:p>
        </p:txBody>
      </p:sp>
      <p:sp>
        <p:nvSpPr>
          <p:cNvPr id="37" name="文本框 36"/>
          <p:cNvSpPr txBox="1"/>
          <p:nvPr/>
        </p:nvSpPr>
        <p:spPr>
          <a:xfrm>
            <a:off x="3619500" y="2137410"/>
            <a:ext cx="474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T2</a:t>
            </a:r>
            <a:endParaRPr lang="en-US" sz="1400"/>
          </a:p>
        </p:txBody>
      </p:sp>
      <p:sp>
        <p:nvSpPr>
          <p:cNvPr id="38" name="文本框 37"/>
          <p:cNvSpPr txBox="1"/>
          <p:nvPr/>
        </p:nvSpPr>
        <p:spPr>
          <a:xfrm>
            <a:off x="5020945" y="2137410"/>
            <a:ext cx="509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T3</a:t>
            </a:r>
            <a:endParaRPr lang="en-US" sz="1400"/>
          </a:p>
        </p:txBody>
      </p:sp>
      <p:cxnSp>
        <p:nvCxnSpPr>
          <p:cNvPr id="39" name="直接连接符 38"/>
          <p:cNvCxnSpPr>
            <a:stCxn id="21" idx="3"/>
          </p:cNvCxnSpPr>
          <p:nvPr/>
        </p:nvCxnSpPr>
        <p:spPr>
          <a:xfrm flipH="1">
            <a:off x="967740" y="3418840"/>
            <a:ext cx="6350" cy="1560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endCxn id="22" idx="3"/>
          </p:cNvCxnSpPr>
          <p:nvPr/>
        </p:nvCxnSpPr>
        <p:spPr>
          <a:xfrm flipV="1">
            <a:off x="967740" y="3264535"/>
            <a:ext cx="1498600" cy="58356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endCxn id="24" idx="3"/>
          </p:cNvCxnSpPr>
          <p:nvPr/>
        </p:nvCxnSpPr>
        <p:spPr>
          <a:xfrm flipV="1">
            <a:off x="960120" y="3255010"/>
            <a:ext cx="2896870" cy="11061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endCxn id="25" idx="3"/>
          </p:cNvCxnSpPr>
          <p:nvPr/>
        </p:nvCxnSpPr>
        <p:spPr>
          <a:xfrm flipV="1">
            <a:off x="967740" y="3255010"/>
            <a:ext cx="4272915" cy="172402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410210" y="2122805"/>
            <a:ext cx="528066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410210" y="1832610"/>
            <a:ext cx="12865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备份时间点</a:t>
            </a:r>
            <a:endParaRPr lang="zh-CN" altLang="en-US" sz="1400"/>
          </a:p>
        </p:txBody>
      </p:sp>
      <p:sp>
        <p:nvSpPr>
          <p:cNvPr id="46" name="文本框 45"/>
          <p:cNvSpPr txBox="1"/>
          <p:nvPr/>
        </p:nvSpPr>
        <p:spPr>
          <a:xfrm>
            <a:off x="974090" y="3608705"/>
            <a:ext cx="1629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恢复到</a:t>
            </a:r>
            <a:r>
              <a:rPr lang="en-US" altLang="zh-CN" sz="1200"/>
              <a:t>T1</a:t>
            </a:r>
            <a:r>
              <a:rPr lang="zh-CN" altLang="en-US" sz="1200"/>
              <a:t>所需备份集</a:t>
            </a:r>
            <a:endParaRPr lang="zh-CN" altLang="en-US" sz="1200"/>
          </a:p>
          <a:p>
            <a:pPr algn="ctr"/>
            <a:r>
              <a:rPr lang="zh-CN" altLang="en-US" sz="1200"/>
              <a:t>（</a:t>
            </a:r>
            <a:r>
              <a:rPr lang="en-US" altLang="zh-CN" sz="1200"/>
              <a:t>full+#1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1566545" y="4128770"/>
            <a:ext cx="1668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恢复到</a:t>
            </a:r>
            <a:r>
              <a:rPr lang="en-US" altLang="zh-CN" sz="1200"/>
              <a:t>T2</a:t>
            </a:r>
            <a:r>
              <a:rPr lang="zh-CN" altLang="en-US" sz="1200"/>
              <a:t>所需备份集</a:t>
            </a:r>
            <a:endParaRPr lang="zh-CN" altLang="en-US" sz="1200"/>
          </a:p>
          <a:p>
            <a:pPr algn="ctr"/>
            <a:r>
              <a:rPr lang="zh-CN" altLang="en-US" sz="1200">
                <a:sym typeface="+mn-ea"/>
              </a:rPr>
              <a:t>（</a:t>
            </a:r>
            <a:r>
              <a:rPr lang="en-US" altLang="zh-CN" sz="1200">
                <a:sym typeface="+mn-ea"/>
              </a:rPr>
              <a:t>full+#1+#2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2216785" y="4732020"/>
            <a:ext cx="1668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恢复到</a:t>
            </a:r>
            <a:r>
              <a:rPr lang="en-US" altLang="zh-CN" sz="1200"/>
              <a:t>T3</a:t>
            </a:r>
            <a:r>
              <a:rPr lang="zh-CN" altLang="en-US" sz="1200"/>
              <a:t>所需备份集</a:t>
            </a:r>
            <a:endParaRPr lang="zh-CN" altLang="en-US" sz="1200"/>
          </a:p>
          <a:p>
            <a:pPr algn="ctr"/>
            <a:r>
              <a:rPr lang="zh-CN" altLang="en-US" sz="1200">
                <a:sym typeface="+mn-ea"/>
              </a:rPr>
              <a:t>（</a:t>
            </a:r>
            <a:r>
              <a:rPr lang="en-US" altLang="zh-CN" sz="1200">
                <a:sym typeface="+mn-ea"/>
              </a:rPr>
              <a:t>full+#1+#2+#3</a:t>
            </a:r>
            <a:r>
              <a:rPr lang="zh-CN" altLang="en-US" sz="1200">
                <a:sym typeface="+mn-ea"/>
              </a:rPr>
              <a:t>）</a:t>
            </a:r>
            <a:endParaRPr lang="zh-CN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19075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备份恢复</a:t>
            </a:r>
            <a:endParaRPr lang="zh-CN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42035" y="1021715"/>
            <a:ext cx="3797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Verdana" panose="020B0604030504040204" charset="0"/>
              </a:rPr>
              <a:t>PITR(point-in-time recovery)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557645" y="1451610"/>
            <a:ext cx="4481830" cy="2896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ym typeface="Verdana" panose="020B0604030504040204" charset="0"/>
              </a:rPr>
              <a:t>PITR(point-in-time recovery)是指基于时间点的恢复，利用备份集和归档日志将数据库还原到某个时间点。执行完备份集的恢复，数据库会自动扫描归档目录下的归档文件。发现归档后，会注册到数据库ctrl文件内，执行PITR恢复命令选定时间后，回放到指定的时间点前的归档日志，将数据库恢复到指定时间的状态。</a:t>
            </a:r>
            <a:endParaRPr lang="zh-CN" altLang="en-US" sz="1600">
              <a:sym typeface="Verdana" panose="020B060403050404020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600">
              <a:sym typeface="Verdana" panose="020B060403050404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1492250"/>
            <a:ext cx="5505450" cy="38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COMMONDATA" val="eyJoZGlkIjoiYzhmNzM5YTkwNTEwOTNkNTMyODUxNjFjZjgxNDUwYm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WPS 演示</Application>
  <PresentationFormat>宽屏</PresentationFormat>
  <Paragraphs>70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Verdana</vt:lpstr>
      <vt:lpstr>微软雅黑</vt:lpstr>
      <vt:lpstr>Wingdings</vt:lpstr>
      <vt:lpstr>Calibri</vt:lpstr>
      <vt:lpstr>Arial Unicode MS</vt:lpstr>
      <vt:lpstr>自定义设计方案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mazh</cp:lastModifiedBy>
  <cp:revision>220</cp:revision>
  <dcterms:created xsi:type="dcterms:W3CDTF">2021-03-09T02:51:00Z</dcterms:created>
  <dcterms:modified xsi:type="dcterms:W3CDTF">2022-08-23T10:23:22Z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82665D6A44D640AD8CDCF360F4080215</vt:lpwstr>
  </property>
</Properties>
</file>