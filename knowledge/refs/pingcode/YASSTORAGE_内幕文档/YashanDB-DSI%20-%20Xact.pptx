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3" r:id="rId1"/>
  </p:sldMasterIdLst>
  <p:notesMasterIdLst>
    <p:notesMasterId r:id="rId12"/>
  </p:notesMasterIdLst>
  <p:handoutMasterIdLst>
    <p:handoutMasterId r:id="rId13"/>
  </p:handoutMasterIdLst>
  <p:sldIdLst>
    <p:sldId id="310" r:id="rId2"/>
    <p:sldId id="321" r:id="rId3"/>
    <p:sldId id="312" r:id="rId4"/>
    <p:sldId id="314" r:id="rId5"/>
    <p:sldId id="315" r:id="rId6"/>
    <p:sldId id="316" r:id="rId7"/>
    <p:sldId id="317" r:id="rId8"/>
    <p:sldId id="318" r:id="rId9"/>
    <p:sldId id="319" r:id="rId10"/>
    <p:sldId id="320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ccv" initials="z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CECE"/>
    <a:srgbClr val="0070C0"/>
    <a:srgbClr val="09BBDB"/>
    <a:srgbClr val="9DC3E6"/>
    <a:srgbClr val="F08F4F"/>
    <a:srgbClr val="1F4E79"/>
    <a:srgbClr val="1D5487"/>
    <a:srgbClr val="FFFFFF"/>
    <a:srgbClr val="5B9BD5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4297" autoAdjust="0"/>
  </p:normalViewPr>
  <p:slideViewPr>
    <p:cSldViewPr snapToGrid="0">
      <p:cViewPr varScale="1">
        <p:scale>
          <a:sx n="105" d="100"/>
          <a:sy n="105" d="100"/>
        </p:scale>
        <p:origin x="130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Verdana" panose="020B060403050404020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Verdana" panose="020B0604030504040204" charset="0"/>
              </a:defRPr>
            </a:lvl1pPr>
          </a:lstStyle>
          <a:p>
            <a:fld id="{D2A48B96-639E-45A3-A0BA-2464DFDB1FAA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Verdana" panose="020B060403050404020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Verdana" panose="020B0604030504040204" charset="0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8409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8283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69638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6028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84498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16796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36108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97206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49861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32576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8066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5253990" y="2762885"/>
            <a:ext cx="6268085" cy="72453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400" b="0" spc="60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742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49833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五边形 6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8" name="直角三角形 7"/>
          <p:cNvSpPr/>
          <p:nvPr userDrawn="1"/>
        </p:nvSpPr>
        <p:spPr>
          <a:xfrm rot="16200000">
            <a:off x="10759440" y="5414645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9" name="五边形 8"/>
          <p:cNvSpPr/>
          <p:nvPr userDrawn="1"/>
        </p:nvSpPr>
        <p:spPr>
          <a:xfrm rot="10800000">
            <a:off x="5810250" y="-2540"/>
            <a:ext cx="63747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0" name="直角三角形 9"/>
          <p:cNvSpPr/>
          <p:nvPr userDrawn="1"/>
        </p:nvSpPr>
        <p:spPr>
          <a:xfrm rot="5400000">
            <a:off x="2496185" y="-2504440"/>
            <a:ext cx="1924050" cy="6927850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882" y="1296000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14" name="五边形 13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830060" y="1489710"/>
            <a:ext cx="4692015" cy="484759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文本框 3"/>
          <p:cNvSpPr txBox="1"/>
          <p:nvPr userDrawn="1"/>
        </p:nvSpPr>
        <p:spPr>
          <a:xfrm>
            <a:off x="10261963" y="316572"/>
            <a:ext cx="14020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48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Verdana" panose="020B0604030504040204" charset="0"/>
              </a:rPr>
              <a:t>目录</a:t>
            </a:r>
          </a:p>
        </p:txBody>
      </p:sp>
      <p:sp>
        <p:nvSpPr>
          <p:cNvPr id="8" name="文本框 7"/>
          <p:cNvSpPr txBox="1"/>
          <p:nvPr userDrawn="1"/>
        </p:nvSpPr>
        <p:spPr>
          <a:xfrm>
            <a:off x="9281052" y="984642"/>
            <a:ext cx="2357591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chemeClr val="tx1"/>
                </a:solidFill>
                <a:latin typeface="+mj-lt"/>
                <a:ea typeface="微软雅黑" panose="020B0503020204020204" charset="-122"/>
                <a:cs typeface="+mj-lt"/>
              </a:rPr>
              <a:t>contents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11054443" y="1393046"/>
            <a:ext cx="5207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直角三角形 8"/>
          <p:cNvSpPr/>
          <p:nvPr userDrawn="1"/>
        </p:nvSpPr>
        <p:spPr>
          <a:xfrm rot="5400000">
            <a:off x="790575" y="-790575"/>
            <a:ext cx="1389380" cy="2962910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5" name="直角三角形 4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五边形 13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8" name="五边形 7"/>
          <p:cNvSpPr/>
          <p:nvPr userDrawn="1"/>
        </p:nvSpPr>
        <p:spPr>
          <a:xfrm rot="10800000">
            <a:off x="1123950" y="63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9" name="直角三角形 8"/>
          <p:cNvSpPr/>
          <p:nvPr userDrawn="1"/>
        </p:nvSpPr>
        <p:spPr>
          <a:xfrm rot="5400000">
            <a:off x="772795" y="-768985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69882" y="1203925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cs typeface="Verdana" panose="020B0604030504040204" charset="0"/>
              </a:defRPr>
            </a:lvl1pPr>
          </a:lstStyle>
          <a:p>
            <a:fld id="{D997B5FA-0921-464F-AAE1-844C04324D75}" type="datetime1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cs typeface="Verdana" panose="020B0604030504040204" charset="0"/>
              </a:defRPr>
            </a:lvl1pPr>
          </a:lstStyle>
          <a:p>
            <a:r>
              <a:rPr lang="zh-CN" altLang="en-US"/>
              <a:t>深圳计算科学研究院CoD研究室</a:t>
            </a:r>
          </a:p>
        </p:txBody>
      </p:sp>
      <p:sp>
        <p:nvSpPr>
          <p:cNvPr id="14" name="五边形 13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868870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 hidden="1"/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-1118235" y="580390"/>
            <a:ext cx="274955" cy="3200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1128395" y="220980"/>
            <a:ext cx="285115" cy="320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1772920" y="580390"/>
            <a:ext cx="285115" cy="320040"/>
          </a:xfrm>
          <a:prstGeom prst="rect">
            <a:avLst/>
          </a:prstGeom>
          <a:solidFill>
            <a:srgbClr val="09BB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1443990" y="220980"/>
            <a:ext cx="285115" cy="32004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-805180" y="220980"/>
            <a:ext cx="285115" cy="32004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-1437005" y="580390"/>
            <a:ext cx="285115" cy="3200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-800100" y="580390"/>
            <a:ext cx="285115" cy="3200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1437005" y="1405890"/>
            <a:ext cx="285115" cy="3200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-1118235" y="1405890"/>
            <a:ext cx="285115" cy="3200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-1772920" y="1405890"/>
            <a:ext cx="285115" cy="320040"/>
          </a:xfrm>
          <a:prstGeom prst="rect">
            <a:avLst/>
          </a:prstGeom>
          <a:solidFill>
            <a:srgbClr val="F08F4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8" name="矩形 17"/>
          <p:cNvSpPr/>
          <p:nvPr userDrawn="1"/>
        </p:nvSpPr>
        <p:spPr>
          <a:xfrm>
            <a:off x="-1760220" y="220980"/>
            <a:ext cx="285115" cy="320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-1822450" y="-55880"/>
            <a:ext cx="12382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chemeClr val="accent1">
                    <a:lumMod val="75000"/>
                  </a:schemeClr>
                </a:solidFill>
                <a:cs typeface="Verdana" panose="020B0604030504040204" charset="0"/>
              </a:rPr>
              <a:t>配色方案：</a:t>
            </a: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-1838325" y="2005330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2E689D"/>
                </a:solidFill>
                <a:cs typeface="Verdana" panose="020B0604030504040204" charset="0"/>
              </a:rPr>
              <a:t>字体：</a:t>
            </a: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-1873885" y="2209165"/>
            <a:ext cx="15887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中文：微软雅黑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西文：</a:t>
            </a:r>
            <a:r>
              <a:rPr lang="en-US" altLang="zh-CN" sz="1200" dirty="0">
                <a:cs typeface="Verdana" panose="020B0604030504040204" charset="0"/>
              </a:rPr>
              <a:t>Verdana</a:t>
            </a:r>
          </a:p>
        </p:txBody>
      </p:sp>
      <p:sp>
        <p:nvSpPr>
          <p:cNvPr id="22" name="文本框 21"/>
          <p:cNvSpPr txBox="1"/>
          <p:nvPr userDrawn="1"/>
        </p:nvSpPr>
        <p:spPr>
          <a:xfrm>
            <a:off x="-1838325" y="3077210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2E689D"/>
                </a:solidFill>
                <a:cs typeface="Verdana" panose="020B0604030504040204" charset="0"/>
              </a:rPr>
              <a:t>字号：</a:t>
            </a:r>
          </a:p>
        </p:txBody>
      </p:sp>
      <p:sp>
        <p:nvSpPr>
          <p:cNvPr id="23" name="文本框 22"/>
          <p:cNvSpPr txBox="1"/>
          <p:nvPr userDrawn="1"/>
        </p:nvSpPr>
        <p:spPr>
          <a:xfrm>
            <a:off x="-1842770" y="3394075"/>
            <a:ext cx="18459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封面页标题：</a:t>
            </a:r>
            <a:r>
              <a:rPr lang="en-US" altLang="zh-CN" sz="1200" dirty="0">
                <a:cs typeface="Verdana" panose="020B0604030504040204" charset="0"/>
              </a:rPr>
              <a:t>40-48px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正文标题：</a:t>
            </a:r>
            <a:r>
              <a:rPr lang="en-US" altLang="zh-CN" sz="1200" dirty="0">
                <a:cs typeface="Verdana" panose="020B0604030504040204" charset="0"/>
              </a:rPr>
              <a:t>16-24px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正文内容：</a:t>
            </a:r>
            <a:r>
              <a:rPr lang="en-US" altLang="zh-CN" sz="1200" dirty="0">
                <a:cs typeface="Verdana" panose="020B0604030504040204" charset="0"/>
              </a:rPr>
              <a:t>12-18px</a:t>
            </a:r>
          </a:p>
        </p:txBody>
      </p:sp>
      <p:sp>
        <p:nvSpPr>
          <p:cNvPr id="24" name="文本框 23"/>
          <p:cNvSpPr txBox="1"/>
          <p:nvPr userDrawn="1"/>
        </p:nvSpPr>
        <p:spPr>
          <a:xfrm>
            <a:off x="-1838325" y="1065530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b="1">
                <a:solidFill>
                  <a:schemeClr val="accent1">
                    <a:lumMod val="75000"/>
                  </a:schemeClr>
                </a:solidFill>
                <a:cs typeface="Verdana" panose="020B0604030504040204" charset="0"/>
              </a:defRPr>
            </a:lvl1pPr>
          </a:lstStyle>
          <a:p>
            <a:pPr lvl="0"/>
            <a:r>
              <a:rPr lang="zh-CN" altLang="en-US" dirty="0"/>
              <a:t>强调色：</a:t>
            </a:r>
          </a:p>
        </p:txBody>
      </p:sp>
      <p:sp>
        <p:nvSpPr>
          <p:cNvPr id="25" name="文本框 24"/>
          <p:cNvSpPr txBox="1"/>
          <p:nvPr userDrawn="1"/>
        </p:nvSpPr>
        <p:spPr>
          <a:xfrm>
            <a:off x="-1760220" y="4460875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2E689D"/>
                </a:solidFill>
                <a:cs typeface="Verdana" panose="020B0604030504040204" charset="0"/>
              </a:rPr>
              <a:t>形状：</a:t>
            </a:r>
          </a:p>
        </p:txBody>
      </p:sp>
      <p:sp>
        <p:nvSpPr>
          <p:cNvPr id="26" name="矩形 25"/>
          <p:cNvSpPr/>
          <p:nvPr userDrawn="1"/>
        </p:nvSpPr>
        <p:spPr>
          <a:xfrm>
            <a:off x="-1762125" y="5020945"/>
            <a:ext cx="1400810" cy="3962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形状一</a:t>
            </a:r>
          </a:p>
        </p:txBody>
      </p:sp>
      <p:sp>
        <p:nvSpPr>
          <p:cNvPr id="27" name="矩形 26"/>
          <p:cNvSpPr/>
          <p:nvPr userDrawn="1"/>
        </p:nvSpPr>
        <p:spPr>
          <a:xfrm>
            <a:off x="-1772920" y="5556250"/>
            <a:ext cx="1400810" cy="3962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形状二</a:t>
            </a:r>
          </a:p>
        </p:txBody>
      </p:sp>
      <p:sp>
        <p:nvSpPr>
          <p:cNvPr id="28" name="矩形 27"/>
          <p:cNvSpPr/>
          <p:nvPr userDrawn="1"/>
        </p:nvSpPr>
        <p:spPr>
          <a:xfrm>
            <a:off x="-1772920" y="6153150"/>
            <a:ext cx="1400810" cy="396240"/>
          </a:xfrm>
          <a:prstGeom prst="rect">
            <a:avLst/>
          </a:prstGeom>
          <a:solidFill>
            <a:srgbClr val="F08F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形状三</a:t>
            </a:r>
          </a:p>
        </p:txBody>
      </p:sp>
      <p:sp>
        <p:nvSpPr>
          <p:cNvPr id="29" name="矩形 28"/>
          <p:cNvSpPr/>
          <p:nvPr userDrawn="1"/>
        </p:nvSpPr>
        <p:spPr>
          <a:xfrm>
            <a:off x="-1772920" y="6727190"/>
            <a:ext cx="1400810" cy="396240"/>
          </a:xfrm>
          <a:prstGeom prst="rect">
            <a:avLst/>
          </a:prstGeom>
          <a:solidFill>
            <a:srgbClr val="767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形状四</a:t>
            </a:r>
          </a:p>
        </p:txBody>
      </p:sp>
      <p:sp>
        <p:nvSpPr>
          <p:cNvPr id="30" name="矩形 29"/>
          <p:cNvSpPr/>
          <p:nvPr userDrawn="1"/>
        </p:nvSpPr>
        <p:spPr>
          <a:xfrm>
            <a:off x="-1772920" y="7311390"/>
            <a:ext cx="1400810" cy="3962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形状五</a:t>
            </a:r>
          </a:p>
        </p:txBody>
      </p:sp>
      <p:sp>
        <p:nvSpPr>
          <p:cNvPr id="31" name="矩形 30"/>
          <p:cNvSpPr/>
          <p:nvPr userDrawn="1"/>
        </p:nvSpPr>
        <p:spPr>
          <a:xfrm>
            <a:off x="-1772920" y="7856220"/>
            <a:ext cx="1400810" cy="396240"/>
          </a:xfrm>
          <a:prstGeom prst="rect">
            <a:avLst/>
          </a:prstGeom>
          <a:solidFill>
            <a:srgbClr val="F0F0F0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1"/>
                </a:solidFill>
              </a:rPr>
              <a:t>形状六</a:t>
            </a:r>
          </a:p>
        </p:txBody>
      </p:sp>
      <p:sp>
        <p:nvSpPr>
          <p:cNvPr id="32" name="矩形 31"/>
          <p:cNvSpPr/>
          <p:nvPr userDrawn="1"/>
        </p:nvSpPr>
        <p:spPr>
          <a:xfrm>
            <a:off x="-1772920" y="8418830"/>
            <a:ext cx="1400810" cy="396240"/>
          </a:xfrm>
          <a:prstGeom prst="rect">
            <a:avLst/>
          </a:prstGeom>
          <a:solidFill>
            <a:srgbClr val="09BBDB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rgbClr val="F0F0F0"/>
                </a:solidFill>
              </a:rPr>
              <a:t>形状七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60" r:id="rId5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59898" y="88455"/>
            <a:ext cx="2841483" cy="525785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altLang="zh-CN" sz="2800" b="1" kern="5000" spc="600" dirty="0" err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YashanDB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4"/>
          </p:nvPr>
        </p:nvSpPr>
        <p:spPr>
          <a:xfrm>
            <a:off x="10622735" y="6266905"/>
            <a:ext cx="612775" cy="365125"/>
          </a:xfrm>
        </p:spPr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1</a:t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259898" y="613602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1110163" y="682817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52BD9199-ED2B-4837-AFA0-8620474F3C5D}"/>
              </a:ext>
            </a:extLst>
          </p:cNvPr>
          <p:cNvSpPr/>
          <p:nvPr/>
        </p:nvSpPr>
        <p:spPr>
          <a:xfrm>
            <a:off x="455943" y="5210055"/>
            <a:ext cx="351211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FA56B54-91A1-492F-9D46-2793ED0F7D36}"/>
              </a:ext>
            </a:extLst>
          </p:cNvPr>
          <p:cNvSpPr/>
          <p:nvPr/>
        </p:nvSpPr>
        <p:spPr>
          <a:xfrm>
            <a:off x="7567411" y="1626145"/>
            <a:ext cx="31911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altLang="zh-CN" sz="1400" b="0" i="0" dirty="0">
              <a:solidFill>
                <a:srgbClr val="172B4D"/>
              </a:solidFill>
              <a:effectLst/>
              <a:latin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EFCED45-13BC-45AE-98C0-1F58D9419A96}"/>
              </a:ext>
            </a:extLst>
          </p:cNvPr>
          <p:cNvSpPr txBox="1"/>
          <p:nvPr/>
        </p:nvSpPr>
        <p:spPr>
          <a:xfrm>
            <a:off x="5375182" y="3092242"/>
            <a:ext cx="65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团队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AEC79B7-3C35-E426-3B37-5F0D55DE267F}"/>
              </a:ext>
            </a:extLst>
          </p:cNvPr>
          <p:cNvSpPr/>
          <p:nvPr/>
        </p:nvSpPr>
        <p:spPr>
          <a:xfrm>
            <a:off x="4389869" y="2751123"/>
            <a:ext cx="1547860" cy="525785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altLang="zh-CN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XACT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1815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DEEF979-E09F-2E2C-C7F8-EC46A1711AD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408" y="623762"/>
            <a:ext cx="8190725" cy="542949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59898" y="88455"/>
            <a:ext cx="2798202" cy="525785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zh-CN" alt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事务管理架构</a:t>
            </a: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4"/>
          </p:nvPr>
        </p:nvSpPr>
        <p:spPr>
          <a:xfrm>
            <a:off x="10622735" y="6266905"/>
            <a:ext cx="612775" cy="365125"/>
          </a:xfrm>
        </p:spPr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2</a:t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259898" y="613602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1110163" y="682817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52BD9199-ED2B-4837-AFA0-8620474F3C5D}"/>
              </a:ext>
            </a:extLst>
          </p:cNvPr>
          <p:cNvSpPr/>
          <p:nvPr/>
        </p:nvSpPr>
        <p:spPr>
          <a:xfrm>
            <a:off x="455943" y="5210055"/>
            <a:ext cx="351211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FA56B54-91A1-492F-9D46-2793ED0F7D36}"/>
              </a:ext>
            </a:extLst>
          </p:cNvPr>
          <p:cNvSpPr/>
          <p:nvPr/>
        </p:nvSpPr>
        <p:spPr>
          <a:xfrm>
            <a:off x="7567411" y="1626145"/>
            <a:ext cx="31911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altLang="zh-CN" sz="1400" b="0" i="0" dirty="0">
              <a:solidFill>
                <a:srgbClr val="172B4D"/>
              </a:solidFill>
              <a:effectLst/>
              <a:latin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EFCED45-13BC-45AE-98C0-1F58D9419A96}"/>
              </a:ext>
            </a:extLst>
          </p:cNvPr>
          <p:cNvSpPr txBox="1"/>
          <p:nvPr/>
        </p:nvSpPr>
        <p:spPr>
          <a:xfrm>
            <a:off x="5375182" y="3092242"/>
            <a:ext cx="65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团队</a:t>
            </a:r>
          </a:p>
        </p:txBody>
      </p:sp>
    </p:spTree>
    <p:extLst>
      <p:ext uri="{BB962C8B-B14F-4D97-AF65-F5344CB8AC3E}">
        <p14:creationId xmlns:p14="http://schemas.microsoft.com/office/powerpoint/2010/main" val="2314503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59898" y="88455"/>
            <a:ext cx="2798202" cy="525785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zh-CN" alt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事务管理架构</a:t>
            </a: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4"/>
          </p:nvPr>
        </p:nvSpPr>
        <p:spPr>
          <a:xfrm>
            <a:off x="10622735" y="6266905"/>
            <a:ext cx="612775" cy="365125"/>
          </a:xfrm>
        </p:spPr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3</a:t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259898" y="613602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1110163" y="682817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E96C4B5B-DCFE-4B5C-8945-059CCAD3D8C3}"/>
              </a:ext>
            </a:extLst>
          </p:cNvPr>
          <p:cNvGrpSpPr/>
          <p:nvPr/>
        </p:nvGrpSpPr>
        <p:grpSpPr>
          <a:xfrm>
            <a:off x="455943" y="1044285"/>
            <a:ext cx="3512110" cy="816126"/>
            <a:chOff x="7871310" y="-3707293"/>
            <a:chExt cx="3080614" cy="6673654"/>
          </a:xfrm>
        </p:grpSpPr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1202DCCB-5274-40C8-A270-C0A921775522}"/>
                </a:ext>
              </a:extLst>
            </p:cNvPr>
            <p:cNvSpPr txBox="1"/>
            <p:nvPr/>
          </p:nvSpPr>
          <p:spPr>
            <a:xfrm>
              <a:off x="8445153" y="-3707293"/>
              <a:ext cx="1973001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事务资源管理器</a:t>
              </a: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52BD9199-ED2B-4837-AFA0-8620474F3C5D}"/>
                </a:ext>
              </a:extLst>
            </p:cNvPr>
            <p:cNvSpPr/>
            <p:nvPr/>
          </p:nvSpPr>
          <p:spPr>
            <a:xfrm>
              <a:off x="7871310" y="2443141"/>
              <a:ext cx="3080614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en-US" altLang="zh-CN" sz="1400" b="0" i="0" dirty="0">
                <a:solidFill>
                  <a:schemeClr val="tx1"/>
                </a:solidFill>
                <a:effectLst/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  <a:p>
              <a:endParaRPr lang="en-US" altLang="zh-CN" sz="1400" b="0" i="0" dirty="0">
                <a:solidFill>
                  <a:schemeClr val="tx1"/>
                </a:solidFill>
                <a:effectLst/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</p:grpSp>
      <p:sp>
        <p:nvSpPr>
          <p:cNvPr id="37" name="矩形 36">
            <a:extLst>
              <a:ext uri="{FF2B5EF4-FFF2-40B4-BE49-F238E27FC236}">
                <a16:creationId xmlns:a16="http://schemas.microsoft.com/office/drawing/2014/main" id="{8FA56B54-91A1-492F-9D46-2793ED0F7D36}"/>
              </a:ext>
            </a:extLst>
          </p:cNvPr>
          <p:cNvSpPr/>
          <p:nvPr/>
        </p:nvSpPr>
        <p:spPr>
          <a:xfrm>
            <a:off x="7567411" y="1626145"/>
            <a:ext cx="31911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altLang="zh-CN" sz="1400" b="0" i="0" dirty="0">
              <a:solidFill>
                <a:srgbClr val="172B4D"/>
              </a:solidFill>
              <a:effectLst/>
              <a:latin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EFCED45-13BC-45AE-98C0-1F58D9419A96}"/>
              </a:ext>
            </a:extLst>
          </p:cNvPr>
          <p:cNvSpPr txBox="1"/>
          <p:nvPr/>
        </p:nvSpPr>
        <p:spPr>
          <a:xfrm>
            <a:off x="5375182" y="3092242"/>
            <a:ext cx="65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团队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FDBFF409-C171-4AD4-89A1-26FD5774152A}"/>
              </a:ext>
            </a:extLst>
          </p:cNvPr>
          <p:cNvSpPr/>
          <p:nvPr/>
        </p:nvSpPr>
        <p:spPr>
          <a:xfrm>
            <a:off x="633620" y="1579621"/>
            <a:ext cx="5222893" cy="1554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  <a:cs typeface="Verdana" panose="020B0604030504040204" charset="0"/>
                <a:sym typeface="Verdana" panose="020B0604030504040204" charset="0"/>
              </a:rPr>
              <a:t>事务内存区的入口</a:t>
            </a:r>
            <a:endParaRPr lang="en-US" altLang="zh-CN" dirty="0">
              <a:latin typeface="+mn-ea"/>
              <a:cs typeface="Verdana" panose="020B0604030504040204" charset="0"/>
              <a:sym typeface="Verdana" panose="020B06040305040402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  <a:cs typeface="Verdana" panose="020B0604030504040204" charset="0"/>
                <a:sym typeface="Verdana" panose="020B0604030504040204" charset="0"/>
              </a:rPr>
              <a:t>管理事务区的地址及数量</a:t>
            </a:r>
            <a:endParaRPr lang="en-US" altLang="zh-CN" dirty="0">
              <a:latin typeface="+mn-ea"/>
              <a:cs typeface="Verdana" panose="020B0604030504040204" charset="0"/>
              <a:sym typeface="Verdana" panose="020B06040305040402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  <a:cs typeface="Verdana" panose="020B0604030504040204" charset="0"/>
                <a:sym typeface="Verdana" panose="020B0604030504040204" charset="0"/>
              </a:rPr>
              <a:t>事务区持久化信息依托于</a:t>
            </a:r>
            <a:r>
              <a:rPr lang="en-US" altLang="zh-CN" dirty="0">
                <a:latin typeface="+mn-ea"/>
                <a:cs typeface="Verdana" panose="020B0604030504040204" charset="0"/>
                <a:sym typeface="Verdana" panose="020B0604030504040204" charset="0"/>
              </a:rPr>
              <a:t>UNDO SEGMENT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sz="1400" dirty="0"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79F6835-2A01-0793-83A8-CC8B08191156}"/>
              </a:ext>
            </a:extLst>
          </p:cNvPr>
          <p:cNvSpPr txBox="1"/>
          <p:nvPr/>
        </p:nvSpPr>
        <p:spPr>
          <a:xfrm>
            <a:off x="7567411" y="1044285"/>
            <a:ext cx="1062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事务区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C613F24-D8EA-ECFB-4B8E-1E37FF5C7954}"/>
              </a:ext>
            </a:extLst>
          </p:cNvPr>
          <p:cNvSpPr/>
          <p:nvPr/>
        </p:nvSpPr>
        <p:spPr>
          <a:xfrm>
            <a:off x="5930346" y="1413617"/>
            <a:ext cx="5868515" cy="2119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+mn-ea"/>
                <a:cs typeface="Verdana" panose="020B0604030504040204" charset="0"/>
                <a:sym typeface="Verdana" panose="020B0604030504040204" charset="0"/>
              </a:rPr>
              <a:t>64</a:t>
            </a:r>
            <a:r>
              <a:rPr lang="zh-CN" altLang="en-US" dirty="0">
                <a:latin typeface="+mn-ea"/>
                <a:cs typeface="Verdana" panose="020B0604030504040204" charset="0"/>
                <a:sym typeface="Verdana" panose="020B0604030504040204" charset="0"/>
              </a:rPr>
              <a:t>个事务</a:t>
            </a:r>
            <a:r>
              <a:rPr lang="en-US" altLang="zh-CN" dirty="0">
                <a:latin typeface="+mn-ea"/>
                <a:cs typeface="Verdana" panose="020B0604030504040204" charset="0"/>
                <a:sym typeface="Verdana" panose="020B0604030504040204" charset="0"/>
              </a:rPr>
              <a:t>block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每个</a:t>
            </a:r>
            <a:r>
              <a:rPr lang="en-US" altLang="zh-CN" dirty="0"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block</a:t>
            </a:r>
            <a:r>
              <a:rPr lang="zh-CN" altLang="en-US" dirty="0"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上事务单位</a:t>
            </a:r>
            <a:r>
              <a:rPr lang="en-US" altLang="zh-CN" dirty="0" err="1"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xnode</a:t>
            </a:r>
            <a:r>
              <a:rPr lang="zh-CN" altLang="en-US" dirty="0"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依次存储</a:t>
            </a:r>
            <a:endParaRPr lang="en-US" altLang="zh-CN" dirty="0"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事务区每次管理每个</a:t>
            </a:r>
            <a:r>
              <a:rPr lang="en-US" altLang="zh-CN" dirty="0" err="1"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xnode</a:t>
            </a:r>
            <a:r>
              <a:rPr lang="zh-CN" altLang="en-US" dirty="0"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对应的内存单位</a:t>
            </a:r>
            <a:r>
              <a:rPr lang="en-US" altLang="zh-CN" dirty="0"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entry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空闲事务链</a:t>
            </a:r>
            <a:endParaRPr lang="en-US" altLang="zh-CN" dirty="0"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回滚事务链</a:t>
            </a:r>
            <a:endParaRPr lang="en-US" altLang="zh-CN" dirty="0"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950C29F-A15A-DAA3-648E-7E5EEDCE0A1F}"/>
              </a:ext>
            </a:extLst>
          </p:cNvPr>
          <p:cNvSpPr txBox="1"/>
          <p:nvPr/>
        </p:nvSpPr>
        <p:spPr>
          <a:xfrm>
            <a:off x="1367268" y="3357985"/>
            <a:ext cx="1274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事务启动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ADCBE84-215F-2E66-264D-6BA751E465AD}"/>
              </a:ext>
            </a:extLst>
          </p:cNvPr>
          <p:cNvSpPr/>
          <p:nvPr/>
        </p:nvSpPr>
        <p:spPr>
          <a:xfrm>
            <a:off x="633620" y="3665510"/>
            <a:ext cx="10259086" cy="25292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随机取一个事务区，从该事务区的空闲事务链上摘下一个</a:t>
            </a:r>
            <a:r>
              <a:rPr lang="en-US" altLang="zh-CN" dirty="0" err="1"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xentry</a:t>
            </a:r>
            <a:r>
              <a:rPr lang="zh-CN" altLang="en-US" dirty="0"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作为本次事务单元</a:t>
            </a:r>
            <a:endParaRPr lang="en-US" altLang="zh-CN" dirty="0"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为事务分配一个固定的</a:t>
            </a:r>
            <a:r>
              <a:rPr lang="en-US" altLang="zh-CN" dirty="0"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undo segment</a:t>
            </a:r>
            <a:r>
              <a:rPr lang="zh-CN" altLang="en-US" dirty="0"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，优先从该</a:t>
            </a:r>
            <a:r>
              <a:rPr lang="en-US" altLang="zh-CN" dirty="0"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segment</a:t>
            </a:r>
            <a:r>
              <a:rPr lang="zh-CN" altLang="en-US" dirty="0"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上为事务分配</a:t>
            </a:r>
            <a:r>
              <a:rPr lang="en-US" altLang="zh-CN" dirty="0"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undo</a:t>
            </a:r>
            <a:r>
              <a:rPr lang="zh-CN" altLang="en-US" dirty="0"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页面</a:t>
            </a:r>
            <a:endParaRPr lang="en-US" altLang="zh-CN" dirty="0"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启动事务，写下第一条</a:t>
            </a:r>
            <a:r>
              <a:rPr lang="en-US" altLang="zh-CN" dirty="0"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UNDO</a:t>
            </a:r>
            <a:r>
              <a:rPr lang="zh-CN" altLang="en-US" dirty="0"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记录，为事务</a:t>
            </a:r>
            <a:r>
              <a:rPr lang="en-US" altLang="zh-CN" dirty="0" err="1"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xnode</a:t>
            </a:r>
            <a:r>
              <a:rPr lang="zh-CN" altLang="en-US" dirty="0"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本身的</a:t>
            </a:r>
            <a:r>
              <a:rPr lang="en-US" altLang="zh-CN" dirty="0"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UNDO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事务结束时，会再次将已结束事务的</a:t>
            </a:r>
            <a:r>
              <a:rPr lang="en-US" altLang="zh-CN" dirty="0" err="1"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xentry</a:t>
            </a:r>
            <a:r>
              <a:rPr lang="zh-CN" altLang="en-US" dirty="0"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释放给其对应事务区的空闲事务链</a:t>
            </a:r>
            <a:endParaRPr lang="en-US" altLang="zh-CN" dirty="0"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事务被再复用时，会将版本号自增，因此每个事务都具有独一无二的编号</a:t>
            </a:r>
            <a:endParaRPr lang="en-US" altLang="zh-CN" dirty="0"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由一个事务区号、事务在该事务区的编号及事务的版本号三个数字构成唯一的事务号</a:t>
            </a:r>
            <a:endParaRPr lang="en-US" altLang="zh-CN" dirty="0"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3866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59898" y="88455"/>
            <a:ext cx="2798202" cy="525785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zh-CN" alt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事务状态转移</a:t>
            </a: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4"/>
          </p:nvPr>
        </p:nvSpPr>
        <p:spPr>
          <a:xfrm>
            <a:off x="10622735" y="6266905"/>
            <a:ext cx="612775" cy="365125"/>
          </a:xfrm>
        </p:spPr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4</a:t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259898" y="613602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1110163" y="682817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52BD9199-ED2B-4837-AFA0-8620474F3C5D}"/>
              </a:ext>
            </a:extLst>
          </p:cNvPr>
          <p:cNvSpPr/>
          <p:nvPr/>
        </p:nvSpPr>
        <p:spPr>
          <a:xfrm>
            <a:off x="455943" y="1796426"/>
            <a:ext cx="3512110" cy="63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FA56B54-91A1-492F-9D46-2793ED0F7D36}"/>
              </a:ext>
            </a:extLst>
          </p:cNvPr>
          <p:cNvSpPr/>
          <p:nvPr/>
        </p:nvSpPr>
        <p:spPr>
          <a:xfrm>
            <a:off x="7567411" y="1626145"/>
            <a:ext cx="31911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altLang="zh-CN" sz="1400" b="0" i="0" dirty="0">
              <a:solidFill>
                <a:srgbClr val="172B4D"/>
              </a:solidFill>
              <a:effectLst/>
              <a:latin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EFCED45-13BC-45AE-98C0-1F58D9419A96}"/>
              </a:ext>
            </a:extLst>
          </p:cNvPr>
          <p:cNvSpPr txBox="1"/>
          <p:nvPr/>
        </p:nvSpPr>
        <p:spPr>
          <a:xfrm>
            <a:off x="5375182" y="3092242"/>
            <a:ext cx="65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团队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7551875-0DFC-AB0B-617E-C2CD0B6866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355" y="682817"/>
            <a:ext cx="7414691" cy="4002797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70362FF9-71D8-5B60-9C1C-C429C8DE1BF6}"/>
              </a:ext>
            </a:extLst>
          </p:cNvPr>
          <p:cNvSpPr txBox="1"/>
          <p:nvPr/>
        </p:nvSpPr>
        <p:spPr>
          <a:xfrm>
            <a:off x="1634355" y="4822139"/>
            <a:ext cx="7029985" cy="1288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事务</a:t>
            </a:r>
            <a:r>
              <a:rPr lang="en-US" altLang="zh-CN" dirty="0" err="1"/>
              <a:t>xnode</a:t>
            </a:r>
            <a:r>
              <a:rPr lang="zh-CN" altLang="en-US" dirty="0"/>
              <a:t>从未被使用时，其状态为</a:t>
            </a:r>
            <a:r>
              <a:rPr lang="en-US" altLang="zh-CN" dirty="0"/>
              <a:t>IDLE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事务启动后，事务状态会改为</a:t>
            </a:r>
            <a:r>
              <a:rPr lang="en-US" altLang="zh-CN" dirty="0"/>
              <a:t>OPEN, </a:t>
            </a:r>
            <a:r>
              <a:rPr lang="zh-CN" altLang="en-US" dirty="0"/>
              <a:t>此时事务处于运行中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事务进行提交或回滚结束，状态会改为</a:t>
            </a:r>
            <a:r>
              <a:rPr lang="en-US" altLang="zh-CN" dirty="0"/>
              <a:t>END, </a:t>
            </a:r>
            <a:r>
              <a:rPr lang="zh-CN" altLang="en-US" dirty="0"/>
              <a:t>此时事务结束</a:t>
            </a:r>
          </a:p>
        </p:txBody>
      </p:sp>
    </p:spTree>
    <p:extLst>
      <p:ext uri="{BB962C8B-B14F-4D97-AF65-F5344CB8AC3E}">
        <p14:creationId xmlns:p14="http://schemas.microsoft.com/office/powerpoint/2010/main" val="3945953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1E8467C-C4A1-047F-BF6C-F6E2EB29A0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322" y="351347"/>
            <a:ext cx="6591313" cy="340919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59898" y="88455"/>
            <a:ext cx="1926168" cy="525785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zh-CN" alt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事务结束</a:t>
            </a: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4"/>
          </p:nvPr>
        </p:nvSpPr>
        <p:spPr>
          <a:xfrm>
            <a:off x="10622735" y="6266905"/>
            <a:ext cx="612775" cy="365125"/>
          </a:xfrm>
        </p:spPr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5</a:t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259898" y="613602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1110163" y="682817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52BD9199-ED2B-4837-AFA0-8620474F3C5D}"/>
              </a:ext>
            </a:extLst>
          </p:cNvPr>
          <p:cNvSpPr/>
          <p:nvPr/>
        </p:nvSpPr>
        <p:spPr>
          <a:xfrm>
            <a:off x="455943" y="1796426"/>
            <a:ext cx="3512110" cy="63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FA56B54-91A1-492F-9D46-2793ED0F7D36}"/>
              </a:ext>
            </a:extLst>
          </p:cNvPr>
          <p:cNvSpPr/>
          <p:nvPr/>
        </p:nvSpPr>
        <p:spPr>
          <a:xfrm>
            <a:off x="7567411" y="1626145"/>
            <a:ext cx="31911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altLang="zh-CN" sz="1400" b="0" i="0" dirty="0">
              <a:solidFill>
                <a:srgbClr val="172B4D"/>
              </a:solidFill>
              <a:effectLst/>
              <a:latin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0362FF9-71D8-5B60-9C1C-C429C8DE1BF6}"/>
              </a:ext>
            </a:extLst>
          </p:cNvPr>
          <p:cNvSpPr txBox="1"/>
          <p:nvPr/>
        </p:nvSpPr>
        <p:spPr>
          <a:xfrm>
            <a:off x="872355" y="3915215"/>
            <a:ext cx="9886252" cy="1705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800" kern="100" dirty="0">
                <a:effectLst/>
                <a:latin typeface="+mn-ea"/>
                <a:cs typeface="Times New Roman" panose="02020603050405020304" pitchFamily="18" charset="0"/>
              </a:rPr>
              <a:t>事务可以通过提交或者回滚结束，事务结束后，将重置与归还所有的资源。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800" kern="100" dirty="0">
                <a:effectLst/>
                <a:latin typeface="+mn-ea"/>
                <a:cs typeface="Times New Roman" panose="02020603050405020304" pitchFamily="18" charset="0"/>
              </a:rPr>
              <a:t>事务</a:t>
            </a:r>
            <a:r>
              <a:rPr lang="zh-CN" altLang="en-US" sz="1800" kern="100" dirty="0">
                <a:effectLst/>
                <a:latin typeface="+mn-ea"/>
                <a:cs typeface="Times New Roman" panose="02020603050405020304" pitchFamily="18" charset="0"/>
              </a:rPr>
              <a:t>结束</a:t>
            </a:r>
            <a:r>
              <a:rPr lang="zh-CN" altLang="zh-CN" sz="1800" kern="100" dirty="0">
                <a:effectLst/>
                <a:latin typeface="+mn-ea"/>
                <a:cs typeface="Times New Roman" panose="02020603050405020304" pitchFamily="18" charset="0"/>
              </a:rPr>
              <a:t>将推进全局</a:t>
            </a:r>
            <a:r>
              <a:rPr lang="en-US" altLang="zh-CN" sz="1800" kern="100" dirty="0" err="1">
                <a:effectLst/>
                <a:latin typeface="+mn-ea"/>
                <a:cs typeface="Times New Roman" panose="02020603050405020304" pitchFamily="18" charset="0"/>
              </a:rPr>
              <a:t>scn</a:t>
            </a:r>
            <a:r>
              <a:rPr lang="zh-CN" altLang="zh-CN" sz="1800" kern="100" dirty="0">
                <a:effectLst/>
                <a:latin typeface="+mn-ea"/>
                <a:cs typeface="Times New Roman" panose="02020603050405020304" pitchFamily="18" charset="0"/>
              </a:rPr>
              <a:t>，这个</a:t>
            </a:r>
            <a:r>
              <a:rPr lang="en-US" altLang="zh-CN" sz="1800" kern="100" dirty="0" err="1">
                <a:effectLst/>
                <a:latin typeface="+mn-ea"/>
                <a:cs typeface="Times New Roman" panose="02020603050405020304" pitchFamily="18" charset="0"/>
              </a:rPr>
              <a:t>scn</a:t>
            </a:r>
            <a:r>
              <a:rPr lang="zh-CN" altLang="zh-CN" sz="1800" kern="100" dirty="0">
                <a:effectLst/>
                <a:latin typeface="+mn-ea"/>
                <a:cs typeface="Times New Roman" panose="02020603050405020304" pitchFamily="18" charset="0"/>
              </a:rPr>
              <a:t>也用来标记本事务的可见性。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800" kern="100" dirty="0">
                <a:effectLst/>
                <a:latin typeface="+mn-ea"/>
                <a:cs typeface="Times New Roman" panose="02020603050405020304" pitchFamily="18" charset="0"/>
              </a:rPr>
              <a:t>事务启动与是否加表锁并无必然联系，并非绑定关系。</a:t>
            </a:r>
            <a:endParaRPr lang="en-US" altLang="zh-CN" sz="18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800" kern="100" dirty="0">
                <a:effectLst/>
                <a:latin typeface="+mn-ea"/>
                <a:cs typeface="Times New Roman" panose="02020603050405020304" pitchFamily="18" charset="0"/>
              </a:rPr>
              <a:t>即使可能没起事务，也有加上表锁的可能，在释放这次连接时仍然需要进行锁的释放。</a:t>
            </a:r>
          </a:p>
        </p:txBody>
      </p:sp>
    </p:spTree>
    <p:extLst>
      <p:ext uri="{BB962C8B-B14F-4D97-AF65-F5344CB8AC3E}">
        <p14:creationId xmlns:p14="http://schemas.microsoft.com/office/powerpoint/2010/main" val="192273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59898" y="88455"/>
            <a:ext cx="1926168" cy="525785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zh-CN" alt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事务回滚</a:t>
            </a: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4"/>
          </p:nvPr>
        </p:nvSpPr>
        <p:spPr>
          <a:xfrm>
            <a:off x="10622735" y="6266905"/>
            <a:ext cx="612775" cy="365125"/>
          </a:xfrm>
        </p:spPr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6</a:t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259898" y="613602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1110163" y="682817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52BD9199-ED2B-4837-AFA0-8620474F3C5D}"/>
              </a:ext>
            </a:extLst>
          </p:cNvPr>
          <p:cNvSpPr/>
          <p:nvPr/>
        </p:nvSpPr>
        <p:spPr>
          <a:xfrm>
            <a:off x="455943" y="1796426"/>
            <a:ext cx="3512110" cy="63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FA56B54-91A1-492F-9D46-2793ED0F7D36}"/>
              </a:ext>
            </a:extLst>
          </p:cNvPr>
          <p:cNvSpPr/>
          <p:nvPr/>
        </p:nvSpPr>
        <p:spPr>
          <a:xfrm>
            <a:off x="7567411" y="1626145"/>
            <a:ext cx="31911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altLang="zh-CN" sz="1400" b="0" i="0" dirty="0">
              <a:solidFill>
                <a:srgbClr val="172B4D"/>
              </a:solidFill>
              <a:effectLst/>
              <a:latin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0362FF9-71D8-5B60-9C1C-C429C8DE1BF6}"/>
              </a:ext>
            </a:extLst>
          </p:cNvPr>
          <p:cNvSpPr txBox="1"/>
          <p:nvPr/>
        </p:nvSpPr>
        <p:spPr>
          <a:xfrm>
            <a:off x="557543" y="1390284"/>
            <a:ext cx="9886252" cy="1705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800" dirty="0">
                <a:effectLst/>
                <a:latin typeface="+mn-ea"/>
                <a:cs typeface="Times New Roman" panose="02020603050405020304" pitchFamily="18" charset="0"/>
              </a:rPr>
              <a:t>事务发生回滚可能并非手动</a:t>
            </a:r>
            <a:r>
              <a:rPr lang="en-US" altLang="zh-CN" sz="1800" dirty="0">
                <a:effectLst/>
                <a:latin typeface="+mn-ea"/>
                <a:cs typeface="Times New Roman" panose="02020603050405020304" pitchFamily="18" charset="0"/>
              </a:rPr>
              <a:t>rollback</a:t>
            </a:r>
            <a:r>
              <a:rPr lang="zh-CN" altLang="zh-CN" sz="1800" dirty="0">
                <a:effectLst/>
                <a:latin typeface="+mn-ea"/>
                <a:cs typeface="Times New Roman" panose="02020603050405020304" pitchFamily="18" charset="0"/>
              </a:rPr>
              <a:t>产生。</a:t>
            </a:r>
            <a:endParaRPr lang="en-US" altLang="zh-CN" sz="18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800" dirty="0">
                <a:effectLst/>
                <a:latin typeface="+mn-ea"/>
                <a:cs typeface="Times New Roman" panose="02020603050405020304" pitchFamily="18" charset="0"/>
              </a:rPr>
              <a:t>当连接异常断开、数据库异常</a:t>
            </a:r>
            <a:r>
              <a:rPr lang="en-US" altLang="zh-CN" sz="1800" dirty="0">
                <a:effectLst/>
                <a:latin typeface="+mn-ea"/>
                <a:cs typeface="Times New Roman" panose="02020603050405020304" pitchFamily="18" charset="0"/>
              </a:rPr>
              <a:t>crash</a:t>
            </a:r>
            <a:r>
              <a:rPr lang="zh-CN" altLang="zh-CN" sz="1800" dirty="0">
                <a:effectLst/>
                <a:latin typeface="+mn-ea"/>
                <a:cs typeface="Times New Roman" panose="02020603050405020304" pitchFamily="18" charset="0"/>
              </a:rPr>
              <a:t>时，这些连接上的未完成事务都会进行回滚</a:t>
            </a:r>
            <a:r>
              <a:rPr lang="zh-CN" altLang="zh-CN" sz="1800" kern="100" dirty="0">
                <a:effectLst/>
                <a:latin typeface="+mn-ea"/>
                <a:cs typeface="Times New Roman" panose="02020603050405020304" pitchFamily="18" charset="0"/>
              </a:rPr>
              <a:t>。</a:t>
            </a:r>
            <a:endParaRPr lang="en-US" altLang="zh-CN" sz="18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kern="100" dirty="0">
                <a:effectLst/>
                <a:latin typeface="+mn-ea"/>
                <a:cs typeface="Times New Roman" panose="02020603050405020304" pitchFamily="18" charset="0"/>
              </a:rPr>
              <a:t>若数据库断电，可能有若干残留事务没有完成回滚。</a:t>
            </a:r>
            <a:endParaRPr lang="en-US" altLang="zh-CN" sz="18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kern="100" dirty="0">
                <a:effectLst/>
                <a:latin typeface="+mn-ea"/>
                <a:cs typeface="Times New Roman" panose="02020603050405020304" pitchFamily="18" charset="0"/>
              </a:rPr>
              <a:t>当数据库再次拉起后，事务区会重新加载，将这些残留事务加载至每个事务区的回滚事务链上。</a:t>
            </a:r>
            <a:endParaRPr lang="zh-CN" altLang="zh-CN" sz="1800" kern="100" dirty="0"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002743A-5F8B-171E-70F9-4AF5215BBEF1}"/>
              </a:ext>
            </a:extLst>
          </p:cNvPr>
          <p:cNvSpPr/>
          <p:nvPr/>
        </p:nvSpPr>
        <p:spPr>
          <a:xfrm>
            <a:off x="725534" y="3862210"/>
            <a:ext cx="1480457" cy="1458685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第一条</a:t>
            </a:r>
            <a:r>
              <a:rPr lang="en-US" altLang="zh-CN" dirty="0"/>
              <a:t>DML</a:t>
            </a:r>
            <a:r>
              <a:rPr lang="zh-CN" altLang="en-US" dirty="0"/>
              <a:t>语句失败回滚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AF417A7-C837-FE72-833C-28199DDD2C85}"/>
              </a:ext>
            </a:extLst>
          </p:cNvPr>
          <p:cNvSpPr/>
          <p:nvPr/>
        </p:nvSpPr>
        <p:spPr>
          <a:xfrm>
            <a:off x="2624184" y="3862210"/>
            <a:ext cx="1480457" cy="1458685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手动</a:t>
            </a:r>
            <a:r>
              <a:rPr lang="en-US" altLang="zh-CN" dirty="0"/>
              <a:t>rollback</a:t>
            </a:r>
            <a:endParaRPr lang="zh-CN" altLang="en-US" dirty="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670C52A-EE7E-C1C9-470C-C9B66B1936E2}"/>
              </a:ext>
            </a:extLst>
          </p:cNvPr>
          <p:cNvSpPr/>
          <p:nvPr/>
        </p:nvSpPr>
        <p:spPr>
          <a:xfrm>
            <a:off x="4522834" y="3862209"/>
            <a:ext cx="1480457" cy="1458685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连接</a:t>
            </a:r>
            <a:endParaRPr lang="en-US" altLang="zh-CN" dirty="0"/>
          </a:p>
          <a:p>
            <a:pPr algn="ctr"/>
            <a:r>
              <a:rPr lang="zh-CN" altLang="en-US" dirty="0"/>
              <a:t>异常退出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75786DE-70A0-05A3-DA2B-54D0674852E6}"/>
              </a:ext>
            </a:extLst>
          </p:cNvPr>
          <p:cNvSpPr/>
          <p:nvPr/>
        </p:nvSpPr>
        <p:spPr>
          <a:xfrm>
            <a:off x="6332584" y="3862208"/>
            <a:ext cx="1480457" cy="1458685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主机降备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DC453B6-A85B-6C94-1D17-50F1987F5D77}"/>
              </a:ext>
            </a:extLst>
          </p:cNvPr>
          <p:cNvSpPr/>
          <p:nvPr/>
        </p:nvSpPr>
        <p:spPr>
          <a:xfrm>
            <a:off x="8231234" y="3862208"/>
            <a:ext cx="1480457" cy="1458685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数据库</a:t>
            </a:r>
            <a:endParaRPr lang="en-US" altLang="zh-CN" dirty="0"/>
          </a:p>
          <a:p>
            <a:pPr algn="ctr"/>
            <a:r>
              <a:rPr lang="en-US" altLang="zh-CN" dirty="0"/>
              <a:t>crash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0418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59898" y="88455"/>
            <a:ext cx="1926168" cy="525785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zh-CN" alt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事务回滚</a:t>
            </a: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4"/>
          </p:nvPr>
        </p:nvSpPr>
        <p:spPr>
          <a:xfrm>
            <a:off x="10622735" y="6266905"/>
            <a:ext cx="612775" cy="365125"/>
          </a:xfrm>
        </p:spPr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7</a:t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259898" y="613602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1110163" y="682817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52BD9199-ED2B-4837-AFA0-8620474F3C5D}"/>
              </a:ext>
            </a:extLst>
          </p:cNvPr>
          <p:cNvSpPr/>
          <p:nvPr/>
        </p:nvSpPr>
        <p:spPr>
          <a:xfrm>
            <a:off x="455943" y="1796426"/>
            <a:ext cx="3512110" cy="63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FA56B54-91A1-492F-9D46-2793ED0F7D36}"/>
              </a:ext>
            </a:extLst>
          </p:cNvPr>
          <p:cNvSpPr/>
          <p:nvPr/>
        </p:nvSpPr>
        <p:spPr>
          <a:xfrm>
            <a:off x="7567411" y="1626145"/>
            <a:ext cx="31911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altLang="zh-CN" sz="1400" b="0" i="0" dirty="0">
              <a:solidFill>
                <a:srgbClr val="172B4D"/>
              </a:solidFill>
              <a:effectLst/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AF700A2-123B-24A3-2FC1-71A62E55D5DC}"/>
              </a:ext>
            </a:extLst>
          </p:cNvPr>
          <p:cNvSpPr txBox="1"/>
          <p:nvPr/>
        </p:nvSpPr>
        <p:spPr>
          <a:xfrm>
            <a:off x="98751" y="4903489"/>
            <a:ext cx="11782859" cy="1289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kern="100" dirty="0">
                <a:effectLst/>
                <a:latin typeface="+mn-ea"/>
                <a:cs typeface="Times New Roman" panose="02020603050405020304" pitchFamily="18" charset="0"/>
              </a:rPr>
              <a:t>当事务区加载完成后，数据库会起回滚线程，线程数量可通过配置参数进行配置</a:t>
            </a:r>
            <a:endParaRPr lang="en-US" altLang="zh-CN" sz="18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kern="100" dirty="0">
                <a:effectLst/>
                <a:latin typeface="+mn-ea"/>
                <a:cs typeface="Times New Roman" panose="02020603050405020304" pitchFamily="18" charset="0"/>
              </a:rPr>
              <a:t>这些回滚线程依次轮询每个事务区的回滚事务链，将残留事务依次摘下绑定至该线程上，进行回滚</a:t>
            </a:r>
            <a:endParaRPr lang="en-US" altLang="zh-CN" sz="18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kern="100" dirty="0">
                <a:effectLst/>
                <a:latin typeface="+mn-ea"/>
                <a:cs typeface="Times New Roman" panose="02020603050405020304" pitchFamily="18" charset="0"/>
              </a:rPr>
              <a:t>完成回滚后，将进行下一个，直到遍历完所有的事务区，确保数据库再无残留事务后，这些回滚线程会自动退出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18402EB-D9E9-06BD-159A-E67A62399D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163" y="1057710"/>
            <a:ext cx="6600396" cy="386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830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59898" y="88455"/>
            <a:ext cx="1688924" cy="525785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altLang="zh-CN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UNDO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4"/>
          </p:nvPr>
        </p:nvSpPr>
        <p:spPr>
          <a:xfrm>
            <a:off x="10622735" y="6266905"/>
            <a:ext cx="612775" cy="365125"/>
          </a:xfrm>
        </p:spPr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8</a:t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259898" y="613602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1110163" y="682817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52BD9199-ED2B-4837-AFA0-8620474F3C5D}"/>
              </a:ext>
            </a:extLst>
          </p:cNvPr>
          <p:cNvSpPr/>
          <p:nvPr/>
        </p:nvSpPr>
        <p:spPr>
          <a:xfrm>
            <a:off x="455943" y="1796426"/>
            <a:ext cx="3512110" cy="63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FA56B54-91A1-492F-9D46-2793ED0F7D36}"/>
              </a:ext>
            </a:extLst>
          </p:cNvPr>
          <p:cNvSpPr/>
          <p:nvPr/>
        </p:nvSpPr>
        <p:spPr>
          <a:xfrm>
            <a:off x="7567411" y="1626145"/>
            <a:ext cx="31911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altLang="zh-CN" sz="1400" b="0" i="0" dirty="0">
              <a:solidFill>
                <a:srgbClr val="172B4D"/>
              </a:solidFill>
              <a:effectLst/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AF700A2-123B-24A3-2FC1-71A62E55D5DC}"/>
              </a:ext>
            </a:extLst>
          </p:cNvPr>
          <p:cNvSpPr txBox="1"/>
          <p:nvPr/>
        </p:nvSpPr>
        <p:spPr>
          <a:xfrm>
            <a:off x="409141" y="1181674"/>
            <a:ext cx="11782859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UNDO</a:t>
            </a:r>
            <a:r>
              <a:rPr lang="zh-CN" altLang="en-US" sz="1800" kern="100" dirty="0">
                <a:effectLst/>
                <a:latin typeface="+mn-ea"/>
                <a:cs typeface="Times New Roman" panose="02020603050405020304" pitchFamily="18" charset="0"/>
              </a:rPr>
              <a:t>页面具有重复使用的特点，它用于保存事务产生的历史数据，可以满足一些查询、回滚等需求</a:t>
            </a:r>
            <a:endParaRPr lang="en-US" altLang="zh-CN" sz="18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kern="100" dirty="0">
                <a:effectLst/>
                <a:latin typeface="+mn-ea"/>
                <a:cs typeface="Times New Roman" panose="02020603050405020304" pitchFamily="18" charset="0"/>
              </a:rPr>
              <a:t>由于可被复用，数据的历史版本在</a:t>
            </a:r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UNDO</a:t>
            </a:r>
            <a:r>
              <a:rPr lang="zh-CN" altLang="en-US" sz="1800" kern="100" dirty="0">
                <a:effectLst/>
                <a:latin typeface="+mn-ea"/>
                <a:cs typeface="Times New Roman" panose="02020603050405020304" pitchFamily="18" charset="0"/>
              </a:rPr>
              <a:t>上保留是有时效性的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281D2FB8-9CE7-A82B-2D97-898DC24769CD}"/>
              </a:ext>
            </a:extLst>
          </p:cNvPr>
          <p:cNvSpPr/>
          <p:nvPr/>
        </p:nvSpPr>
        <p:spPr>
          <a:xfrm>
            <a:off x="759153" y="2385597"/>
            <a:ext cx="2660738" cy="59508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UNDO_RETENTION</a:t>
            </a:r>
            <a:endParaRPr lang="zh-CN" altLang="en-US" dirty="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20C91B4-12BB-4BEF-827B-C9E6BBF387C1}"/>
              </a:ext>
            </a:extLst>
          </p:cNvPr>
          <p:cNvSpPr/>
          <p:nvPr/>
        </p:nvSpPr>
        <p:spPr>
          <a:xfrm>
            <a:off x="757853" y="3250528"/>
            <a:ext cx="3359553" cy="59508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UNDO_SHRINK_ENABLED</a:t>
            </a:r>
            <a:endParaRPr lang="zh-CN" altLang="en-US" dirty="0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6273762-2897-C5DD-521A-5810C72B5490}"/>
              </a:ext>
            </a:extLst>
          </p:cNvPr>
          <p:cNvSpPr/>
          <p:nvPr/>
        </p:nvSpPr>
        <p:spPr>
          <a:xfrm>
            <a:off x="747986" y="4925290"/>
            <a:ext cx="3359553" cy="59508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_UNDO_FORCE_RETETION</a:t>
            </a:r>
            <a:endParaRPr lang="zh-CN" altLang="en-US" dirty="0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4D75420-26E4-C6C9-2F38-4239563AFA64}"/>
              </a:ext>
            </a:extLst>
          </p:cNvPr>
          <p:cNvSpPr/>
          <p:nvPr/>
        </p:nvSpPr>
        <p:spPr>
          <a:xfrm>
            <a:off x="747987" y="4115459"/>
            <a:ext cx="3359553" cy="59508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UNDO_SHRINK_INTERVAL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FB6274F-D4A4-77C4-4DF1-770826D259E8}"/>
              </a:ext>
            </a:extLst>
          </p:cNvPr>
          <p:cNvSpPr txBox="1"/>
          <p:nvPr/>
        </p:nvSpPr>
        <p:spPr>
          <a:xfrm>
            <a:off x="4360376" y="2160800"/>
            <a:ext cx="7072471" cy="3782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UNDO_RETETION</a:t>
            </a:r>
            <a:r>
              <a:rPr lang="zh-CN" altLang="en-US" sz="1800" kern="100" dirty="0">
                <a:effectLst/>
                <a:latin typeface="+mn-ea"/>
                <a:cs typeface="Times New Roman" panose="02020603050405020304" pitchFamily="18" charset="0"/>
              </a:rPr>
              <a:t>参数，用以描述尽量为用户保留多长时效的</a:t>
            </a:r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UNDO</a:t>
            </a:r>
            <a:r>
              <a:rPr lang="zh-CN" altLang="en-US" sz="1800" kern="100" dirty="0">
                <a:effectLst/>
                <a:latin typeface="+mn-ea"/>
                <a:cs typeface="Times New Roman" panose="02020603050405020304" pitchFamily="18" charset="0"/>
              </a:rPr>
              <a:t>内容，如果</a:t>
            </a:r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UNDO</a:t>
            </a:r>
            <a:r>
              <a:rPr lang="zh-CN" altLang="en-US" sz="1800" kern="100" dirty="0">
                <a:effectLst/>
                <a:latin typeface="+mn-ea"/>
                <a:cs typeface="Times New Roman" panose="02020603050405020304" pitchFamily="18" charset="0"/>
              </a:rPr>
              <a:t>表空间资源紧张且用户没有开启强制保留功能时，也可能将并未超时的</a:t>
            </a:r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UNDO</a:t>
            </a:r>
            <a:r>
              <a:rPr lang="zh-CN" altLang="en-US" sz="1800" kern="100" dirty="0">
                <a:effectLst/>
                <a:latin typeface="+mn-ea"/>
                <a:cs typeface="Times New Roman" panose="02020603050405020304" pitchFamily="18" charset="0"/>
              </a:rPr>
              <a:t>页面复用，导致数据未超时也被复用。</a:t>
            </a:r>
            <a:endParaRPr lang="en-US" altLang="zh-CN" sz="18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_UNDO_FORCE_RETENTION</a:t>
            </a:r>
            <a:r>
              <a:rPr lang="zh-CN" altLang="en-US" sz="1800" kern="100" dirty="0">
                <a:effectLst/>
                <a:latin typeface="+mn-ea"/>
                <a:cs typeface="Times New Roman" panose="02020603050405020304" pitchFamily="18" charset="0"/>
              </a:rPr>
              <a:t>参数用以决定是否开启</a:t>
            </a:r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UNDO</a:t>
            </a:r>
            <a:r>
              <a:rPr lang="zh-CN" altLang="en-US" sz="1800" kern="100" dirty="0">
                <a:effectLst/>
                <a:latin typeface="+mn-ea"/>
                <a:cs typeface="Times New Roman" panose="02020603050405020304" pitchFamily="18" charset="0"/>
              </a:rPr>
              <a:t>强制保留功能，若开启，则</a:t>
            </a:r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UNDO</a:t>
            </a:r>
            <a:r>
              <a:rPr lang="zh-CN" altLang="en-US" sz="1800" kern="100" dirty="0">
                <a:effectLst/>
                <a:latin typeface="+mn-ea"/>
                <a:cs typeface="Times New Roman" panose="02020603050405020304" pitchFamily="18" charset="0"/>
              </a:rPr>
              <a:t>页面必须在超时过期后才能被复用</a:t>
            </a:r>
            <a:endParaRPr lang="en-US" altLang="zh-CN" sz="18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kern="100" dirty="0">
                <a:latin typeface="+mn-ea"/>
                <a:cs typeface="Times New Roman" panose="02020603050405020304" pitchFamily="18" charset="0"/>
              </a:rPr>
              <a:t>UNDO_SHRINK_ENABLED</a:t>
            </a:r>
            <a:r>
              <a:rPr lang="zh-CN" altLang="en-US" kern="100" dirty="0">
                <a:latin typeface="+mn-ea"/>
                <a:cs typeface="Times New Roman" panose="02020603050405020304" pitchFamily="18" charset="0"/>
              </a:rPr>
              <a:t>可开启</a:t>
            </a:r>
            <a:r>
              <a:rPr lang="en-US" altLang="zh-CN" kern="100" dirty="0">
                <a:latin typeface="+mn-ea"/>
                <a:cs typeface="Times New Roman" panose="02020603050405020304" pitchFamily="18" charset="0"/>
              </a:rPr>
              <a:t>UNDO</a:t>
            </a:r>
            <a:r>
              <a:rPr lang="zh-CN" altLang="en-US" kern="100" dirty="0">
                <a:latin typeface="+mn-ea"/>
                <a:cs typeface="Times New Roman" panose="02020603050405020304" pitchFamily="18" charset="0"/>
              </a:rPr>
              <a:t>后台均衡优化机制，自动对</a:t>
            </a:r>
            <a:r>
              <a:rPr lang="en-US" altLang="zh-CN" kern="100" dirty="0">
                <a:latin typeface="+mn-ea"/>
                <a:cs typeface="Times New Roman" panose="02020603050405020304" pitchFamily="18" charset="0"/>
              </a:rPr>
              <a:t>UNDO</a:t>
            </a:r>
            <a:r>
              <a:rPr lang="zh-CN" altLang="en-US" kern="100" dirty="0">
                <a:latin typeface="+mn-ea"/>
                <a:cs typeface="Times New Roman" panose="02020603050405020304" pitchFamily="18" charset="0"/>
              </a:rPr>
              <a:t>进行定时资源优化</a:t>
            </a:r>
            <a:endParaRPr lang="en-US" altLang="zh-CN" kern="100" dirty="0">
              <a:latin typeface="+mn-ea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UNDO_SHRINK_INTERVAL</a:t>
            </a:r>
            <a:r>
              <a:rPr lang="zh-CN" altLang="en-US" sz="1800" kern="100" dirty="0">
                <a:effectLst/>
                <a:latin typeface="+mn-ea"/>
                <a:cs typeface="Times New Roman" panose="02020603050405020304" pitchFamily="18" charset="0"/>
              </a:rPr>
              <a:t>可决定发生自动均衡优化的周期</a:t>
            </a:r>
          </a:p>
        </p:txBody>
      </p:sp>
    </p:spTree>
    <p:extLst>
      <p:ext uri="{BB962C8B-B14F-4D97-AF65-F5344CB8AC3E}">
        <p14:creationId xmlns:p14="http://schemas.microsoft.com/office/powerpoint/2010/main" val="2640575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59898" y="88455"/>
            <a:ext cx="2560957" cy="525785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altLang="zh-CN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UNDO</a:t>
            </a:r>
            <a:r>
              <a:rPr lang="zh-CN" alt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分配</a:t>
            </a: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4"/>
          </p:nvPr>
        </p:nvSpPr>
        <p:spPr>
          <a:xfrm>
            <a:off x="10622735" y="6266905"/>
            <a:ext cx="612775" cy="365125"/>
          </a:xfrm>
        </p:spPr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9</a:t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259898" y="613602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1110163" y="682817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52BD9199-ED2B-4837-AFA0-8620474F3C5D}"/>
              </a:ext>
            </a:extLst>
          </p:cNvPr>
          <p:cNvSpPr/>
          <p:nvPr/>
        </p:nvSpPr>
        <p:spPr>
          <a:xfrm>
            <a:off x="455943" y="1796426"/>
            <a:ext cx="3512110" cy="63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FA56B54-91A1-492F-9D46-2793ED0F7D36}"/>
              </a:ext>
            </a:extLst>
          </p:cNvPr>
          <p:cNvSpPr/>
          <p:nvPr/>
        </p:nvSpPr>
        <p:spPr>
          <a:xfrm>
            <a:off x="7567411" y="1626145"/>
            <a:ext cx="31911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altLang="zh-CN" sz="1400" b="0" i="0" dirty="0">
              <a:solidFill>
                <a:srgbClr val="172B4D"/>
              </a:solidFill>
              <a:effectLst/>
              <a:latin typeface="+mn-e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FB6274F-D4A4-77C4-4DF1-770826D259E8}"/>
              </a:ext>
            </a:extLst>
          </p:cNvPr>
          <p:cNvSpPr txBox="1"/>
          <p:nvPr/>
        </p:nvSpPr>
        <p:spPr>
          <a:xfrm>
            <a:off x="666491" y="1073676"/>
            <a:ext cx="10828823" cy="5029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800" b="1" kern="100" dirty="0">
                <a:effectLst/>
                <a:latin typeface="+mn-ea"/>
                <a:cs typeface="Times New Roman" panose="02020603050405020304" pitchFamily="18" charset="0"/>
              </a:rPr>
              <a:t>undo</a:t>
            </a:r>
            <a:r>
              <a:rPr lang="zh-CN" altLang="en-US" sz="1800" b="1" kern="100" dirty="0">
                <a:effectLst/>
                <a:latin typeface="+mn-ea"/>
                <a:cs typeface="Times New Roman" panose="02020603050405020304" pitchFamily="18" charset="0"/>
              </a:rPr>
              <a:t>的分配采用多级分配策略进行</a:t>
            </a:r>
            <a:r>
              <a:rPr lang="en-US" altLang="zh-CN" sz="1800" b="1" kern="100" dirty="0">
                <a:effectLst/>
                <a:latin typeface="+mn-ea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1. </a:t>
            </a:r>
            <a:r>
              <a:rPr lang="zh-CN" altLang="en-US" sz="1800" kern="100" dirty="0">
                <a:effectLst/>
                <a:latin typeface="+mn-ea"/>
                <a:cs typeface="Times New Roman" panose="02020603050405020304" pitchFamily="18" charset="0"/>
              </a:rPr>
              <a:t>优先从当前事务绑定的</a:t>
            </a:r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segment</a:t>
            </a:r>
            <a:r>
              <a:rPr lang="zh-CN" altLang="en-US" sz="1800" kern="100" dirty="0">
                <a:effectLst/>
                <a:latin typeface="+mn-ea"/>
                <a:cs typeface="Times New Roman" panose="02020603050405020304" pitchFamily="18" charset="0"/>
              </a:rPr>
              <a:t>上进行分配，此时要考虑</a:t>
            </a:r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retention time</a:t>
            </a:r>
            <a:r>
              <a:rPr lang="zh-CN" altLang="en-US" sz="1800" kern="100" dirty="0">
                <a:effectLst/>
                <a:latin typeface="+mn-ea"/>
                <a:cs typeface="Times New Roman" panose="02020603050405020304" pitchFamily="18" charset="0"/>
              </a:rPr>
              <a:t>。</a:t>
            </a:r>
          </a:p>
          <a:p>
            <a:pPr algn="just">
              <a:lnSpc>
                <a:spcPct val="150000"/>
              </a:lnSpc>
            </a:pPr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2. </a:t>
            </a:r>
            <a:r>
              <a:rPr lang="zh-CN" altLang="en-US" sz="1800" kern="100" dirty="0">
                <a:effectLst/>
                <a:latin typeface="+mn-ea"/>
                <a:cs typeface="Times New Roman" panose="02020603050405020304" pitchFamily="18" charset="0"/>
              </a:rPr>
              <a:t>如果本地没有分配到，则进入全局分配。</a:t>
            </a:r>
          </a:p>
          <a:p>
            <a:pPr algn="just">
              <a:lnSpc>
                <a:spcPct val="150000"/>
              </a:lnSpc>
            </a:pPr>
            <a:r>
              <a:rPr lang="zh-CN" altLang="en-US" sz="1800" kern="100" dirty="0">
                <a:effectLst/>
                <a:latin typeface="+mn-ea"/>
                <a:cs typeface="Times New Roman" panose="02020603050405020304" pitchFamily="18" charset="0"/>
              </a:rPr>
              <a:t>    全局分配有三种处理，优先从表空间去分配一个</a:t>
            </a:r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extent</a:t>
            </a:r>
            <a:r>
              <a:rPr lang="zh-CN" altLang="en-US" sz="1800" kern="100" dirty="0">
                <a:effectLst/>
                <a:latin typeface="+mn-ea"/>
                <a:cs typeface="Times New Roman" panose="02020603050405020304" pitchFamily="18" charset="0"/>
              </a:rPr>
              <a:t>，再其他</a:t>
            </a:r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segment</a:t>
            </a:r>
            <a:r>
              <a:rPr lang="zh-CN" altLang="en-US" sz="1800" kern="100" dirty="0">
                <a:effectLst/>
                <a:latin typeface="+mn-ea"/>
                <a:cs typeface="Times New Roman" panose="02020603050405020304" pitchFamily="18" charset="0"/>
              </a:rPr>
              <a:t>去偷窃已过期的</a:t>
            </a:r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block</a:t>
            </a:r>
            <a:r>
              <a:rPr lang="zh-CN" altLang="en-US" sz="1800" kern="100" dirty="0">
                <a:effectLst/>
                <a:latin typeface="+mn-ea"/>
                <a:cs typeface="Times New Roman" panose="02020603050405020304" pitchFamily="18" charset="0"/>
              </a:rPr>
              <a:t>，如果再分配不到且开着自动扩展，从表空间去扩展文件。</a:t>
            </a:r>
          </a:p>
          <a:p>
            <a:pPr algn="just">
              <a:lnSpc>
                <a:spcPct val="150000"/>
              </a:lnSpc>
            </a:pPr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3. </a:t>
            </a:r>
            <a:r>
              <a:rPr lang="zh-CN" altLang="en-US" sz="1800" kern="100" dirty="0">
                <a:effectLst/>
                <a:latin typeface="+mn-ea"/>
                <a:cs typeface="Times New Roman" panose="02020603050405020304" pitchFamily="18" charset="0"/>
              </a:rPr>
              <a:t>如果全局分配不到，并且没有开启</a:t>
            </a:r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force retention</a:t>
            </a:r>
            <a:r>
              <a:rPr lang="zh-CN" altLang="en-US" sz="1800" kern="100" dirty="0">
                <a:effectLst/>
                <a:latin typeface="+mn-ea"/>
                <a:cs typeface="Times New Roman" panose="02020603050405020304" pitchFamily="18" charset="0"/>
              </a:rPr>
              <a:t>，则进入降级处理，即将</a:t>
            </a:r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retention time</a:t>
            </a:r>
            <a:r>
              <a:rPr lang="zh-CN" altLang="en-US" sz="1800" kern="100" dirty="0">
                <a:effectLst/>
                <a:latin typeface="+mn-ea"/>
                <a:cs typeface="Times New Roman" panose="02020603050405020304" pitchFamily="18" charset="0"/>
              </a:rPr>
              <a:t>降低</a:t>
            </a:r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10%</a:t>
            </a:r>
            <a:r>
              <a:rPr lang="zh-CN" altLang="en-US" sz="1800" kern="100" dirty="0">
                <a:effectLst/>
                <a:latin typeface="+mn-ea"/>
                <a:cs typeface="Times New Roman" panose="02020603050405020304" pitchFamily="18" charset="0"/>
              </a:rPr>
              <a:t>再次进行分配和偷窃。</a:t>
            </a:r>
          </a:p>
          <a:p>
            <a:pPr algn="just">
              <a:lnSpc>
                <a:spcPct val="150000"/>
              </a:lnSpc>
            </a:pPr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4. </a:t>
            </a:r>
            <a:r>
              <a:rPr lang="zh-CN" altLang="en-US" sz="1800" kern="100" dirty="0">
                <a:effectLst/>
                <a:latin typeface="+mn-ea"/>
                <a:cs typeface="Times New Roman" panose="02020603050405020304" pitchFamily="18" charset="0"/>
              </a:rPr>
              <a:t>如果再分配不到，则强制复用本地以及偷窃其他</a:t>
            </a:r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segment</a:t>
            </a:r>
            <a:r>
              <a:rPr lang="zh-CN" altLang="en-US" sz="1800" kern="100" dirty="0">
                <a:effectLst/>
                <a:latin typeface="+mn-ea"/>
                <a:cs typeface="Times New Roman" panose="02020603050405020304" pitchFamily="18" charset="0"/>
              </a:rPr>
              <a:t>。</a:t>
            </a:r>
          </a:p>
          <a:p>
            <a:pPr algn="just">
              <a:lnSpc>
                <a:spcPct val="150000"/>
              </a:lnSpc>
            </a:pPr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5. </a:t>
            </a:r>
            <a:r>
              <a:rPr lang="zh-CN" altLang="en-US" sz="1800" kern="100" dirty="0">
                <a:effectLst/>
                <a:latin typeface="+mn-ea"/>
                <a:cs typeface="Times New Roman" panose="02020603050405020304" pitchFamily="18" charset="0"/>
              </a:rPr>
              <a:t>最终都分配不到，则进行报错。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18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kern="100" dirty="0"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UNDO</a:t>
            </a:r>
            <a:r>
              <a:rPr lang="zh-CN" altLang="en-US" sz="1800" kern="100" dirty="0"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页面分配是一个尽可能为用户分配出资源的过程，如果遇到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UNDO</a:t>
            </a:r>
            <a:r>
              <a:rPr lang="zh-CN" altLang="en-US" sz="1800" kern="100" dirty="0"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资源不足的报错，需要考虑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UNDO</a:t>
            </a:r>
            <a:r>
              <a:rPr lang="zh-CN" altLang="en-US" sz="1800" kern="100" dirty="0"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表空间配置大小不合理，不能满足业务运行需要的资源需求。</a:t>
            </a:r>
          </a:p>
        </p:txBody>
      </p:sp>
    </p:spTree>
    <p:extLst>
      <p:ext uri="{BB962C8B-B14F-4D97-AF65-F5344CB8AC3E}">
        <p14:creationId xmlns:p14="http://schemas.microsoft.com/office/powerpoint/2010/main" val="3071051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8"/>
          <p:cNvSpPr>
            <a:spLocks noGrp="1"/>
          </p:cNvSpPr>
          <p:nvPr>
            <p:ph type="sldNum" sz="quarter" idx="4"/>
          </p:nvPr>
        </p:nvSpPr>
        <p:spPr>
          <a:xfrm>
            <a:off x="10622735" y="6266905"/>
            <a:ext cx="612775" cy="365125"/>
          </a:xfrm>
        </p:spPr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10</a:t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2BD9199-ED2B-4837-AFA0-8620474F3C5D}"/>
              </a:ext>
            </a:extLst>
          </p:cNvPr>
          <p:cNvSpPr/>
          <p:nvPr/>
        </p:nvSpPr>
        <p:spPr>
          <a:xfrm>
            <a:off x="455943" y="1796426"/>
            <a:ext cx="3512110" cy="63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FA56B54-91A1-492F-9D46-2793ED0F7D36}"/>
              </a:ext>
            </a:extLst>
          </p:cNvPr>
          <p:cNvSpPr/>
          <p:nvPr/>
        </p:nvSpPr>
        <p:spPr>
          <a:xfrm>
            <a:off x="7567411" y="1626145"/>
            <a:ext cx="31911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altLang="zh-CN" sz="1400" b="0" i="0" dirty="0">
              <a:solidFill>
                <a:srgbClr val="172B4D"/>
              </a:solidFill>
              <a:effectLst/>
              <a:latin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0B1D595-A29A-222F-665C-415A676A1204}"/>
              </a:ext>
            </a:extLst>
          </p:cNvPr>
          <p:cNvSpPr txBox="1"/>
          <p:nvPr/>
        </p:nvSpPr>
        <p:spPr>
          <a:xfrm>
            <a:off x="1328056" y="2278743"/>
            <a:ext cx="97826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solidFill>
                  <a:srgbClr val="FF0000"/>
                </a:solidFill>
              </a:rPr>
              <a:t>内部资料，仅供学习，禁止外传</a:t>
            </a:r>
          </a:p>
        </p:txBody>
      </p:sp>
    </p:spTree>
    <p:extLst>
      <p:ext uri="{BB962C8B-B14F-4D97-AF65-F5344CB8AC3E}">
        <p14:creationId xmlns:p14="http://schemas.microsoft.com/office/powerpoint/2010/main" val="4999438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Verdana"/>
        <a:font script="Hebr" typeface="Verdana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Verdana"/>
        <a:font script="Hebr" typeface="Verdana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3928</TotalTime>
  <Words>916</Words>
  <Application>Microsoft Office PowerPoint</Application>
  <PresentationFormat>宽屏</PresentationFormat>
  <Paragraphs>95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微软雅黑</vt:lpstr>
      <vt:lpstr>Arial</vt:lpstr>
      <vt:lpstr>Calibri</vt:lpstr>
      <vt:lpstr>Verdana</vt:lpstr>
      <vt:lpstr>Wingdings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zhangjh</dc:creator>
  <cp:lastModifiedBy>苏 凡</cp:lastModifiedBy>
  <cp:revision>226</cp:revision>
  <dcterms:created xsi:type="dcterms:W3CDTF">2021-03-09T02:51:00Z</dcterms:created>
  <dcterms:modified xsi:type="dcterms:W3CDTF">2022-08-15T07:42:57Z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2052-10.1.0.7698</vt:lpwstr>
  </property>
</Properties>
</file>