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311" r:id="rId2"/>
    <p:sldId id="312" r:id="rId3"/>
    <p:sldId id="313" r:id="rId4"/>
    <p:sldId id="31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105" d="100"/>
          <a:sy n="105" d="100"/>
        </p:scale>
        <p:origin x="1306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4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887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60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.yasdb.com/display/YAS/Checkpoint#checkpoint%E8%A7%A6%E5%8F%91%E6%96%B9%E5%BC%8F" TargetMode="External"/><Relationship Id="rId2" Type="http://schemas.openxmlformats.org/officeDocument/2006/relationships/hyperlink" Target="https://conf.yasdb.com/display/YAS/Checkpoint#checkpoint%E7%9A%84%E6%A8%A1%E5%BC%8F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nf.yasdb.com/display/YAS/Checkpoint#checkpoint%E6%89%A7%E8%A1%8C%E6%B5%81%E7%A8%8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3670236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数据同步机制概述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1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0716CB3-6410-417B-AD1E-0395E8D4DBC0}"/>
              </a:ext>
            </a:extLst>
          </p:cNvPr>
          <p:cNvGrpSpPr/>
          <p:nvPr/>
        </p:nvGrpSpPr>
        <p:grpSpPr>
          <a:xfrm>
            <a:off x="5368111" y="1228645"/>
            <a:ext cx="5257798" cy="1107996"/>
            <a:chOff x="5740402" y="1300491"/>
            <a:chExt cx="5257798" cy="110799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AB53AB2-2C72-4825-A804-982D3DA39611}"/>
                </a:ext>
              </a:extLst>
            </p:cNvPr>
            <p:cNvSpPr txBox="1"/>
            <p:nvPr/>
          </p:nvSpPr>
          <p:spPr>
            <a:xfrm>
              <a:off x="5740402" y="1300491"/>
              <a:ext cx="166549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WAL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机制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2801094-062B-417B-9058-8F4C9F58CEA5}"/>
                </a:ext>
              </a:extLst>
            </p:cNvPr>
            <p:cNvSpPr/>
            <p:nvPr/>
          </p:nvSpPr>
          <p:spPr>
            <a:xfrm>
              <a:off x="5740402" y="1669823"/>
              <a:ext cx="5257798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Write Ahead Log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机制是指对数据的修改都必须记录重做日志，并且在事务提交时，只需保证重做日志持久化，而不需要数据块罗盘。由于重做日志是顺序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，因此可以有效提升数据库性能。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913D63-E200-4CF3-AE16-A7382A5E9902}"/>
              </a:ext>
            </a:extLst>
          </p:cNvPr>
          <p:cNvGrpSpPr/>
          <p:nvPr/>
        </p:nvGrpSpPr>
        <p:grpSpPr>
          <a:xfrm>
            <a:off x="5368111" y="2424157"/>
            <a:ext cx="5257798" cy="892552"/>
            <a:chOff x="5740402" y="2533487"/>
            <a:chExt cx="5257798" cy="89255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653D5F9-D91F-46B5-89D8-928861D7DC93}"/>
                </a:ext>
              </a:extLst>
            </p:cNvPr>
            <p:cNvSpPr txBox="1"/>
            <p:nvPr/>
          </p:nvSpPr>
          <p:spPr>
            <a:xfrm>
              <a:off x="5740402" y="2533487"/>
              <a:ext cx="166549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脏块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E421A71-B2BA-4D84-AA6D-519E088363F5}"/>
                </a:ext>
              </a:extLst>
            </p:cNvPr>
            <p:cNvSpPr/>
            <p:nvPr/>
          </p:nvSpPr>
          <p:spPr>
            <a:xfrm>
              <a:off x="5740402" y="2902819"/>
              <a:ext cx="525779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对数据块的修改都是在缓存区中完成，那么就会存在缓存区和数据文件数据块不一致的时刻，将这些数据块称之为脏块。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pic>
        <p:nvPicPr>
          <p:cNvPr id="31" name="图片 30" descr="图片包含 文字&#10;&#10;自动生成的说明">
            <a:extLst>
              <a:ext uri="{FF2B5EF4-FFF2-40B4-BE49-F238E27FC236}">
                <a16:creationId xmlns:a16="http://schemas.microsoft.com/office/drawing/2014/main" id="{16C1554B-79E6-4C9C-AFD8-F2A969CAF4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72" y="1596945"/>
            <a:ext cx="4135755" cy="384302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463A267-663A-4031-9EB0-662514EC624B}"/>
              </a:ext>
            </a:extLst>
          </p:cNvPr>
          <p:cNvGrpSpPr/>
          <p:nvPr/>
        </p:nvGrpSpPr>
        <p:grpSpPr>
          <a:xfrm>
            <a:off x="5368111" y="3501970"/>
            <a:ext cx="5257798" cy="1538883"/>
            <a:chOff x="5740402" y="3766483"/>
            <a:chExt cx="5257798" cy="1538883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BD28DB2-2F16-4B5E-8D82-F64784E929FB}"/>
                </a:ext>
              </a:extLst>
            </p:cNvPr>
            <p:cNvSpPr txBox="1"/>
            <p:nvPr/>
          </p:nvSpPr>
          <p:spPr>
            <a:xfrm>
              <a:off x="5740402" y="3766483"/>
              <a:ext cx="166549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数据同步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66DF68A-B8BC-4C22-A05A-2D6AC5B6811C}"/>
                </a:ext>
              </a:extLst>
            </p:cNvPr>
            <p:cNvSpPr/>
            <p:nvPr/>
          </p:nvSpPr>
          <p:spPr>
            <a:xfrm>
              <a:off x="5740402" y="4135815"/>
              <a:ext cx="5257798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数据同步是指数据缓存区的脏块持久化到数据文件的过程。以下两种场景会触发数据同步：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缓存区不足时，需要持久化脏块以释放空间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触发检查点机制，释放重做日志空间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F4A9B9F-ECEA-4A83-8CC3-87A4E6213260}"/>
              </a:ext>
            </a:extLst>
          </p:cNvPr>
          <p:cNvGrpSpPr/>
          <p:nvPr/>
        </p:nvGrpSpPr>
        <p:grpSpPr>
          <a:xfrm>
            <a:off x="5368111" y="4952246"/>
            <a:ext cx="5257798" cy="1107996"/>
            <a:chOff x="5740402" y="4999478"/>
            <a:chExt cx="5257798" cy="1107996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1179F1E-E841-4C36-AE92-3372505B98CE}"/>
                </a:ext>
              </a:extLst>
            </p:cNvPr>
            <p:cNvSpPr txBox="1"/>
            <p:nvPr/>
          </p:nvSpPr>
          <p:spPr>
            <a:xfrm>
              <a:off x="5740402" y="4999478"/>
              <a:ext cx="2025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写线程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( DBWR)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4780C7C-A656-4B4F-97B3-ACC9A0A35CF6}"/>
                </a:ext>
              </a:extLst>
            </p:cNvPr>
            <p:cNvSpPr/>
            <p:nvPr/>
          </p:nvSpPr>
          <p:spPr>
            <a:xfrm>
              <a:off x="5740402" y="5368810"/>
              <a:ext cx="5257798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不管是什么方式触发的数据持久化，最终的写操作是由数据库写线程线程完成。为了提高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IO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效率，数据库通常包含多个写线程，并且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Block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是按批写入的。</a:t>
              </a:r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837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236218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缓存区清理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2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6844E1-BCE3-4BC3-ACF6-7D8BBFB07FA2}"/>
              </a:ext>
            </a:extLst>
          </p:cNvPr>
          <p:cNvSpPr/>
          <p:nvPr/>
        </p:nvSpPr>
        <p:spPr>
          <a:xfrm>
            <a:off x="488774" y="1685099"/>
            <a:ext cx="5977345" cy="88827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圆角矩形 3">
            <a:extLst>
              <a:ext uri="{FF2B5EF4-FFF2-40B4-BE49-F238E27FC236}">
                <a16:creationId xmlns:a16="http://schemas.microsoft.com/office/drawing/2014/main" id="{72121654-D4C8-476E-8352-5FD27D14E396}"/>
              </a:ext>
            </a:extLst>
          </p:cNvPr>
          <p:cNvSpPr/>
          <p:nvPr/>
        </p:nvSpPr>
        <p:spPr>
          <a:xfrm>
            <a:off x="589444" y="2125346"/>
            <a:ext cx="1065760" cy="30448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Dirty List</a:t>
            </a:r>
          </a:p>
        </p:txBody>
      </p:sp>
      <p:sp>
        <p:nvSpPr>
          <p:cNvPr id="12" name="圆角矩形 30">
            <a:extLst>
              <a:ext uri="{FF2B5EF4-FFF2-40B4-BE49-F238E27FC236}">
                <a16:creationId xmlns:a16="http://schemas.microsoft.com/office/drawing/2014/main" id="{A9511680-BECE-47B4-9DFC-473DEDC3BD05}"/>
              </a:ext>
            </a:extLst>
          </p:cNvPr>
          <p:cNvSpPr/>
          <p:nvPr/>
        </p:nvSpPr>
        <p:spPr>
          <a:xfrm>
            <a:off x="1953047" y="2121782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EA82CA1-F15B-41D5-B06C-07D502ED516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653547" y="2274136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0">
            <a:extLst>
              <a:ext uri="{FF2B5EF4-FFF2-40B4-BE49-F238E27FC236}">
                <a16:creationId xmlns:a16="http://schemas.microsoft.com/office/drawing/2014/main" id="{7955545F-799F-487F-9958-BE69C36981D8}"/>
              </a:ext>
            </a:extLst>
          </p:cNvPr>
          <p:cNvSpPr/>
          <p:nvPr/>
        </p:nvSpPr>
        <p:spPr>
          <a:xfrm>
            <a:off x="3116091" y="2121782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5" name="圆角矩形 30">
            <a:extLst>
              <a:ext uri="{FF2B5EF4-FFF2-40B4-BE49-F238E27FC236}">
                <a16:creationId xmlns:a16="http://schemas.microsoft.com/office/drawing/2014/main" id="{307EB3E5-4423-43F5-B592-F551E7A90B04}"/>
              </a:ext>
            </a:extLst>
          </p:cNvPr>
          <p:cNvSpPr/>
          <p:nvPr/>
        </p:nvSpPr>
        <p:spPr>
          <a:xfrm>
            <a:off x="4278307" y="2116224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AAF7EFF0-4C5F-4780-B3F5-75D6DEAC6C61}"/>
              </a:ext>
            </a:extLst>
          </p:cNvPr>
          <p:cNvSpPr/>
          <p:nvPr/>
        </p:nvSpPr>
        <p:spPr>
          <a:xfrm>
            <a:off x="5439695" y="2116224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EC68335-A0B8-4073-A025-BFB729F2EB0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816591" y="2274136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5E184FD-EA20-44F1-AD21-7E3E958D008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979635" y="2268578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8A22BC8-38B5-447D-9CA1-8B62203DFA6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141851" y="2268578"/>
            <a:ext cx="297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0B8234E-2FA1-4E68-ADF4-21832BDC80A6}"/>
              </a:ext>
            </a:extLst>
          </p:cNvPr>
          <p:cNvSpPr/>
          <p:nvPr/>
        </p:nvSpPr>
        <p:spPr>
          <a:xfrm>
            <a:off x="537193" y="3008479"/>
            <a:ext cx="2891807" cy="2084010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81A4370A-684F-4866-A144-D682C48C2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843084"/>
              </p:ext>
            </p:extLst>
          </p:nvPr>
        </p:nvGraphicFramePr>
        <p:xfrm>
          <a:off x="3875139" y="3008479"/>
          <a:ext cx="2654935" cy="208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987">
                  <a:extLst>
                    <a:ext uri="{9D8B030D-6E8A-4147-A177-3AD203B41FA5}">
                      <a16:colId xmlns:a16="http://schemas.microsoft.com/office/drawing/2014/main" val="3999700475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3320126811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3118079823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2609180650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4003781054"/>
                    </a:ext>
                  </a:extLst>
                </a:gridCol>
              </a:tblGrid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18780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348102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05348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27796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89566"/>
                  </a:ext>
                </a:extLst>
              </a:tr>
            </a:tbl>
          </a:graphicData>
        </a:graphic>
      </p:graphicFrame>
      <p:sp>
        <p:nvSpPr>
          <p:cNvPr id="26" name="标题 1">
            <a:extLst>
              <a:ext uri="{FF2B5EF4-FFF2-40B4-BE49-F238E27FC236}">
                <a16:creationId xmlns:a16="http://schemas.microsoft.com/office/drawing/2014/main" id="{622CC80C-8D14-4CCC-820B-EC15EB32AB71}"/>
              </a:ext>
            </a:extLst>
          </p:cNvPr>
          <p:cNvSpPr txBox="1">
            <a:spLocks/>
          </p:cNvSpPr>
          <p:nvPr/>
        </p:nvSpPr>
        <p:spPr>
          <a:xfrm>
            <a:off x="2229491" y="1728334"/>
            <a:ext cx="2654935" cy="4227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CN" sz="1600" b="1" dirty="0">
                <a:solidFill>
                  <a:srgbClr val="ED7D31"/>
                </a:solidFill>
                <a:latin typeface="+mn-lt"/>
              </a:rPr>
              <a:t>Data Buffer Partition</a:t>
            </a:r>
            <a:endParaRPr lang="zh-CN" altLang="en-US" sz="1600" b="1" dirty="0">
              <a:solidFill>
                <a:srgbClr val="ED7D31"/>
              </a:solidFill>
              <a:latin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58EC73-7470-4143-B0B3-4A1C1623AF56}"/>
              </a:ext>
            </a:extLst>
          </p:cNvPr>
          <p:cNvSpPr txBox="1"/>
          <p:nvPr/>
        </p:nvSpPr>
        <p:spPr>
          <a:xfrm>
            <a:off x="1385638" y="4541511"/>
            <a:ext cx="131072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DBWR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B2F01A-DAE8-4BE3-8D39-B7DE6178B006}"/>
              </a:ext>
            </a:extLst>
          </p:cNvPr>
          <p:cNvSpPr/>
          <p:nvPr/>
        </p:nvSpPr>
        <p:spPr>
          <a:xfrm>
            <a:off x="836023" y="3233056"/>
            <a:ext cx="2323102" cy="1274294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圆角矩形 30">
            <a:extLst>
              <a:ext uri="{FF2B5EF4-FFF2-40B4-BE49-F238E27FC236}">
                <a16:creationId xmlns:a16="http://schemas.microsoft.com/office/drawing/2014/main" id="{2E982D0D-EC19-466F-B864-98D69AA526D6}"/>
              </a:ext>
            </a:extLst>
          </p:cNvPr>
          <p:cNvSpPr/>
          <p:nvPr/>
        </p:nvSpPr>
        <p:spPr>
          <a:xfrm>
            <a:off x="1098438" y="335369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36" name="圆角矩形 30">
            <a:extLst>
              <a:ext uri="{FF2B5EF4-FFF2-40B4-BE49-F238E27FC236}">
                <a16:creationId xmlns:a16="http://schemas.microsoft.com/office/drawing/2014/main" id="{4320B05E-86C1-4D38-B5B2-F6CC8AC0C424}"/>
              </a:ext>
            </a:extLst>
          </p:cNvPr>
          <p:cNvSpPr/>
          <p:nvPr/>
        </p:nvSpPr>
        <p:spPr>
          <a:xfrm>
            <a:off x="1105592" y="373188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38" name="圆角矩形 30">
            <a:extLst>
              <a:ext uri="{FF2B5EF4-FFF2-40B4-BE49-F238E27FC236}">
                <a16:creationId xmlns:a16="http://schemas.microsoft.com/office/drawing/2014/main" id="{0946CA17-EEDC-4170-AC41-6D34228969D8}"/>
              </a:ext>
            </a:extLst>
          </p:cNvPr>
          <p:cNvSpPr/>
          <p:nvPr/>
        </p:nvSpPr>
        <p:spPr>
          <a:xfrm>
            <a:off x="2116095" y="335096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39" name="圆角矩形 30">
            <a:extLst>
              <a:ext uri="{FF2B5EF4-FFF2-40B4-BE49-F238E27FC236}">
                <a16:creationId xmlns:a16="http://schemas.microsoft.com/office/drawing/2014/main" id="{66E15F72-3063-4DF9-B9F2-A881AC4BB411}"/>
              </a:ext>
            </a:extLst>
          </p:cNvPr>
          <p:cNvSpPr/>
          <p:nvPr/>
        </p:nvSpPr>
        <p:spPr>
          <a:xfrm>
            <a:off x="2114606" y="3720870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C15C42A-E5AA-424C-BC17-384F9EC4EA4F}"/>
              </a:ext>
            </a:extLst>
          </p:cNvPr>
          <p:cNvSpPr txBox="1"/>
          <p:nvPr/>
        </p:nvSpPr>
        <p:spPr>
          <a:xfrm>
            <a:off x="1406111" y="4176930"/>
            <a:ext cx="1501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0AD47"/>
                </a:solidFill>
                <a:latin typeface="+mn-lt"/>
              </a:rPr>
              <a:t>Flush Buffer</a:t>
            </a:r>
            <a:endParaRPr lang="zh-CN" altLang="en-US" sz="1400" dirty="0">
              <a:solidFill>
                <a:srgbClr val="70AD47"/>
              </a:solidFill>
              <a:latin typeface="+mn-lt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0E61E4B-163D-4DF7-8670-4D6F2B32F2C2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114606" y="2426490"/>
            <a:ext cx="270213" cy="80656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BC375AD-3AAB-473D-A1D9-948DD954D12F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114606" y="2426490"/>
            <a:ext cx="1433257" cy="8010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30F7B09-8A9B-4ACD-A0D3-5B533B545C65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114606" y="2420932"/>
            <a:ext cx="2595473" cy="80656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4F6CB5F-0020-4F9F-B549-F8844F8D82F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2101343" y="2420932"/>
            <a:ext cx="3770124" cy="8010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037086D-C5E4-421F-A883-07C4FE1466A8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2546378" y="4025578"/>
            <a:ext cx="1360969" cy="29369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6993284-7666-4E09-87F7-319B6A44C829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537364" y="4036594"/>
            <a:ext cx="3419990" cy="10284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01A2BFD-7BBB-40C9-AB16-A7471DFD41B9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979639" y="3503317"/>
            <a:ext cx="2506761" cy="65266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EF51C31-8688-4F9E-9168-C459496D2D7D}"/>
              </a:ext>
            </a:extLst>
          </p:cNvPr>
          <p:cNvCxnSpPr>
            <a:cxnSpLocks/>
          </p:cNvCxnSpPr>
          <p:nvPr/>
        </p:nvCxnSpPr>
        <p:spPr>
          <a:xfrm>
            <a:off x="1961982" y="3497758"/>
            <a:ext cx="2467189" cy="12301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D291FFA-6042-447F-8A59-C72EED31AAB5}"/>
              </a:ext>
            </a:extLst>
          </p:cNvPr>
          <p:cNvGrpSpPr/>
          <p:nvPr/>
        </p:nvGrpSpPr>
        <p:grpSpPr>
          <a:xfrm>
            <a:off x="7190666" y="1360335"/>
            <a:ext cx="4631219" cy="1834942"/>
            <a:chOff x="6322060" y="1191149"/>
            <a:chExt cx="4055110" cy="1834942"/>
          </a:xfrm>
        </p:grpSpPr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9A62175-543D-4B27-8317-8012049D0C22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13458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当数据缓存区空闲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不足时，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DBWR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会从对应的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partition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上准确脏块。为了避免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flush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对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并发访问的影响，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flush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之前会先将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从数据缓存区拷贝到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DBWR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flush buffer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中，之后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block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就可以继续被修改。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6B023676-E8BC-4315-B354-59C967FF0260}"/>
                </a:ext>
              </a:extLst>
            </p:cNvPr>
            <p:cNvSpPr txBox="1"/>
            <p:nvPr/>
          </p:nvSpPr>
          <p:spPr>
            <a:xfrm>
              <a:off x="6322060" y="1191149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脏块准备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79E4E-BEA9-4957-9D67-285EDDB42F96}"/>
              </a:ext>
            </a:extLst>
          </p:cNvPr>
          <p:cNvGrpSpPr/>
          <p:nvPr/>
        </p:nvGrpSpPr>
        <p:grpSpPr>
          <a:xfrm>
            <a:off x="7190666" y="3348977"/>
            <a:ext cx="4483101" cy="1836928"/>
            <a:chOff x="6322059" y="1189163"/>
            <a:chExt cx="4055111" cy="1836928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2F85086-3AEB-4025-AF92-77138D40047A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13458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DBWR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会将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flush buffer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逐个同步到数据文件上。刷盘过程中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DBWR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会采用脏块排序、相邻脏块合并刷盘等措施来提升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效率。同时数据库提供了不同的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IO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模式，来满足不同的需求。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2DEEB75-57E4-4AA6-B8A8-578B79E6A6E2}"/>
                </a:ext>
              </a:extLst>
            </p:cNvPr>
            <p:cNvSpPr txBox="1"/>
            <p:nvPr/>
          </p:nvSpPr>
          <p:spPr>
            <a:xfrm>
              <a:off x="6322059" y="1189163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脏块刷盘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585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236218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检查点机制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3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F9092F-274A-4AE8-9DBD-C36F950990EF}"/>
              </a:ext>
            </a:extLst>
          </p:cNvPr>
          <p:cNvSpPr/>
          <p:nvPr/>
        </p:nvSpPr>
        <p:spPr>
          <a:xfrm>
            <a:off x="370116" y="1685099"/>
            <a:ext cx="6096004" cy="88827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圆角矩形 3">
            <a:extLst>
              <a:ext uri="{FF2B5EF4-FFF2-40B4-BE49-F238E27FC236}">
                <a16:creationId xmlns:a16="http://schemas.microsoft.com/office/drawing/2014/main" id="{0E91983F-1F2D-461F-899D-BF35134D718D}"/>
              </a:ext>
            </a:extLst>
          </p:cNvPr>
          <p:cNvSpPr/>
          <p:nvPr/>
        </p:nvSpPr>
        <p:spPr>
          <a:xfrm>
            <a:off x="510542" y="2125346"/>
            <a:ext cx="1144662" cy="30448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Dirty Queue</a:t>
            </a:r>
          </a:p>
        </p:txBody>
      </p:sp>
      <p:sp>
        <p:nvSpPr>
          <p:cNvPr id="11" name="圆角矩形 30">
            <a:extLst>
              <a:ext uri="{FF2B5EF4-FFF2-40B4-BE49-F238E27FC236}">
                <a16:creationId xmlns:a16="http://schemas.microsoft.com/office/drawing/2014/main" id="{67715710-B049-41A0-BD60-6D58AECC1D03}"/>
              </a:ext>
            </a:extLst>
          </p:cNvPr>
          <p:cNvSpPr/>
          <p:nvPr/>
        </p:nvSpPr>
        <p:spPr>
          <a:xfrm>
            <a:off x="1953047" y="2121782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2F25865-0145-4C42-8470-158D4CED16C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653547" y="2274136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30">
            <a:extLst>
              <a:ext uri="{FF2B5EF4-FFF2-40B4-BE49-F238E27FC236}">
                <a16:creationId xmlns:a16="http://schemas.microsoft.com/office/drawing/2014/main" id="{C99128DD-4849-4790-BBA1-37A2D6EE2F24}"/>
              </a:ext>
            </a:extLst>
          </p:cNvPr>
          <p:cNvSpPr/>
          <p:nvPr/>
        </p:nvSpPr>
        <p:spPr>
          <a:xfrm>
            <a:off x="3116091" y="2121782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4" name="圆角矩形 30">
            <a:extLst>
              <a:ext uri="{FF2B5EF4-FFF2-40B4-BE49-F238E27FC236}">
                <a16:creationId xmlns:a16="http://schemas.microsoft.com/office/drawing/2014/main" id="{23ACC80C-8A1B-452B-ACA8-17BEAD3FEB1E}"/>
              </a:ext>
            </a:extLst>
          </p:cNvPr>
          <p:cNvSpPr/>
          <p:nvPr/>
        </p:nvSpPr>
        <p:spPr>
          <a:xfrm>
            <a:off x="4278307" y="2116224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15" name="圆角矩形 30">
            <a:extLst>
              <a:ext uri="{FF2B5EF4-FFF2-40B4-BE49-F238E27FC236}">
                <a16:creationId xmlns:a16="http://schemas.microsoft.com/office/drawing/2014/main" id="{748A757E-E7D6-404B-9034-5BB7A3D69C37}"/>
              </a:ext>
            </a:extLst>
          </p:cNvPr>
          <p:cNvSpPr/>
          <p:nvPr/>
        </p:nvSpPr>
        <p:spPr>
          <a:xfrm>
            <a:off x="5439695" y="2116224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2E2DC55-2595-425A-9569-EEE8BF53A83F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2816591" y="2274136"/>
            <a:ext cx="29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CFDD540-50FB-47E4-A790-E55AA39AF61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979635" y="2268578"/>
            <a:ext cx="29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E6F382A-81AA-4F81-A2C1-CEC884750EC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141851" y="2268578"/>
            <a:ext cx="297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01EE9BF-5607-4B78-B9B1-D02DE87AF8D6}"/>
              </a:ext>
            </a:extLst>
          </p:cNvPr>
          <p:cNvSpPr/>
          <p:nvPr/>
        </p:nvSpPr>
        <p:spPr>
          <a:xfrm>
            <a:off x="537193" y="3008479"/>
            <a:ext cx="2891807" cy="2084010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159E1E09-C5A9-48AF-8136-DB4CC0A7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398135"/>
              </p:ext>
            </p:extLst>
          </p:nvPr>
        </p:nvGraphicFramePr>
        <p:xfrm>
          <a:off x="3875139" y="3008479"/>
          <a:ext cx="2654935" cy="208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987">
                  <a:extLst>
                    <a:ext uri="{9D8B030D-6E8A-4147-A177-3AD203B41FA5}">
                      <a16:colId xmlns:a16="http://schemas.microsoft.com/office/drawing/2014/main" val="3999700475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3320126811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3118079823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2609180650"/>
                    </a:ext>
                  </a:extLst>
                </a:gridCol>
                <a:gridCol w="530987">
                  <a:extLst>
                    <a:ext uri="{9D8B030D-6E8A-4147-A177-3AD203B41FA5}">
                      <a16:colId xmlns:a16="http://schemas.microsoft.com/office/drawing/2014/main" val="4003781054"/>
                    </a:ext>
                  </a:extLst>
                </a:gridCol>
              </a:tblGrid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18780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348102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05348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27796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89566"/>
                  </a:ext>
                </a:extLst>
              </a:tr>
            </a:tbl>
          </a:graphicData>
        </a:graphic>
      </p:graphicFrame>
      <p:sp>
        <p:nvSpPr>
          <p:cNvPr id="22" name="标题 1">
            <a:extLst>
              <a:ext uri="{FF2B5EF4-FFF2-40B4-BE49-F238E27FC236}">
                <a16:creationId xmlns:a16="http://schemas.microsoft.com/office/drawing/2014/main" id="{FB46D537-0B0C-4876-A734-CC696BA30407}"/>
              </a:ext>
            </a:extLst>
          </p:cNvPr>
          <p:cNvSpPr txBox="1">
            <a:spLocks/>
          </p:cNvSpPr>
          <p:nvPr/>
        </p:nvSpPr>
        <p:spPr>
          <a:xfrm>
            <a:off x="2503668" y="1741688"/>
            <a:ext cx="3093623" cy="4227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u="none" strike="noStrike" kern="1200" cap="none" spc="0" normalizeH="0">
                <a:solidFill>
                  <a:schemeClr val="tx1"/>
                </a:solidFill>
                <a:uFillTx/>
                <a:latin typeface="Verdana" panose="020B060403050404020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CN" sz="1600" b="1" dirty="0">
                <a:solidFill>
                  <a:srgbClr val="ED7D31"/>
                </a:solidFill>
                <a:latin typeface="+mn-lt"/>
              </a:rPr>
              <a:t>Checkpoint Dirty Queue</a:t>
            </a:r>
            <a:endParaRPr lang="zh-CN" altLang="en-US" sz="1600" b="1" dirty="0">
              <a:solidFill>
                <a:srgbClr val="ED7D31"/>
              </a:solidFill>
              <a:latin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9EAA9B-5B0F-4BF3-87A4-40BBDF1DCAFE}"/>
              </a:ext>
            </a:extLst>
          </p:cNvPr>
          <p:cNvSpPr txBox="1"/>
          <p:nvPr/>
        </p:nvSpPr>
        <p:spPr>
          <a:xfrm>
            <a:off x="1385638" y="4541511"/>
            <a:ext cx="1310724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DBWR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5A9854-2C62-4D61-83FF-610CA0A5D841}"/>
              </a:ext>
            </a:extLst>
          </p:cNvPr>
          <p:cNvSpPr/>
          <p:nvPr/>
        </p:nvSpPr>
        <p:spPr>
          <a:xfrm>
            <a:off x="836023" y="3233056"/>
            <a:ext cx="2323102" cy="1274294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圆角矩形 30">
            <a:extLst>
              <a:ext uri="{FF2B5EF4-FFF2-40B4-BE49-F238E27FC236}">
                <a16:creationId xmlns:a16="http://schemas.microsoft.com/office/drawing/2014/main" id="{5350A530-F3CE-4C14-AC8E-CFEE8250D1D7}"/>
              </a:ext>
            </a:extLst>
          </p:cNvPr>
          <p:cNvSpPr/>
          <p:nvPr/>
        </p:nvSpPr>
        <p:spPr>
          <a:xfrm>
            <a:off x="1098438" y="335369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28" name="圆角矩形 30">
            <a:extLst>
              <a:ext uri="{FF2B5EF4-FFF2-40B4-BE49-F238E27FC236}">
                <a16:creationId xmlns:a16="http://schemas.microsoft.com/office/drawing/2014/main" id="{FBD05017-BF7D-46C1-B439-5E61507A38BD}"/>
              </a:ext>
            </a:extLst>
          </p:cNvPr>
          <p:cNvSpPr/>
          <p:nvPr/>
        </p:nvSpPr>
        <p:spPr>
          <a:xfrm>
            <a:off x="1105592" y="3731886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29" name="圆角矩形 30">
            <a:extLst>
              <a:ext uri="{FF2B5EF4-FFF2-40B4-BE49-F238E27FC236}">
                <a16:creationId xmlns:a16="http://schemas.microsoft.com/office/drawing/2014/main" id="{94043AD0-633C-422E-B5AD-CEA13830FE09}"/>
              </a:ext>
            </a:extLst>
          </p:cNvPr>
          <p:cNvSpPr/>
          <p:nvPr/>
        </p:nvSpPr>
        <p:spPr>
          <a:xfrm>
            <a:off x="2116095" y="3350963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30" name="圆角矩形 30">
            <a:extLst>
              <a:ext uri="{FF2B5EF4-FFF2-40B4-BE49-F238E27FC236}">
                <a16:creationId xmlns:a16="http://schemas.microsoft.com/office/drawing/2014/main" id="{4A06AF35-2FC4-4E82-9B87-0A95F024BF16}"/>
              </a:ext>
            </a:extLst>
          </p:cNvPr>
          <p:cNvSpPr/>
          <p:nvPr/>
        </p:nvSpPr>
        <p:spPr>
          <a:xfrm>
            <a:off x="2114606" y="3720870"/>
            <a:ext cx="863544" cy="3047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block</a:t>
            </a:r>
          </a:p>
          <a:p>
            <a:pPr algn="ctr"/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195998-5438-475E-BF95-28A57861DF1B}"/>
              </a:ext>
            </a:extLst>
          </p:cNvPr>
          <p:cNvSpPr txBox="1"/>
          <p:nvPr/>
        </p:nvSpPr>
        <p:spPr>
          <a:xfrm>
            <a:off x="1406111" y="4176930"/>
            <a:ext cx="1501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0AD47"/>
                </a:solidFill>
                <a:latin typeface="+mn-lt"/>
              </a:rPr>
              <a:t>Flush Buffer</a:t>
            </a:r>
            <a:endParaRPr lang="zh-CN" altLang="en-US" sz="1400" dirty="0">
              <a:solidFill>
                <a:srgbClr val="70AD47"/>
              </a:solidFill>
              <a:latin typeface="+mn-lt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ED33ECC-8B25-4B27-9164-A8F57064A1EB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114606" y="2426490"/>
            <a:ext cx="270213" cy="80656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48FA7CD-8D7E-4D0A-A5BD-A84BA36E577D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2114606" y="2426490"/>
            <a:ext cx="1433257" cy="8010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9E461F5-F031-40E4-871C-E8B182A74989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114606" y="2420932"/>
            <a:ext cx="2595473" cy="80656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C486723-8240-4196-A6EC-522EE3B530FF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101343" y="2420932"/>
            <a:ext cx="3770124" cy="8010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6508AF2-80F0-482E-AA91-1E5A19ED381A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2546378" y="4025578"/>
            <a:ext cx="1360969" cy="29369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F4DC9D2-1045-4407-A42E-F09964D1329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537364" y="4036594"/>
            <a:ext cx="3419990" cy="10284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DD70F68-579A-4F5B-B717-5168A879C26A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2979639" y="3503317"/>
            <a:ext cx="2506761" cy="65266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5E5726E-493F-4A7C-A4AC-CF2581EFE5C4}"/>
              </a:ext>
            </a:extLst>
          </p:cNvPr>
          <p:cNvCxnSpPr>
            <a:cxnSpLocks/>
          </p:cNvCxnSpPr>
          <p:nvPr/>
        </p:nvCxnSpPr>
        <p:spPr>
          <a:xfrm>
            <a:off x="1961982" y="3497758"/>
            <a:ext cx="2467189" cy="12301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923027B-BA88-48DE-80F8-777B49D9ACA0}"/>
              </a:ext>
            </a:extLst>
          </p:cNvPr>
          <p:cNvGrpSpPr/>
          <p:nvPr/>
        </p:nvGrpSpPr>
        <p:grpSpPr>
          <a:xfrm>
            <a:off x="7190666" y="1360335"/>
            <a:ext cx="4631219" cy="1511777"/>
            <a:chOff x="6322060" y="1191149"/>
            <a:chExt cx="4055110" cy="1511777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340B985-0AD9-4AB0-9D9D-80B35B939644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10227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所有的脏块会按照在重做日志中的顺序，加入到全局的脏块队列中。当触发检查点机制时，例如剩余重写日志空间不足，就需要从脏块队列上持久化脏块。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8722AD8-0A88-4AC9-9CB0-882B9AE9B2C8}"/>
                </a:ext>
              </a:extLst>
            </p:cNvPr>
            <p:cNvSpPr txBox="1"/>
            <p:nvPr/>
          </p:nvSpPr>
          <p:spPr>
            <a:xfrm>
              <a:off x="6322060" y="1191149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脏块准备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BCE50E6-5B51-4941-9DA9-0A0CA66E97B4}"/>
              </a:ext>
            </a:extLst>
          </p:cNvPr>
          <p:cNvGrpSpPr/>
          <p:nvPr/>
        </p:nvGrpSpPr>
        <p:grpSpPr>
          <a:xfrm>
            <a:off x="7190666" y="3064042"/>
            <a:ext cx="4483101" cy="867432"/>
            <a:chOff x="6322059" y="1189163"/>
            <a:chExt cx="4055111" cy="867432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A6E07CC-E6B4-4ABF-8803-813CAE0241A1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3763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检查点触发的脏块刷盘与缓存区清理行为一致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35AA4D9-5B95-4372-9C51-5D219DE526F1}"/>
                </a:ext>
              </a:extLst>
            </p:cNvPr>
            <p:cNvSpPr txBox="1"/>
            <p:nvPr/>
          </p:nvSpPr>
          <p:spPr>
            <a:xfrm>
              <a:off x="6322059" y="1189163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脏块刷盘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63DED49-925B-40B5-928C-D69BB4875B3E}"/>
              </a:ext>
            </a:extLst>
          </p:cNvPr>
          <p:cNvGrpSpPr/>
          <p:nvPr/>
        </p:nvGrpSpPr>
        <p:grpSpPr>
          <a:xfrm>
            <a:off x="7171706" y="4227225"/>
            <a:ext cx="4483101" cy="1190597"/>
            <a:chOff x="6322059" y="1189163"/>
            <a:chExt cx="4055111" cy="1190597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2C6C9FA-4F23-4527-A389-6233865D9000}"/>
                </a:ext>
              </a:extLst>
            </p:cNvPr>
            <p:cNvSpPr txBox="1"/>
            <p:nvPr/>
          </p:nvSpPr>
          <p:spPr>
            <a:xfrm>
              <a:off x="6322060" y="1680210"/>
              <a:ext cx="4055110" cy="69955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与缓存区清理不同，检查点触发的脏块持久化之后，需要向后推进数据恢复点，从而释放重做日志空间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25E04CF-382E-406A-BD02-DCD42631234D}"/>
                </a:ext>
              </a:extLst>
            </p:cNvPr>
            <p:cNvSpPr txBox="1"/>
            <p:nvPr/>
          </p:nvSpPr>
          <p:spPr>
            <a:xfrm>
              <a:off x="6322059" y="1189163"/>
              <a:ext cx="2830195" cy="4575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更新数据恢复点</a:t>
              </a:r>
            </a:p>
          </p:txBody>
        </p:sp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617ED05-2F26-4CF5-9B8F-0D1D62192844}"/>
              </a:ext>
            </a:extLst>
          </p:cNvPr>
          <p:cNvCxnSpPr/>
          <p:nvPr/>
        </p:nvCxnSpPr>
        <p:spPr>
          <a:xfrm>
            <a:off x="2374030" y="1360335"/>
            <a:ext cx="0" cy="710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C1A3A2A-0191-4BEB-964F-192FF28BA529}"/>
              </a:ext>
            </a:extLst>
          </p:cNvPr>
          <p:cNvCxnSpPr/>
          <p:nvPr/>
        </p:nvCxnSpPr>
        <p:spPr>
          <a:xfrm>
            <a:off x="5871467" y="1373270"/>
            <a:ext cx="0" cy="710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FEA8BFA-6E05-4394-B512-F367C4D092CF}"/>
              </a:ext>
            </a:extLst>
          </p:cNvPr>
          <p:cNvSpPr txBox="1"/>
          <p:nvPr/>
        </p:nvSpPr>
        <p:spPr>
          <a:xfrm>
            <a:off x="2021207" y="1123281"/>
            <a:ext cx="753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70C0"/>
                </a:solidFill>
              </a:rPr>
              <a:t>旧恢复点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7D0564-8597-4A8C-A470-21102028C41F}"/>
              </a:ext>
            </a:extLst>
          </p:cNvPr>
          <p:cNvSpPr txBox="1"/>
          <p:nvPr/>
        </p:nvSpPr>
        <p:spPr>
          <a:xfrm>
            <a:off x="5520771" y="1144358"/>
            <a:ext cx="871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70C0"/>
                </a:solidFill>
              </a:rPr>
              <a:t>新恢复点</a:t>
            </a:r>
          </a:p>
        </p:txBody>
      </p:sp>
    </p:spTree>
    <p:extLst>
      <p:ext uri="{BB962C8B-B14F-4D97-AF65-F5344CB8AC3E}">
        <p14:creationId xmlns:p14="http://schemas.microsoft.com/office/powerpoint/2010/main" val="159523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0210" y="376553"/>
            <a:ext cx="236218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检查点机制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4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EBC7355-8EF6-0589-AA20-346DFB89D13E}"/>
              </a:ext>
            </a:extLst>
          </p:cNvPr>
          <p:cNvSpPr txBox="1"/>
          <p:nvPr/>
        </p:nvSpPr>
        <p:spPr>
          <a:xfrm>
            <a:off x="506187" y="1443841"/>
            <a:ext cx="100602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2"/>
              </a:rPr>
              <a:t>checkpoint</a:t>
            </a:r>
            <a:r>
              <a:rPr lang="zh-CN" altLang="en-US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2"/>
              </a:rPr>
              <a:t>的模式</a:t>
            </a:r>
            <a:endParaRPr lang="zh-CN" altLang="en-US" sz="1200" b="1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Checkpoint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分为增量和全量两种模式：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: 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从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队列上清理一批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blocks, 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并且推进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。刷的数量与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dbwr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的数量以及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flush buffer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有关。增量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不能保证任何推点的结果（有可能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不会推进）。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全量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: 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清理此刻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队列上的全部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blocks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，刷的数量取决于此刻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queue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上的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数量。全量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可以保证将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推进到最后一个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的后面位置，即此执行的时刻之前所有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blocks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都刷盘。</a:t>
            </a:r>
            <a:endParaRPr lang="en-US" altLang="zh-CN" sz="1200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200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3"/>
              </a:rPr>
              <a:t>checkpoint</a:t>
            </a:r>
            <a:r>
              <a:rPr lang="zh-CN" altLang="en-US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3"/>
              </a:rPr>
              <a:t>触发方式</a:t>
            </a:r>
            <a:endParaRPr lang="zh-CN" altLang="en-US" sz="1200" b="1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Checkpoint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可以被主动触发，或者通过条件来触发：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主动触发：通过设置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manager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上的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request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来主动触发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，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线程会检查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request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来触发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。增量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如果发现已经存在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请求，则跳过当前这次请求，请求完成后不会等待执行结束就返回。全量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请求保证会成功，并且请求完成后，会等会全量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完成。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条件触发：可以设置条件来触发增量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，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checkpoint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线程会检查这些条件是否满足。目前已有的条件包括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blocks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的数量以及周期时间，后续会加入 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redo log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的增长。</a:t>
            </a:r>
            <a:endParaRPr lang="en-US" altLang="zh-CN" sz="1200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200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4"/>
              </a:rPr>
              <a:t>checkpoint</a:t>
            </a:r>
            <a:r>
              <a:rPr lang="zh-CN" altLang="en-US" sz="1200" b="1" i="0" u="none" strike="noStrike" dirty="0">
                <a:solidFill>
                  <a:srgbClr val="0052CC"/>
                </a:solidFill>
                <a:effectLst/>
                <a:latin typeface="-apple-system"/>
                <a:hlinkClick r:id="rId4"/>
              </a:rPr>
              <a:t>执行流程</a:t>
            </a:r>
            <a:endParaRPr lang="zh-CN" altLang="en-US" sz="1200" b="1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checkpoint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线程如果发现有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request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或者条件满足，会启动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checkpoint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的流程。增量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的执行流程如下：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唤醒所有的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dbwr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线程，下发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请求：设置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dbwr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manager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request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状态，并向其发送信号量以唤醒。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等待所有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dbwr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执行完一次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：如果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dbwr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manager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request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状态被清理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,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说明当前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结束。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更新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 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：如果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queue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不为空，更新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为第一个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block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truncate 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。如果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queue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为空并且不是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recovery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阶段，更新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rcy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 begin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为这批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block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flush point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全量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的流程和增量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类似，只是在开始时，记录了结束位置（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dirty queue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的最后一个</a:t>
            </a:r>
            <a:r>
              <a:rPr lang="en-US" altLang="zh-CN" sz="1200" b="0" i="0" dirty="0">
                <a:solidFill>
                  <a:srgbClr val="172B4D"/>
                </a:solidFill>
                <a:effectLst/>
                <a:latin typeface="-apple-system"/>
              </a:rPr>
              <a:t>block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），并且多次执行增量</a:t>
            </a:r>
            <a:r>
              <a:rPr lang="en-US" altLang="zh-CN" sz="1200" b="0" i="0" dirty="0" err="1">
                <a:solidFill>
                  <a:srgbClr val="172B4D"/>
                </a:solidFill>
                <a:effectLst/>
                <a:latin typeface="-apple-system"/>
              </a:rPr>
              <a:t>ckpt</a:t>
            </a:r>
            <a:r>
              <a:rPr lang="zh-CN" altLang="en-US" sz="1200" b="0" i="0" dirty="0">
                <a:solidFill>
                  <a:srgbClr val="172B4D"/>
                </a:solidFill>
                <a:effectLst/>
                <a:latin typeface="-apple-system"/>
              </a:rPr>
              <a:t>，直到完成结束位置。</a:t>
            </a:r>
          </a:p>
        </p:txBody>
      </p:sp>
    </p:spTree>
    <p:extLst>
      <p:ext uri="{BB962C8B-B14F-4D97-AF65-F5344CB8AC3E}">
        <p14:creationId xmlns:p14="http://schemas.microsoft.com/office/powerpoint/2010/main" val="3346125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852</Words>
  <Application>Microsoft Office PowerPoint</Application>
  <PresentationFormat>宽屏</PresentationFormat>
  <Paragraphs>86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-apple-system</vt:lpstr>
      <vt:lpstr>微软雅黑</vt:lpstr>
      <vt:lpstr>Arial</vt:lpstr>
      <vt:lpstr>Calibri</vt:lpstr>
      <vt:lpstr>Verdana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guocl@sics.com</cp:lastModifiedBy>
  <cp:revision>209</cp:revision>
  <dcterms:created xsi:type="dcterms:W3CDTF">2021-03-09T02:51:00Z</dcterms:created>
  <dcterms:modified xsi:type="dcterms:W3CDTF">2022-08-15T12:22:04Z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