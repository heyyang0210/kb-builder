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329" r:id="rId3"/>
    <p:sldId id="310" r:id="rId5"/>
    <p:sldId id="313" r:id="rId6"/>
    <p:sldId id="339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  <p:cmAuthor id="2" name="liyq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9446260" y="5505450"/>
            <a:ext cx="1491615" cy="365125"/>
          </a:xfrm>
        </p:spPr>
        <p:txBody>
          <a:bodyPr/>
          <a:lstStyle/>
          <a:p>
            <a:fld id="{D997B5FA-0921-464F-AAE1-844C04324D75}" type="datetime1">
              <a:rPr lang="zh-CN" altLang="en-US" smtClean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8216265" y="5012690"/>
            <a:ext cx="3434715" cy="365125"/>
          </a:xfrm>
        </p:spPr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深圳计算科学研究院CoD研究室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pic>
        <p:nvPicPr>
          <p:cNvPr id="16" name="图片 15" descr="C:\Users\zhangjh\Desktop\OIP.pngOIP"/>
          <p:cNvPicPr>
            <a:picLocks noChangeAspect="1"/>
          </p:cNvPicPr>
          <p:nvPr/>
        </p:nvPicPr>
        <p:blipFill>
          <a:blip r:embed="rId1">
            <a:biLevel thresh="50000"/>
            <a:lum bright="70000" contrast="-70000"/>
          </a:blip>
          <a:srcRect/>
          <a:stretch>
            <a:fillRect/>
          </a:stretch>
        </p:blipFill>
        <p:spPr>
          <a:xfrm>
            <a:off x="949325" y="1578610"/>
            <a:ext cx="4046855" cy="3700780"/>
          </a:xfrm>
          <a:prstGeom prst="teardrop">
            <a:avLst>
              <a:gd name="adj" fmla="val 98508"/>
            </a:avLst>
          </a:prstGeom>
          <a:ln>
            <a:solidFill>
              <a:schemeClr val="bg1"/>
            </a:solidFill>
          </a:ln>
          <a:effectLst>
            <a:softEdge rad="127000"/>
          </a:effectLst>
        </p:spPr>
      </p:pic>
      <p:sp>
        <p:nvSpPr>
          <p:cNvPr id="5" name="文本框 4"/>
          <p:cNvSpPr txBox="1"/>
          <p:nvPr/>
        </p:nvSpPr>
        <p:spPr>
          <a:xfrm>
            <a:off x="5687695" y="2999740"/>
            <a:ext cx="32658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</a:t>
            </a:r>
            <a:endParaRPr lang="en-US" altLang="zh-CN" sz="48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47967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494915" y="2644775"/>
            <a:ext cx="71501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0662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41808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2953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84099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5244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263900" y="3292475"/>
            <a:ext cx="42291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681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9826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0972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2117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3263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73646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4792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5937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370830" y="3292475"/>
            <a:ext cx="41529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8612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9757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0903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2048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31940" y="3292475"/>
            <a:ext cx="42291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05485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26122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47268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8413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89559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107045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318500" y="3292475"/>
            <a:ext cx="21145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528685" y="3292475"/>
            <a:ext cx="42418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21175" y="2644775"/>
            <a:ext cx="69850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383020" y="2644775"/>
            <a:ext cx="75374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197985" y="1202055"/>
            <a:ext cx="1287780" cy="205740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segment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9" name="肘形连接符 48"/>
          <p:cNvCxnSpPr>
            <a:stCxn id="9" idx="2"/>
            <a:endCxn id="44" idx="2"/>
          </p:cNvCxnSpPr>
          <p:nvPr/>
        </p:nvCxnSpPr>
        <p:spPr>
          <a:xfrm rot="5400000" flipV="1">
            <a:off x="5526723" y="277178"/>
            <a:ext cx="3175" cy="6428105"/>
          </a:xfrm>
          <a:prstGeom prst="bentConnector3">
            <a:avLst>
              <a:gd name="adj1" fmla="val 754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5158740" y="3724910"/>
            <a:ext cx="5232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blocks</a:t>
            </a:r>
            <a:endParaRPr lang="en-US" altLang="zh-CN" sz="800"/>
          </a:p>
        </p:txBody>
      </p:sp>
      <p:cxnSp>
        <p:nvCxnSpPr>
          <p:cNvPr id="65" name="直接箭头连接符 64"/>
          <p:cNvCxnSpPr/>
          <p:nvPr/>
        </p:nvCxnSpPr>
        <p:spPr>
          <a:xfrm flipH="1">
            <a:off x="2206625" y="2849880"/>
            <a:ext cx="289560" cy="4406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3142615" y="2858770"/>
            <a:ext cx="144145" cy="43180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>
            <a:off x="3646805" y="2854325"/>
            <a:ext cx="674370" cy="43624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4956175" y="2843530"/>
            <a:ext cx="419100" cy="44704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H="1">
            <a:off x="5807075" y="2843530"/>
            <a:ext cx="575945" cy="44704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7018020" y="2858770"/>
            <a:ext cx="445135" cy="43180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4197350" y="1407795"/>
            <a:ext cx="128841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197350" y="1606550"/>
            <a:ext cx="128841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197350" y="1805305"/>
            <a:ext cx="1288415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116" name="曲线连接符 115"/>
          <p:cNvCxnSpPr>
            <a:stCxn id="113" idx="1"/>
            <a:endCxn id="3" idx="0"/>
          </p:cNvCxnSpPr>
          <p:nvPr/>
        </p:nvCxnSpPr>
        <p:spPr>
          <a:xfrm rot="10800000" flipV="1">
            <a:off x="2852420" y="1507490"/>
            <a:ext cx="1344930" cy="1137285"/>
          </a:xfrm>
          <a:prstGeom prst="curvedConnector2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线连接符 116"/>
          <p:cNvCxnSpPr>
            <a:stCxn id="114" idx="1"/>
            <a:endCxn id="45" idx="1"/>
          </p:cNvCxnSpPr>
          <p:nvPr/>
        </p:nvCxnSpPr>
        <p:spPr>
          <a:xfrm rot="10800000" flipH="1" flipV="1">
            <a:off x="4197350" y="1706245"/>
            <a:ext cx="123825" cy="1038225"/>
          </a:xfrm>
          <a:prstGeom prst="curvedConnector3">
            <a:avLst>
              <a:gd name="adj1" fmla="val -192308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曲线连接符 117"/>
          <p:cNvCxnSpPr>
            <a:stCxn id="115" idx="3"/>
            <a:endCxn id="47" idx="0"/>
          </p:cNvCxnSpPr>
          <p:nvPr/>
        </p:nvCxnSpPr>
        <p:spPr>
          <a:xfrm>
            <a:off x="5485765" y="1905000"/>
            <a:ext cx="1274445" cy="739775"/>
          </a:xfrm>
          <a:prstGeom prst="curvedConnector2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1564640" y="4485640"/>
            <a:ext cx="697865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 dirty="0"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</a:rPr>
              <a:t>Segment是在datafile， extent基础上的一个逻辑结构。Datafile分为多个block，每个block的大小是固定的，根据建库时候的配置，支持8K, 16K, 32K三种规格的block大小。Extent是在物理上连续的多个blocks。</a:t>
            </a:r>
            <a:endParaRPr lang="zh-CN" altLang="en-US" sz="1400" dirty="0"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4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47967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 flipV="1">
            <a:off x="1298575" y="3578860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圆角矩形 63"/>
          <p:cNvSpPr/>
          <p:nvPr/>
        </p:nvSpPr>
        <p:spPr>
          <a:xfrm>
            <a:off x="516255" y="2066290"/>
            <a:ext cx="1648460" cy="21139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1040" y="2461260"/>
            <a:ext cx="1234440" cy="1570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0"/>
              </a:lnSpc>
            </a:pPr>
            <a:r>
              <a:rPr lang="en-US" altLang="zh-CN" sz="1400">
                <a:solidFill>
                  <a:schemeClr val="tx1"/>
                </a:solidFill>
              </a:rPr>
              <a:t>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4850" y="3832860"/>
            <a:ext cx="123063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 N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2945" y="3638550"/>
            <a:ext cx="123063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4850" y="3439795"/>
            <a:ext cx="123063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 1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177540" y="2085340"/>
            <a:ext cx="1656715" cy="21139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377565" y="2461260"/>
            <a:ext cx="1287145" cy="1584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76295" y="2458720"/>
            <a:ext cx="1287780" cy="19875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map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76295" y="2663190"/>
            <a:ext cx="128778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 N + 1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6295" y="3271520"/>
            <a:ext cx="1287780" cy="205740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 M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65" name="曲线连接符 64"/>
          <p:cNvCxnSpPr>
            <a:stCxn id="4" idx="3"/>
            <a:endCxn id="17" idx="1"/>
          </p:cNvCxnSpPr>
          <p:nvPr/>
        </p:nvCxnSpPr>
        <p:spPr>
          <a:xfrm flipV="1">
            <a:off x="1935480" y="2558415"/>
            <a:ext cx="1440815" cy="688340"/>
          </a:xfrm>
          <a:prstGeom prst="curvedConnector3">
            <a:avLst>
              <a:gd name="adj1" fmla="val 50022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04850" y="2143760"/>
            <a:ext cx="1316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Segment Block</a:t>
            </a:r>
            <a:endParaRPr lang="en-US" altLang="zh-CN" sz="1000"/>
          </a:p>
        </p:txBody>
      </p:sp>
      <p:sp>
        <p:nvSpPr>
          <p:cNvPr id="25" name="矩形 24"/>
          <p:cNvSpPr/>
          <p:nvPr/>
        </p:nvSpPr>
        <p:spPr>
          <a:xfrm>
            <a:off x="701040" y="2461260"/>
            <a:ext cx="1230630" cy="19875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segmtn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47085" y="2148840"/>
            <a:ext cx="1316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Extent Map Block</a:t>
            </a:r>
            <a:endParaRPr lang="en-US" altLang="zh-CN" sz="1000"/>
          </a:p>
        </p:txBody>
      </p:sp>
      <p:sp>
        <p:nvSpPr>
          <p:cNvPr id="27" name="矩形 26"/>
          <p:cNvSpPr/>
          <p:nvPr/>
        </p:nvSpPr>
        <p:spPr>
          <a:xfrm>
            <a:off x="704850" y="3241040"/>
            <a:ext cx="1230630" cy="19875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map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76295" y="3068320"/>
            <a:ext cx="128778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6295" y="2865120"/>
            <a:ext cx="1287780" cy="19875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extent N + 2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695315" y="1036955"/>
            <a:ext cx="5080000" cy="39674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Segment则是将多个extent组织起来的逻辑结构，通过extent map记录segment内的每一个extent。多个extent map构成extent map list。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通过segment extent map实现全segment扫描，可以精确预读每一个extent。利用extent map也可以很方便实现并行扫描的切分，将整个segment的划分成多个range，可以精确到extent内的block。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segment内的所有block上都记录有data object id和extent change number，扫描开始前记录下data oid和ecn，来实现segment的一致性读。扫描过程中不加表锁，可以并发对表进行drop, truncate, shrink等DDL，通过对比dataoid和ecn可以及时发现被释放的extent有没有被复用，保证返回给用户一致的数据集。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47967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7466330" y="2174240"/>
            <a:ext cx="4258945" cy="29337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segment的高水位线，这个水位线是formated block和unformated block的分界线，扫描的开始的时候，除了记录dataoid，ecn，还要记录下当时的高水位线，作为扫描范围的边界，在扫描过程中新扩展出来的extent是没有必要扫描的，因为从一致性角度来看，这些页面扫描了，数据也是不可见的。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插入数据发现高水位线以下没有可用页面的时候，会推水位线，如果水位线以上没有未format的页面，那就先扩展segment，申请新的extent之后再format block，推高水位线。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115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6261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7406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8552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9697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08430" y="2512695"/>
            <a:ext cx="422910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3134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04279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25425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6570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67716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88099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09245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0390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515360" y="2512695"/>
            <a:ext cx="415290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930650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142105" y="2512695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353560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565015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76470" y="2512695"/>
            <a:ext cx="422910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199380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05755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617210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828665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040120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251575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463030" y="2512695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673215" y="2512695"/>
            <a:ext cx="424180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356235" y="1648460"/>
            <a:ext cx="0" cy="8642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4248150" y="1648460"/>
            <a:ext cx="0" cy="8642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3995420" y="1347470"/>
            <a:ext cx="6292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hwm</a:t>
            </a:r>
            <a:endParaRPr lang="en-US" altLang="zh-CN" sz="800"/>
          </a:p>
        </p:txBody>
      </p:sp>
      <p:cxnSp>
        <p:nvCxnSpPr>
          <p:cNvPr id="70" name="肘形连接符 69"/>
          <p:cNvCxnSpPr/>
          <p:nvPr/>
        </p:nvCxnSpPr>
        <p:spPr>
          <a:xfrm rot="5400000" flipV="1">
            <a:off x="3599498" y="-359092"/>
            <a:ext cx="3175" cy="6428105"/>
          </a:xfrm>
          <a:prstGeom prst="bentConnector3">
            <a:avLst>
              <a:gd name="adj1" fmla="val 754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3123565" y="3088640"/>
            <a:ext cx="10325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segment extents</a:t>
            </a:r>
            <a:endParaRPr lang="en-US" altLang="zh-CN" sz="800"/>
          </a:p>
        </p:txBody>
      </p:sp>
      <p:sp>
        <p:nvSpPr>
          <p:cNvPr id="77" name="矩形 76"/>
          <p:cNvSpPr/>
          <p:nvPr/>
        </p:nvSpPr>
        <p:spPr>
          <a:xfrm>
            <a:off x="35877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7023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8168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9314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20459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416050" y="4528820"/>
            <a:ext cx="422910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3896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05041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26187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7332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68478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88861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10007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31152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522980" y="4528820"/>
            <a:ext cx="415290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93827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14972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36118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572635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784090" y="4528820"/>
            <a:ext cx="422910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207000" y="4528820"/>
            <a:ext cx="211455" cy="34099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413375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624830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36285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047740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6259195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470650" y="4528820"/>
            <a:ext cx="211455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6680835" y="4528820"/>
            <a:ext cx="424180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>
            <a:off x="5291455" y="3664585"/>
            <a:ext cx="0" cy="8642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363855" y="3664585"/>
            <a:ext cx="0" cy="8642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4255770" y="3664585"/>
            <a:ext cx="0" cy="8642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3995420" y="3376930"/>
            <a:ext cx="6292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old hwm</a:t>
            </a:r>
            <a:endParaRPr lang="en-US" altLang="zh-CN" sz="800"/>
          </a:p>
        </p:txBody>
      </p:sp>
      <p:sp>
        <p:nvSpPr>
          <p:cNvPr id="109" name="文本框 108"/>
          <p:cNvSpPr txBox="1"/>
          <p:nvPr/>
        </p:nvSpPr>
        <p:spPr>
          <a:xfrm>
            <a:off x="5003800" y="3376930"/>
            <a:ext cx="6292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new hwm</a:t>
            </a:r>
            <a:endParaRPr lang="en-US" altLang="zh-CN" sz="800"/>
          </a:p>
        </p:txBody>
      </p:sp>
      <p:cxnSp>
        <p:nvCxnSpPr>
          <p:cNvPr id="110" name="肘形连接符 109"/>
          <p:cNvCxnSpPr/>
          <p:nvPr/>
        </p:nvCxnSpPr>
        <p:spPr>
          <a:xfrm rot="5400000" flipV="1">
            <a:off x="3607118" y="1657033"/>
            <a:ext cx="3175" cy="6428105"/>
          </a:xfrm>
          <a:prstGeom prst="bentConnector3">
            <a:avLst>
              <a:gd name="adj1" fmla="val 754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5308600" y="4528820"/>
            <a:ext cx="109220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247515" y="2512695"/>
            <a:ext cx="109220" cy="340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206750" y="5193030"/>
            <a:ext cx="128714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segment extents</a:t>
            </a:r>
            <a:endParaRPr lang="en-US" altLang="zh-CN" sz="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COMMONDATA" val="eyJoZGlkIjoiYWE3MmUwN2UxNjFlZDM4YTg3MWZhYTZkMTdmMGY5M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WPS 演示</Application>
  <PresentationFormat>宽屏</PresentationFormat>
  <Paragraphs>107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Verdana</vt:lpstr>
      <vt:lpstr>微软雅黑</vt:lpstr>
      <vt:lpstr>Calibri</vt:lpstr>
      <vt:lpstr>Wingdings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liyq</cp:lastModifiedBy>
  <cp:revision>314</cp:revision>
  <dcterms:created xsi:type="dcterms:W3CDTF">2021-03-09T02:51:00Z</dcterms:created>
  <dcterms:modified xsi:type="dcterms:W3CDTF">2022-08-15T10:02:01Z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94BF5AF301684ADFA590CEEFB8F7150A</vt:lpwstr>
  </property>
</Properties>
</file>