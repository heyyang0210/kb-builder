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455" r:id="rId4"/>
    <p:sldId id="451" r:id="rId6"/>
    <p:sldId id="452" r:id="rId7"/>
    <p:sldId id="453" r:id="rId8"/>
    <p:sldId id="454" r:id="rId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ccv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10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7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292093-E24C-4094-B086-943A4261C7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BCC57-16E9-42A5-A8FA-C71006D403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53990" y="2762885"/>
            <a:ext cx="6268085" cy="72453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400" b="0" spc="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直角三角形 7"/>
          <p:cNvSpPr/>
          <p:nvPr userDrawn="1"/>
        </p:nvSpPr>
        <p:spPr>
          <a:xfrm rot="16200000">
            <a:off x="10759440" y="541464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五边形 8"/>
          <p:cNvSpPr/>
          <p:nvPr userDrawn="1"/>
        </p:nvSpPr>
        <p:spPr>
          <a:xfrm rot="10800000">
            <a:off x="5810250" y="-2540"/>
            <a:ext cx="63747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5400000">
            <a:off x="2496185" y="-2504440"/>
            <a:ext cx="1924050" cy="692785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  <a:endParaRPr lang="zh-CN" altLang="en-US"/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53990" y="2762885"/>
            <a:ext cx="6268085" cy="72453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400" b="0" spc="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直角三角形 7"/>
          <p:cNvSpPr/>
          <p:nvPr userDrawn="1"/>
        </p:nvSpPr>
        <p:spPr>
          <a:xfrm rot="16200000">
            <a:off x="10759440" y="541464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五边形 8"/>
          <p:cNvSpPr/>
          <p:nvPr userDrawn="1"/>
        </p:nvSpPr>
        <p:spPr>
          <a:xfrm rot="10800000">
            <a:off x="5810250" y="-2540"/>
            <a:ext cx="63747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5400000">
            <a:off x="2496185" y="-2504440"/>
            <a:ext cx="1924050" cy="692785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  <a:endParaRPr lang="zh-CN" altLang="en-US"/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6907E-0E21-4B28-948C-AEC2750BF8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BD259-6BAD-4450-9A94-37BA92C50D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9446260" y="5505450"/>
            <a:ext cx="1491615" cy="365125"/>
          </a:xfrm>
        </p:spPr>
        <p:txBody>
          <a:bodyPr/>
          <a:lstStyle/>
          <a:p>
            <a:fld id="{D997B5FA-0921-464F-AAE1-844C04324D75}" type="datetime1">
              <a:rPr lang="zh-CN" altLang="en-US" smtClean="0">
                <a:solidFill>
                  <a:schemeClr val="bg2">
                    <a:lumMod val="50000"/>
                  </a:schemeClr>
                </a:solidFill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solidFill>
                <a:schemeClr val="bg2">
                  <a:lumMod val="50000"/>
                </a:schemeClr>
              </a:solidFill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8216265" y="5012690"/>
            <a:ext cx="3434715" cy="365125"/>
          </a:xfrm>
        </p:spPr>
        <p:txBody>
          <a:bodyPr/>
          <a:lstStyle/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深圳计算科学研究院CoD研究室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pic>
        <p:nvPicPr>
          <p:cNvPr id="16" name="图片 15" descr="C:\Users\zhangjh\Desktop\OIP.pngOIP"/>
          <p:cNvPicPr>
            <a:picLocks noChangeAspect="1"/>
          </p:cNvPicPr>
          <p:nvPr/>
        </p:nvPicPr>
        <p:blipFill>
          <a:blip r:embed="rId1">
            <a:biLevel thresh="50000"/>
            <a:lum bright="70000" contrast="-70000"/>
          </a:blip>
          <a:srcRect/>
          <a:stretch>
            <a:fillRect/>
          </a:stretch>
        </p:blipFill>
        <p:spPr>
          <a:xfrm>
            <a:off x="949325" y="1578610"/>
            <a:ext cx="4046855" cy="3700780"/>
          </a:xfrm>
          <a:prstGeom prst="teardrop">
            <a:avLst>
              <a:gd name="adj" fmla="val 98508"/>
            </a:avLst>
          </a:prstGeom>
          <a:ln>
            <a:solidFill>
              <a:schemeClr val="bg1"/>
            </a:solidFill>
          </a:ln>
          <a:effectLst>
            <a:softEdge rad="127000"/>
          </a:effectLst>
        </p:spPr>
      </p:pic>
      <p:sp>
        <p:nvSpPr>
          <p:cNvPr id="5" name="文本框 4"/>
          <p:cNvSpPr txBox="1"/>
          <p:nvPr/>
        </p:nvSpPr>
        <p:spPr>
          <a:xfrm>
            <a:off x="5687695" y="2999740"/>
            <a:ext cx="51181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8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LSC</a:t>
            </a:r>
            <a:endParaRPr lang="en-US" altLang="zh-CN" sz="48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4846955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LSC-</a:t>
            </a:r>
            <a:r>
              <a:rPr lang="zh-CN" altLang="en-US" sz="2800" b="1" kern="5000" spc="600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大规模存储列存表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379843" y="4660534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50475" y="1498884"/>
            <a:ext cx="36080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045024" y="1025273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96992" y="2362159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075" y="1739900"/>
            <a:ext cx="6962140" cy="434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1188720" y="870585"/>
            <a:ext cx="9569450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1600" b="0">
                <a:latin typeface="Calibri" panose="020F0502020204030204" charset="0"/>
                <a:ea typeface="宋体" panose="02010600030101010101" pitchFamily="2" charset="-122"/>
              </a:rPr>
              <a:t>组成部分：</a:t>
            </a:r>
            <a:endParaRPr lang="zh-CN" altLang="en-US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/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MCOL</a:t>
            </a: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（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Multable Columnar</a:t>
            </a: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，可变的列式存储）：热数据存储，</a:t>
            </a:r>
            <a:r>
              <a:rPr lang="zh-CN" sz="16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实时更新删除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/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SCOL</a:t>
            </a: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（</a:t>
            </a:r>
            <a:r>
              <a:rPr lang="en-US" sz="1600" b="0">
                <a:latin typeface="Calibri" panose="020F0502020204030204" charset="0"/>
                <a:ea typeface="宋体" panose="02010600030101010101" pitchFamily="2" charset="-122"/>
              </a:rPr>
              <a:t>Stable Columnar</a:t>
            </a:r>
            <a:r>
              <a:rPr lang="zh-CN" sz="1600" b="0">
                <a:latin typeface="Calibri" panose="020F0502020204030204" charset="0"/>
                <a:ea typeface="宋体" panose="02010600030101010101" pitchFamily="2" charset="-122"/>
              </a:rPr>
              <a:t>， 稳态的列式存储）：</a:t>
            </a:r>
            <a:r>
              <a:rPr lang="zh-CN" sz="16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冷数据存储，</a:t>
            </a:r>
            <a:r>
              <a:rPr lang="zh-CN" sz="16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支持数据压缩和编码，具有较好的归档能力</a:t>
            </a:r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/>
            <a:endParaRPr lang="zh-CN" sz="1600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/>
            <a:endParaRPr lang="zh-CN" altLang="en-US" sz="1600" b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4846955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LSC-</a:t>
            </a:r>
            <a:r>
              <a:rPr lang="zh-CN" altLang="en-US" sz="2800" b="1" kern="5000" spc="600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大规模存储列存表</a:t>
            </a:r>
            <a:endParaRPr lang="zh-CN" altLang="en-US" sz="2800" b="1" kern="5000" spc="600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379843" y="4660534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50475" y="1498884"/>
            <a:ext cx="36080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045024" y="1025273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96992" y="2362159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pic>
        <p:nvPicPr>
          <p:cNvPr id="3" name="图片 2" descr="列存In-place Updat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2175" y="407035"/>
            <a:ext cx="5263515" cy="52635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21360" y="1873250"/>
            <a:ext cx="46863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endParaRPr lang="zh-CN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b="0">
              <a:latin typeface="Calibri" panose="020F0502020204030204" charset="0"/>
              <a:ea typeface="宋体" panose="02010600030101010101" pitchFamily="2" charset="-122"/>
            </a:endParaRPr>
          </a:p>
          <a:p>
            <a:pPr algn="l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470535" y="1203960"/>
            <a:ext cx="6938010" cy="2953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MCOL</a:t>
            </a:r>
            <a:r>
              <a:rPr lang="zh-CN" sz="24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（</a:t>
            </a:r>
            <a:r>
              <a:rPr lang="en-US" sz="24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Multable Columnar</a:t>
            </a:r>
            <a:r>
              <a:rPr lang="zh-CN" sz="24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，可变的列式存储）</a:t>
            </a:r>
            <a:endParaRPr lang="zh-CN" sz="240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800100" lvl="1" indent="-342900" algn="l">
              <a:buClrTx/>
              <a:buSzTx/>
              <a:buFont typeface="Wingdings" panose="05000000000000000000" charset="0"/>
              <a:buChar char="Ø"/>
            </a:pPr>
            <a:r>
              <a:rPr lang="zh-CN" sz="24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热数据存储格式</a:t>
            </a:r>
            <a:endParaRPr lang="zh-CN" sz="240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800100" lvl="1" indent="-342900" algn="l">
              <a:buClrTx/>
              <a:buSzTx/>
              <a:buFont typeface="Wingdings" panose="05000000000000000000" charset="0"/>
              <a:buChar char="Ø"/>
            </a:pPr>
            <a:r>
              <a:rPr lang="zh-CN" sz="24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In-place Update</a:t>
            </a:r>
            <a:endParaRPr lang="zh-CN" sz="240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800100" lvl="1" indent="-342900" algn="l">
              <a:buClrTx/>
              <a:buSzTx/>
              <a:buFont typeface="Wingdings" panose="05000000000000000000" charset="0"/>
              <a:buChar char="Ø"/>
            </a:pPr>
            <a:r>
              <a:rPr lang="zh-CN" sz="24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实时更新删除</a:t>
            </a:r>
            <a:endParaRPr lang="zh-CN" sz="240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endParaRPr lang="zh-CN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742950" lvl="1" indent="-285750" algn="l">
              <a:buClrTx/>
              <a:buSzTx/>
              <a:buFont typeface="Arial" panose="020B0604020202020204" pitchFamily="34" charset="0"/>
              <a:buChar char="•"/>
            </a:pPr>
            <a:endParaRPr lang="zh-CN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l">
              <a:buFont typeface="Arial" panose="020B0604020202020204" pitchFamily="34" charset="0"/>
              <a:buNone/>
            </a:pPr>
            <a:endParaRPr lang="zh-CN" altLang="en-US"/>
          </a:p>
          <a:p>
            <a:pPr indent="0" algn="l">
              <a:buFont typeface="Arial" panose="020B0604020202020204" pitchFamily="34" charset="0"/>
              <a:buNone/>
            </a:pPr>
            <a:endParaRPr lang="zh-CN" altLang="en-US"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endParaRPr lang="zh-CN" altLang="en-US"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4846955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LSC-</a:t>
            </a:r>
            <a:r>
              <a:rPr lang="zh-CN" altLang="en-US" sz="2800" b="1" kern="5000" spc="600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大规模存储列存表</a:t>
            </a:r>
            <a:endParaRPr lang="zh-CN" altLang="en-US" sz="2800" b="1" kern="5000" spc="600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379843" y="4660534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50475" y="1498884"/>
            <a:ext cx="36080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045024" y="1025273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96992" y="2362159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1360" y="1873250"/>
            <a:ext cx="46863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endParaRPr lang="zh-CN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b="0">
              <a:latin typeface="Calibri" panose="020F0502020204030204" charset="0"/>
              <a:ea typeface="宋体" panose="02010600030101010101" pitchFamily="2" charset="-122"/>
            </a:endParaRPr>
          </a:p>
          <a:p>
            <a:pPr algn="l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470535" y="1203960"/>
            <a:ext cx="6557645" cy="4061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>
              <a:buClrTx/>
              <a:buSzTx/>
              <a:buFont typeface="Arial" panose="020B0604020202020204" pitchFamily="34" charset="0"/>
              <a:buNone/>
            </a:pPr>
            <a:r>
              <a:rPr lang="en-US" sz="24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SCOL</a:t>
            </a:r>
            <a:r>
              <a:rPr lang="zh-CN" sz="24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（</a:t>
            </a:r>
            <a:r>
              <a:rPr lang="en-US" sz="24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Stable Columnar</a:t>
            </a:r>
            <a:r>
              <a:rPr lang="zh-CN" sz="24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，稳态的列式存储）</a:t>
            </a:r>
            <a:endParaRPr lang="zh-CN" sz="240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800100" lvl="1" indent="-342900" algn="l">
              <a:buClrTx/>
              <a:buSzTx/>
              <a:buFont typeface="Wingdings" panose="05000000000000000000" charset="0"/>
              <a:buChar char="Ø"/>
            </a:pPr>
            <a:r>
              <a:rPr lang="zh-CN" sz="24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冷数据存储格式</a:t>
            </a:r>
            <a:endParaRPr lang="zh-CN" sz="240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800100" lvl="1" indent="-342900" algn="l">
              <a:buClrTx/>
              <a:buSzTx/>
              <a:buFont typeface="Wingdings" panose="05000000000000000000" charset="0"/>
              <a:buChar char="Ø"/>
            </a:pPr>
            <a:r>
              <a:rPr lang="zh-CN" sz="24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数据压缩和编码</a:t>
            </a:r>
            <a:endParaRPr lang="zh-CN" sz="240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800100" lvl="1" indent="-342900" algn="l">
              <a:buClrTx/>
              <a:buSzTx/>
              <a:buFont typeface="Wingdings" panose="05000000000000000000" charset="0"/>
              <a:buChar char="Ø"/>
            </a:pPr>
            <a:r>
              <a:rPr lang="zh-CN" sz="24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归档能力</a:t>
            </a:r>
            <a:endParaRPr lang="zh-CN" sz="240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800100" lvl="1" indent="-342900" algn="l">
              <a:buClrTx/>
              <a:buSzTx/>
              <a:buFont typeface="Wingdings" panose="05000000000000000000" charset="0"/>
              <a:buChar char="Ø"/>
            </a:pPr>
            <a:r>
              <a:rPr lang="zh-CN" sz="24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条件下推</a:t>
            </a:r>
            <a:endParaRPr lang="zh-CN" sz="240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800100" lvl="1" indent="-342900" algn="l">
              <a:buClrTx/>
              <a:buSzTx/>
              <a:buFont typeface="Wingdings" panose="05000000000000000000" charset="0"/>
              <a:buChar char="Ø"/>
            </a:pPr>
            <a:r>
              <a:rPr lang="zh-CN" sz="24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文件预读</a:t>
            </a:r>
            <a:endParaRPr lang="zh-CN" sz="240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800100" lvl="1" indent="-342900" algn="l">
              <a:buClrTx/>
              <a:buSzTx/>
              <a:buFont typeface="Wingdings" panose="05000000000000000000" charset="0"/>
              <a:buChar char="Ø"/>
            </a:pPr>
            <a:r>
              <a:rPr lang="zh-CN" sz="240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数据缓存</a:t>
            </a:r>
            <a:endParaRPr lang="zh-CN" sz="240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742950" lvl="1" indent="-285750" algn="l">
              <a:buClrTx/>
              <a:buSzTx/>
              <a:buFont typeface="Arial" panose="020B0604020202020204" pitchFamily="34" charset="0"/>
              <a:buChar char="•"/>
            </a:pPr>
            <a:endParaRPr lang="zh-CN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742950" lvl="1" indent="-285750" algn="l">
              <a:buClrTx/>
              <a:buSzTx/>
              <a:buFont typeface="Arial" panose="020B0604020202020204" pitchFamily="34" charset="0"/>
              <a:buChar char="•"/>
            </a:pPr>
            <a:endParaRPr lang="zh-CN" b="0">
              <a:latin typeface="Calibri" panose="020F0502020204030204" charset="0"/>
              <a:ea typeface="宋体" panose="02010600030101010101" pitchFamily="2" charset="-122"/>
            </a:endParaRPr>
          </a:p>
          <a:p>
            <a:pPr indent="0" algn="l">
              <a:buFont typeface="Arial" panose="020B0604020202020204" pitchFamily="34" charset="0"/>
              <a:buNone/>
            </a:pPr>
            <a:endParaRPr lang="zh-CN" altLang="en-US"/>
          </a:p>
          <a:p>
            <a:pPr indent="0" algn="l">
              <a:buFont typeface="Arial" panose="020B0604020202020204" pitchFamily="34" charset="0"/>
              <a:buNone/>
            </a:pPr>
            <a:endParaRPr lang="zh-CN" altLang="en-US"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endParaRPr lang="zh-CN" altLang="en-US"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" name="图片 1" descr="云存储、SAS、 SSD、内存混合存储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7015" y="915670"/>
            <a:ext cx="4638675" cy="4638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4846955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LSC-</a:t>
            </a:r>
            <a:r>
              <a:rPr lang="zh-CN" altLang="en-US" sz="2800" b="1" kern="5000" spc="600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大规模存储列存表</a:t>
            </a:r>
            <a:endParaRPr lang="zh-CN" altLang="en-US" sz="2800" b="1" kern="5000" spc="600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379843" y="4660534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50475" y="1498884"/>
            <a:ext cx="36080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045024" y="1025273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96992" y="2362159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2335" y="1410970"/>
            <a:ext cx="609600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zh-CN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流入形式：</a:t>
            </a:r>
            <a:endParaRPr lang="zh-CN">
              <a:latin typeface="Calibri" panose="020F0502020204030204" charset="0"/>
              <a:ea typeface="宋体" panose="02010600030101010101" pitchFamily="2" charset="-122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热转冷</a:t>
            </a:r>
            <a:endParaRPr lang="zh-CN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742950" lvl="1" indent="-285750" algn="l">
              <a:buClrTx/>
              <a:buSzTx/>
              <a:buFont typeface="Wingdings" panose="05000000000000000000" charset="0"/>
              <a:buChar char="Ø"/>
            </a:pPr>
            <a:r>
              <a:rPr lang="zh-CN">
                <a:latin typeface="Calibri" panose="020F0502020204030204" charset="0"/>
                <a:ea typeface="宋体" panose="02010600030101010101" pitchFamily="2" charset="-122"/>
                <a:sym typeface="+mn-ea"/>
              </a:rPr>
              <a:t>较好修改灵活性</a:t>
            </a:r>
            <a:endParaRPr lang="zh-CN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742950" lvl="1" indent="-285750" algn="l">
              <a:buClrTx/>
              <a:buSzTx/>
              <a:buFont typeface="Wingdings" panose="05000000000000000000" charset="0"/>
              <a:buChar char="Ø"/>
            </a:pPr>
            <a:r>
              <a:rPr lang="zh-CN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增量产生的数据</a:t>
            </a:r>
            <a:endParaRPr lang="zh-CN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742950" lvl="1" indent="-285750" algn="l">
              <a:buClrTx/>
              <a:buSzTx/>
              <a:buFont typeface="Wingdings" panose="05000000000000000000" charset="0"/>
              <a:buChar char="Ø"/>
            </a:pPr>
            <a:r>
              <a:rPr lang="zh-CN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导入速度一般</a:t>
            </a:r>
            <a:endParaRPr lang="zh-CN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742950" lvl="1" indent="-285750" algn="l">
              <a:buClrTx/>
              <a:buSzTx/>
              <a:buFont typeface="Wingdings" panose="05000000000000000000" charset="0"/>
              <a:buChar char="Ø"/>
            </a:pPr>
            <a:r>
              <a:rPr lang="zh-CN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有转换开销</a:t>
            </a:r>
            <a:endParaRPr lang="zh-CN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742950" lvl="1" indent="-285750" algn="l">
              <a:buClrTx/>
              <a:buSzTx/>
              <a:buFont typeface="Arial" panose="020B0604020202020204" pitchFamily="34" charset="0"/>
              <a:buChar char="•"/>
            </a:pPr>
            <a:endParaRPr lang="zh-CN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直接生成冷数据</a:t>
            </a:r>
            <a:endParaRPr lang="zh-CN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742950" lvl="1" indent="-285750" algn="l">
              <a:buClrTx/>
              <a:buSzTx/>
              <a:buFont typeface="Wingdings" panose="05000000000000000000" charset="0"/>
              <a:buChar char="Ø"/>
            </a:pPr>
            <a:r>
              <a:rPr lang="zh-CN">
                <a:latin typeface="Calibri" panose="020F0502020204030204" charset="0"/>
                <a:ea typeface="宋体" panose="02010600030101010101" pitchFamily="2" charset="-122"/>
                <a:sym typeface="+mn-ea"/>
              </a:rPr>
              <a:t>较好导入性能</a:t>
            </a:r>
            <a:endParaRPr lang="zh-CN" b="0">
              <a:latin typeface="Calibri" panose="020F0502020204030204" charset="0"/>
              <a:ea typeface="宋体" panose="02010600030101010101" pitchFamily="2" charset="-122"/>
            </a:endParaRPr>
          </a:p>
          <a:p>
            <a:pPr marL="742950" lvl="1" indent="-285750" algn="l">
              <a:buClrTx/>
              <a:buSzTx/>
              <a:buFont typeface="Wingdings" panose="05000000000000000000" charset="0"/>
              <a:buChar char="Ø"/>
            </a:pPr>
            <a:r>
              <a:rPr lang="zh-CN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没有转换开销</a:t>
            </a:r>
            <a:endParaRPr lang="zh-CN" b="0">
              <a:latin typeface="Calibri" panose="020F0502020204030204" charset="0"/>
              <a:ea typeface="宋体" panose="02010600030101010101" pitchFamily="2" charset="-122"/>
            </a:endParaRPr>
          </a:p>
          <a:p>
            <a:pPr marL="742950" lvl="1" indent="-285750" algn="l">
              <a:buClrTx/>
              <a:buSzTx/>
              <a:buFont typeface="Wingdings" panose="05000000000000000000" charset="0"/>
              <a:buChar char="Ø"/>
            </a:pPr>
            <a:r>
              <a:rPr lang="zh-CN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导入后修改代价大</a:t>
            </a:r>
            <a:endParaRPr lang="zh-CN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marL="742950" lvl="1" indent="-285750" algn="l">
              <a:buClrTx/>
              <a:buSzTx/>
              <a:buFont typeface="Wingdings" panose="05000000000000000000" charset="0"/>
              <a:buChar char="Ø"/>
            </a:pPr>
            <a:r>
              <a:rPr lang="zh-CN">
                <a:latin typeface="Calibri" panose="020F0502020204030204" charset="0"/>
                <a:ea typeface="宋体" panose="02010600030101010101" pitchFamily="2" charset="-122"/>
                <a:sym typeface="+mn-ea"/>
              </a:rPr>
              <a:t>首次建库场景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5940" y="1025525"/>
            <a:ext cx="5619750" cy="40386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COMMONDATA" val="eyJoZGlkIjoiOGI4NjI5OTBmMDM1ODFlMDkzNDFlZTFiMWNhZWU5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WPS 演示</Application>
  <PresentationFormat>宽屏</PresentationFormat>
  <Paragraphs>96</Paragraphs>
  <Slides>5</Slides>
  <Notes>72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宋体</vt:lpstr>
      <vt:lpstr>Wingdings</vt:lpstr>
      <vt:lpstr>Verdana</vt:lpstr>
      <vt:lpstr>微软雅黑</vt:lpstr>
      <vt:lpstr>Calibri</vt:lpstr>
      <vt:lpstr>Wingdings</vt:lpstr>
      <vt:lpstr>等线</vt:lpstr>
      <vt:lpstr>等线 Light</vt:lpstr>
      <vt:lpstr>Arial Unicode MS</vt:lpstr>
      <vt:lpstr>Times New Roman</vt:lpstr>
      <vt:lpstr>-apple-system</vt:lpstr>
      <vt:lpstr>Segoe Print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guocl@sics.com</dc:creator>
  <cp:lastModifiedBy>蓝色瞬间</cp:lastModifiedBy>
  <cp:revision>15</cp:revision>
  <dcterms:created xsi:type="dcterms:W3CDTF">2022-08-15T12:22:00Z</dcterms:created>
  <dcterms:modified xsi:type="dcterms:W3CDTF">2022-08-15T13:21:40Z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D360EDEEC09645778D767953EC2E4B46</vt:lpwstr>
  </property>
  <property fmtid="{D5CDD505-2E9C-101B-9397-08002B2CF9AE}" pid="3" name="KSOProductBuildVer">
    <vt:lpwstr>2052-11.1.0.12302</vt:lpwstr>
  </property>
</Properties>
</file>