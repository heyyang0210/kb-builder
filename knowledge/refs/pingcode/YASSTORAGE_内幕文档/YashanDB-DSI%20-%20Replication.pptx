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7"/>
  </p:handoutMasterIdLst>
  <p:sldIdLst>
    <p:sldId id="439" r:id="rId3"/>
    <p:sldId id="440" r:id="rId5"/>
    <p:sldId id="442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ccv" initials="z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9BBDB"/>
    <a:srgbClr val="F0F0F0"/>
    <a:srgbClr val="767171"/>
    <a:srgbClr val="F08F4F"/>
    <a:srgbClr val="9DC3E6"/>
    <a:srgbClr val="F8CBAD"/>
    <a:srgbClr val="F79F37"/>
    <a:srgbClr val="2E689D"/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6788" autoAdjust="0"/>
  </p:normalViewPr>
  <p:slideViewPr>
    <p:cSldViewPr snapToGrid="0">
      <p:cViewPr varScale="1">
        <p:scale>
          <a:sx n="125" d="100"/>
          <a:sy n="125" d="100"/>
        </p:scale>
        <p:origin x="528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handoutMaster" Target="handoutMasters/handoutMaster1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commentAuthors" Target="commentAuthors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Verdana" panose="020B0604030504040204" charset="0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cs typeface="Verdana" panose="020B0604030504040204" charset="0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Verdana" panose="020B0604030504040204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cs typeface="Verdana" panose="020B0604030504040204" charset="0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Verdana" panose="020B060403050404020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Verdana" panose="020B060403050404020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Verdana" panose="020B060403050404020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Verdana" panose="020B060403050404020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Verdana" panose="020B060403050404020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US" altLang="zh-CN"/>
              <a:t>log cache: </a:t>
            </a:r>
            <a:r>
              <a:rPr lang="zh-CN" altLang="en-US" dirty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  <a:t>缓存区是循环</a:t>
            </a:r>
            <a:r>
              <a:rPr lang="en-US" altLang="zh-CN" dirty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  <a:t>buffer</a:t>
            </a:r>
            <a:r>
              <a:rPr lang="zh-CN" altLang="en-US" dirty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  <a:t>，填满时会淘汰旧</a:t>
            </a:r>
            <a:r>
              <a:rPr lang="en-US" altLang="zh-CN" dirty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  <a:t>redo</a:t>
            </a:r>
            <a:r>
              <a:rPr lang="zh-CN" altLang="en-US" dirty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  <a:t>来释放空间</a:t>
            </a:r>
            <a:endParaRPr lang="zh-CN" altLang="en-US" dirty="0">
              <a:latin typeface="Verdana" panose="020B0604030504040204" charset="0"/>
              <a:ea typeface="微软雅黑" panose="020B0503020204020204" charset="-122"/>
              <a:sym typeface="Verdana" panose="020B0604030504040204" charset="0"/>
            </a:endParaRPr>
          </a:p>
          <a:p>
            <a:r>
              <a:rPr lang="en-US" altLang="zh-CN" dirty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  <a:t>sync</a:t>
            </a:r>
            <a:r>
              <a:rPr lang="zh-CN" altLang="en-US" dirty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  <a:t>发送：如果发送速度慢，导致</a:t>
            </a:r>
            <a:r>
              <a:rPr lang="en-US" altLang="zh-CN" dirty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  <a:t>Log Cache</a:t>
            </a:r>
            <a:r>
              <a:rPr lang="zh-CN" altLang="en-US" dirty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  <a:t>淘汰了需要的</a:t>
            </a:r>
            <a:r>
              <a:rPr lang="en-US" altLang="zh-CN" dirty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  <a:t>redo</a:t>
            </a:r>
            <a:r>
              <a:rPr lang="zh-CN" altLang="en-US" dirty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  <a:t>，会临时变为</a:t>
            </a:r>
            <a:r>
              <a:rPr lang="en-US" altLang="zh-CN" dirty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  <a:t>ASYNC</a:t>
            </a:r>
            <a:r>
              <a:rPr lang="zh-CN" altLang="en-US" dirty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  <a:t>模式，待发送同步后恢复为</a:t>
            </a:r>
            <a:r>
              <a:rPr lang="en-US" altLang="zh-CN" dirty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  <a:t>SYNC</a:t>
            </a:r>
            <a:r>
              <a:rPr lang="zh-CN" altLang="en-US" dirty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  <a:t>模式</a:t>
            </a:r>
            <a:endParaRPr lang="zh-CN" altLang="en-US" dirty="0">
              <a:latin typeface="Verdana" panose="020B0604030504040204" charset="0"/>
              <a:ea typeface="微软雅黑" panose="020B0503020204020204" charset="-122"/>
              <a:sym typeface="Verdana" panose="020B0604030504040204" charset="0"/>
            </a:endParaRPr>
          </a:p>
          <a:p>
            <a:r>
              <a:rPr lang="en-US" altLang="zh-CN" dirty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  <a:t>stbyRcy</a:t>
            </a:r>
            <a:r>
              <a:rPr lang="zh-CN" altLang="zh-CN" dirty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  <a:t>：备机回放优先从</a:t>
            </a:r>
            <a:r>
              <a:rPr lang="en-US" altLang="zh-CN" dirty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  <a:t>logCache</a:t>
            </a:r>
            <a:r>
              <a:rPr lang="zh-CN" altLang="en-US" dirty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  <a:t>读日志，如果找不到，会从</a:t>
            </a:r>
            <a:r>
              <a:rPr lang="en-US" altLang="zh-CN" dirty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  <a:t>redo</a:t>
            </a:r>
            <a:r>
              <a:rPr lang="zh-CN" altLang="en-US" dirty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  <a:t>读取，再找不到，会从归档日志读取。都找不到的话，会启动</a:t>
            </a:r>
            <a:r>
              <a:rPr lang="en-US" altLang="zh-CN" dirty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  <a:t>FAL</a:t>
            </a:r>
            <a:r>
              <a:rPr lang="zh-CN" altLang="en-US" dirty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  <a:t>从主机获取归档</a:t>
            </a:r>
            <a:endParaRPr lang="zh-CN" altLang="en-US" dirty="0">
              <a:latin typeface="Verdana" panose="020B0604030504040204" charset="0"/>
              <a:ea typeface="微软雅黑" panose="020B0503020204020204" charset="-122"/>
              <a:sym typeface="Verdana" panose="020B060403050404020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US" altLang="zh-CN" dirty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  <a:t>switchover: </a:t>
            </a:r>
            <a:r>
              <a:rPr lang="zh-CN" altLang="zh-CN" dirty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  <a:t>一定要主机先变成备机，然后再将备机升主，否则，可能出现双主的情况（异常场景下，只允许无主机，不能出现双主机）</a:t>
            </a:r>
            <a:endParaRPr lang="zh-CN" altLang="zh-CN" dirty="0">
              <a:latin typeface="Verdana" panose="020B0604030504040204" charset="0"/>
              <a:ea typeface="微软雅黑" panose="020B0503020204020204" charset="-122"/>
              <a:sym typeface="Verdana" panose="020B0604030504040204" charset="0"/>
            </a:endParaRPr>
          </a:p>
          <a:p>
            <a:r>
              <a:rPr lang="en-US" altLang="zh-CN" dirty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  <a:t>failover</a:t>
            </a:r>
            <a:r>
              <a:rPr lang="zh-CN" altLang="en-US" dirty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  <a:t>：</a:t>
            </a:r>
            <a:r>
              <a:rPr lang="en-US" altLang="zh-CN" dirty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  <a:t>failover</a:t>
            </a:r>
            <a:r>
              <a:rPr lang="zh-CN" altLang="en-US" dirty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  <a:t>后，原主机要手动转换为备机，一般情况下，如果原主机的某些</a:t>
            </a:r>
            <a:r>
              <a:rPr lang="en-US" altLang="zh-CN" dirty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  <a:t>redo</a:t>
            </a:r>
            <a:r>
              <a:rPr lang="zh-CN" altLang="en-US" dirty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  <a:t>没传到原备机，会导致新备机无法同步新主机，需要重新</a:t>
            </a:r>
            <a:r>
              <a:rPr lang="en-US" altLang="zh-CN" dirty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  <a:t>build</a:t>
            </a:r>
            <a:endParaRPr lang="en-US" altLang="zh-CN" dirty="0">
              <a:latin typeface="Verdana" panose="020B0604030504040204" charset="0"/>
              <a:ea typeface="微软雅黑" panose="020B0503020204020204" charset="-122"/>
              <a:sym typeface="Verdana" panose="020B060403050404020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cs typeface="Verdana" panose="020B0604030504040204" charset="0"/>
              </a:defRPr>
            </a:lvl1pPr>
          </a:lstStyle>
          <a:p>
            <a:fld id="{D997B5FA-0921-464F-AAE1-844C04324D75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cs typeface="Verdana" panose="020B0604030504040204" charset="0"/>
              </a:defRPr>
            </a:lvl1pPr>
          </a:lstStyle>
          <a:p>
            <a:r>
              <a:rPr lang="zh-CN" altLang="en-US"/>
              <a:t>深圳计算科学研究院CoD研究室</a:t>
            </a:r>
            <a:endParaRPr lang="zh-CN" altLang="en-US"/>
          </a:p>
        </p:txBody>
      </p:sp>
      <p:sp>
        <p:nvSpPr>
          <p:cNvPr id="7" name="五边形 6"/>
          <p:cNvSpPr/>
          <p:nvPr userDrawn="1"/>
        </p:nvSpPr>
        <p:spPr>
          <a:xfrm>
            <a:off x="3810" y="6245225"/>
            <a:ext cx="11061065" cy="612140"/>
          </a:xfrm>
          <a:prstGeom prst="homePlate">
            <a:avLst>
              <a:gd name="adj" fmla="val 181016"/>
            </a:avLst>
          </a:prstGeom>
          <a:gradFill>
            <a:gsLst>
              <a:gs pos="84000">
                <a:srgbClr val="1D5487">
                  <a:alpha val="100000"/>
                </a:srgbClr>
              </a:gs>
              <a:gs pos="15000">
                <a:schemeClr val="accent1"/>
              </a:gs>
              <a:gs pos="100000">
                <a:srgbClr val="034373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8" name="直角三角形 7"/>
          <p:cNvSpPr/>
          <p:nvPr userDrawn="1"/>
        </p:nvSpPr>
        <p:spPr>
          <a:xfrm rot="16200000">
            <a:off x="10752455" y="5425440"/>
            <a:ext cx="662940" cy="2201545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9" name="五边形 8"/>
          <p:cNvSpPr/>
          <p:nvPr userDrawn="1"/>
        </p:nvSpPr>
        <p:spPr>
          <a:xfrm rot="10800000">
            <a:off x="5810250" y="-2540"/>
            <a:ext cx="6374765" cy="612140"/>
          </a:xfrm>
          <a:prstGeom prst="homePlate">
            <a:avLst>
              <a:gd name="adj" fmla="val 181016"/>
            </a:avLst>
          </a:prstGeom>
          <a:gradFill>
            <a:gsLst>
              <a:gs pos="84000">
                <a:srgbClr val="1D5487">
                  <a:alpha val="100000"/>
                </a:srgbClr>
              </a:gs>
              <a:gs pos="15000">
                <a:schemeClr val="accent1"/>
              </a:gs>
              <a:gs pos="100000">
                <a:srgbClr val="034373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0" name="直角三角形 9"/>
          <p:cNvSpPr/>
          <p:nvPr userDrawn="1"/>
        </p:nvSpPr>
        <p:spPr>
          <a:xfrm rot="5400000">
            <a:off x="2496185" y="-2504440"/>
            <a:ext cx="1924050" cy="6927850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11460480" y="6433820"/>
            <a:ext cx="6127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cs typeface="Verdana" panose="020B0604030504040204" charset="0"/>
              </a:defRPr>
            </a:lvl1pPr>
          </a:lstStyle>
          <a:p>
            <a:fld id="{D997B5FA-0921-464F-AAE1-844C04324D75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cs typeface="Verdana" panose="020B0604030504040204" charset="0"/>
              </a:defRPr>
            </a:lvl1pPr>
          </a:lstStyle>
          <a:p>
            <a:r>
              <a:rPr lang="zh-CN" altLang="en-US"/>
              <a:t>深圳计算科学研究院CoD研究室</a:t>
            </a:r>
            <a:endParaRPr lang="zh-CN" altLang="en-US"/>
          </a:p>
        </p:txBody>
      </p:sp>
      <p:sp>
        <p:nvSpPr>
          <p:cNvPr id="14" name="五边形 13"/>
          <p:cNvSpPr/>
          <p:nvPr userDrawn="1"/>
        </p:nvSpPr>
        <p:spPr>
          <a:xfrm>
            <a:off x="3810" y="6245225"/>
            <a:ext cx="11061065" cy="612140"/>
          </a:xfrm>
          <a:prstGeom prst="homePlate">
            <a:avLst>
              <a:gd name="adj" fmla="val 181016"/>
            </a:avLst>
          </a:prstGeom>
          <a:gradFill>
            <a:gsLst>
              <a:gs pos="84000">
                <a:srgbClr val="1D5487">
                  <a:alpha val="100000"/>
                </a:srgbClr>
              </a:gs>
              <a:gs pos="15000">
                <a:schemeClr val="accent1"/>
              </a:gs>
              <a:gs pos="100000">
                <a:srgbClr val="034373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6" name="直角三角形 15"/>
          <p:cNvSpPr/>
          <p:nvPr userDrawn="1"/>
        </p:nvSpPr>
        <p:spPr>
          <a:xfrm rot="16200000">
            <a:off x="10752455" y="5425440"/>
            <a:ext cx="662940" cy="2201545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11460480" y="6433820"/>
            <a:ext cx="6127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 userDrawn="1"/>
        </p:nvSpPr>
        <p:spPr>
          <a:xfrm>
            <a:off x="10261963" y="316572"/>
            <a:ext cx="140208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48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微软雅黑" panose="020B0503020204020204" charset="-122"/>
                <a:ea typeface="微软雅黑" panose="020B0503020204020204" charset="-122"/>
                <a:cs typeface="Verdana" panose="020B0604030504040204" charset="0"/>
              </a:rPr>
              <a:t>目录</a:t>
            </a:r>
            <a:endParaRPr lang="zh-CN" altLang="en-US" sz="4800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微软雅黑" panose="020B0503020204020204" charset="-122"/>
              <a:ea typeface="微软雅黑" panose="020B0503020204020204" charset="-122"/>
              <a:cs typeface="Verdana" panose="020B0604030504040204" charset="0"/>
            </a:endParaRPr>
          </a:p>
        </p:txBody>
      </p:sp>
      <p:sp>
        <p:nvSpPr>
          <p:cNvPr id="8" name="文本框 7"/>
          <p:cNvSpPr txBox="1"/>
          <p:nvPr userDrawn="1"/>
        </p:nvSpPr>
        <p:spPr>
          <a:xfrm>
            <a:off x="9281052" y="984642"/>
            <a:ext cx="2357591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chemeClr val="tx1"/>
                </a:solidFill>
                <a:latin typeface="+mj-lt"/>
                <a:ea typeface="微软雅黑" panose="020B0503020204020204" charset="-122"/>
                <a:cs typeface="+mj-lt"/>
              </a:rPr>
              <a:t>contents</a:t>
            </a:r>
            <a:endParaRPr lang="en-US" altLang="zh-CN" sz="1600" dirty="0">
              <a:solidFill>
                <a:schemeClr val="tx1"/>
              </a:solidFill>
              <a:latin typeface="+mj-lt"/>
              <a:ea typeface="微软雅黑" panose="020B0503020204020204" charset="-122"/>
              <a:cs typeface="+mj-lt"/>
            </a:endParaRP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11054443" y="1393046"/>
            <a:ext cx="5207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直角三角形 8"/>
          <p:cNvSpPr/>
          <p:nvPr userDrawn="1"/>
        </p:nvSpPr>
        <p:spPr>
          <a:xfrm rot="5400000">
            <a:off x="790575" y="-790575"/>
            <a:ext cx="1389380" cy="2962910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6" name="直角三角形 15"/>
          <p:cNvSpPr/>
          <p:nvPr userDrawn="1"/>
        </p:nvSpPr>
        <p:spPr>
          <a:xfrm rot="16200000">
            <a:off x="10752455" y="5425440"/>
            <a:ext cx="662940" cy="2201545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>
          <a:xfrm>
            <a:off x="11460480" y="6433820"/>
            <a:ext cx="6127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五边形 13"/>
          <p:cNvSpPr/>
          <p:nvPr userDrawn="1"/>
        </p:nvSpPr>
        <p:spPr>
          <a:xfrm>
            <a:off x="3810" y="6245225"/>
            <a:ext cx="11061065" cy="612140"/>
          </a:xfrm>
          <a:prstGeom prst="homePlate">
            <a:avLst>
              <a:gd name="adj" fmla="val 181016"/>
            </a:avLst>
          </a:prstGeom>
          <a:gradFill>
            <a:gsLst>
              <a:gs pos="84000">
                <a:srgbClr val="1D5487">
                  <a:alpha val="100000"/>
                </a:srgbClr>
              </a:gs>
              <a:gs pos="15000">
                <a:schemeClr val="accent1"/>
              </a:gs>
              <a:gs pos="100000">
                <a:srgbClr val="034373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6" name="直角三角形 15"/>
          <p:cNvSpPr/>
          <p:nvPr userDrawn="1"/>
        </p:nvSpPr>
        <p:spPr>
          <a:xfrm rot="16200000">
            <a:off x="10752455" y="5425440"/>
            <a:ext cx="662940" cy="2201545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8" name="五边形 7"/>
          <p:cNvSpPr/>
          <p:nvPr userDrawn="1"/>
        </p:nvSpPr>
        <p:spPr>
          <a:xfrm rot="10800000">
            <a:off x="1123950" y="635"/>
            <a:ext cx="11061065" cy="612140"/>
          </a:xfrm>
          <a:prstGeom prst="homePlate">
            <a:avLst>
              <a:gd name="adj" fmla="val 181016"/>
            </a:avLst>
          </a:prstGeom>
          <a:gradFill>
            <a:gsLst>
              <a:gs pos="84000">
                <a:srgbClr val="1D5487">
                  <a:alpha val="100000"/>
                </a:srgbClr>
              </a:gs>
              <a:gs pos="15000">
                <a:schemeClr val="accent1"/>
              </a:gs>
              <a:gs pos="100000">
                <a:srgbClr val="034373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9" name="直角三角形 8"/>
          <p:cNvSpPr/>
          <p:nvPr userDrawn="1"/>
        </p:nvSpPr>
        <p:spPr>
          <a:xfrm rot="5400000">
            <a:off x="772795" y="-768985"/>
            <a:ext cx="662940" cy="2201545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11460480" y="6433820"/>
            <a:ext cx="6127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  <p:sp>
        <p:nvSpPr>
          <p:cNvPr id="3" name="文本框 2"/>
          <p:cNvSpPr txBox="1"/>
          <p:nvPr userDrawn="1"/>
        </p:nvSpPr>
        <p:spPr>
          <a:xfrm>
            <a:off x="-1861185" y="4011930"/>
            <a:ext cx="233616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/>
              <a:t>正文内容：</a:t>
            </a:r>
            <a:r>
              <a:rPr lang="en-US" altLang="zh-CN" sz="1200"/>
              <a:t>12-18px</a:t>
            </a:r>
            <a:endParaRPr lang="en-US" altLang="zh-CN" sz="1200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481484" y="6489700"/>
            <a:ext cx="2796117" cy="455613"/>
          </a:xfrm>
        </p:spPr>
        <p:txBody>
          <a:bodyPr/>
          <a:lstStyle/>
          <a:p>
            <a:pPr lvl="0" eaLnBrk="0" hangingPunct="0">
              <a:lnSpc>
                <a:spcPct val="85000"/>
              </a:lnSpc>
            </a:pPr>
            <a:r>
              <a:rPr lang="de-DE" altLang="zh-CN" dirty="0"/>
              <a:t>Page </a:t>
            </a:r>
            <a:fld id="{9A0DB2DC-4C9A-4742-B13C-FB6460FD3503}" type="slidenum">
              <a:rPr lang="de-DE" altLang="zh-CN" sz="1200" dirty="0">
                <a:solidFill>
                  <a:schemeClr val="tx1"/>
                </a:solidFill>
                <a:latin typeface="FrutigerNext LT Bold" pitchFamily="1" charset="0"/>
                <a:ea typeface="MS PGothic" panose="020B0600070205080204" pitchFamily="34" charset="-128"/>
              </a:rPr>
            </a:fld>
            <a:endParaRPr lang="de-DE" altLang="zh-CN" sz="1200" dirty="0">
              <a:solidFill>
                <a:schemeClr val="tx1"/>
              </a:solidFill>
              <a:latin typeface="FrutigerNext LT Bold" pitchFamily="1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460480" y="6433820"/>
            <a:ext cx="6127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+mj-ea"/>
                <a:ea typeface="+mj-ea"/>
                <a:cs typeface="Verdana" panose="020B0604030504040204" charset="0"/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-1118235" y="580390"/>
            <a:ext cx="274955" cy="3200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-1128395" y="220980"/>
            <a:ext cx="285115" cy="3200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-1772920" y="580390"/>
            <a:ext cx="285115" cy="320040"/>
          </a:xfrm>
          <a:prstGeom prst="rect">
            <a:avLst/>
          </a:prstGeom>
          <a:solidFill>
            <a:srgbClr val="09BB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-1443990" y="220980"/>
            <a:ext cx="285115" cy="32004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805180" y="220980"/>
            <a:ext cx="285115" cy="32004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1437005" y="580390"/>
            <a:ext cx="285115" cy="32004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800100" y="580390"/>
            <a:ext cx="285115" cy="32004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1437005" y="1299210"/>
            <a:ext cx="285115" cy="32004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-1118235" y="1299210"/>
            <a:ext cx="285115" cy="32004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-1772920" y="1299210"/>
            <a:ext cx="285115" cy="320040"/>
          </a:xfrm>
          <a:prstGeom prst="rect">
            <a:avLst/>
          </a:prstGeom>
          <a:solidFill>
            <a:srgbClr val="F08F4F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4" name="矩形 13"/>
          <p:cNvSpPr/>
          <p:nvPr userDrawn="1"/>
        </p:nvSpPr>
        <p:spPr>
          <a:xfrm>
            <a:off x="-1760220" y="220980"/>
            <a:ext cx="285115" cy="3200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-1822450" y="-55880"/>
            <a:ext cx="12382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chemeClr val="accent1">
                    <a:lumMod val="75000"/>
                  </a:schemeClr>
                </a:solidFill>
                <a:cs typeface="Verdana" panose="020B0604030504040204" charset="0"/>
              </a:rPr>
              <a:t>配色方案：</a:t>
            </a:r>
            <a:endParaRPr lang="zh-CN" altLang="en-US" sz="1200" b="1" dirty="0">
              <a:solidFill>
                <a:schemeClr val="accent1">
                  <a:lumMod val="75000"/>
                </a:schemeClr>
              </a:solidFill>
              <a:cs typeface="Verdana" panose="020B0604030504040204" charset="0"/>
            </a:endParaRPr>
          </a:p>
        </p:txBody>
      </p:sp>
      <p:sp>
        <p:nvSpPr>
          <p:cNvPr id="16" name="文本框 15"/>
          <p:cNvSpPr txBox="1"/>
          <p:nvPr userDrawn="1"/>
        </p:nvSpPr>
        <p:spPr>
          <a:xfrm>
            <a:off x="-1822450" y="1718945"/>
            <a:ext cx="113982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rgbClr val="2E689D"/>
                </a:solidFill>
                <a:cs typeface="Verdana" panose="020B0604030504040204" charset="0"/>
              </a:rPr>
              <a:t>字体：</a:t>
            </a:r>
            <a:endParaRPr lang="zh-CN" altLang="en-US" sz="1200" b="1" dirty="0">
              <a:solidFill>
                <a:srgbClr val="2E689D"/>
              </a:solidFill>
              <a:cs typeface="Verdana" panose="020B0604030504040204" charset="0"/>
            </a:endParaRPr>
          </a:p>
        </p:txBody>
      </p:sp>
      <p:sp>
        <p:nvSpPr>
          <p:cNvPr id="17" name="文本框 16"/>
          <p:cNvSpPr txBox="1"/>
          <p:nvPr userDrawn="1"/>
        </p:nvSpPr>
        <p:spPr>
          <a:xfrm>
            <a:off x="-1838325" y="1994535"/>
            <a:ext cx="15887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cs typeface="Verdana" panose="020B0604030504040204" charset="0"/>
              </a:rPr>
              <a:t>中文：微软雅黑</a:t>
            </a:r>
            <a:endParaRPr lang="zh-CN" altLang="en-US" sz="1200" dirty="0">
              <a:cs typeface="Verdana" panose="020B060403050404020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cs typeface="Verdana" panose="020B0604030504040204" charset="0"/>
              </a:rPr>
              <a:t>西文：</a:t>
            </a:r>
            <a:r>
              <a:rPr lang="en-US" altLang="zh-CN" sz="1200" dirty="0">
                <a:cs typeface="Verdana" panose="020B0604030504040204" charset="0"/>
              </a:rPr>
              <a:t>Verdana</a:t>
            </a:r>
            <a:endParaRPr lang="en-US" altLang="zh-CN" sz="1200" dirty="0">
              <a:cs typeface="Verdana" panose="020B0604030504040204" charset="0"/>
            </a:endParaRPr>
          </a:p>
        </p:txBody>
      </p:sp>
      <p:sp>
        <p:nvSpPr>
          <p:cNvPr id="18" name="文本框 17"/>
          <p:cNvSpPr txBox="1"/>
          <p:nvPr userDrawn="1"/>
        </p:nvSpPr>
        <p:spPr>
          <a:xfrm>
            <a:off x="-1822450" y="2747645"/>
            <a:ext cx="113982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rgbClr val="2E689D"/>
                </a:solidFill>
                <a:cs typeface="Verdana" panose="020B0604030504040204" charset="0"/>
              </a:rPr>
              <a:t>字号：</a:t>
            </a:r>
            <a:endParaRPr lang="zh-CN" altLang="en-US" sz="1200" b="1" dirty="0">
              <a:solidFill>
                <a:srgbClr val="2E689D"/>
              </a:solidFill>
              <a:cs typeface="Verdana" panose="020B0604030504040204" charset="0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-1838325" y="3023235"/>
            <a:ext cx="18459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cs typeface="Verdana" panose="020B0604030504040204" charset="0"/>
              </a:rPr>
              <a:t>封面页标题：</a:t>
            </a:r>
            <a:r>
              <a:rPr lang="en-US" altLang="zh-CN" sz="1200" dirty="0">
                <a:cs typeface="Verdana" panose="020B0604030504040204" charset="0"/>
              </a:rPr>
              <a:t>40-48px</a:t>
            </a:r>
            <a:endParaRPr lang="en-US" altLang="zh-CN" sz="1200" dirty="0">
              <a:cs typeface="Verdana" panose="020B060403050404020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cs typeface="Verdana" panose="020B0604030504040204" charset="0"/>
              </a:rPr>
              <a:t>正文标题：</a:t>
            </a:r>
            <a:r>
              <a:rPr lang="en-US" altLang="zh-CN" sz="1200" dirty="0">
                <a:cs typeface="Verdana" panose="020B0604030504040204" charset="0"/>
              </a:rPr>
              <a:t>16-24px</a:t>
            </a:r>
            <a:endParaRPr lang="en-US" altLang="zh-CN" sz="1200" dirty="0">
              <a:cs typeface="Verdana" panose="020B060403050404020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cs typeface="Verdana" panose="020B0604030504040204" charset="0"/>
              </a:rPr>
              <a:t>正文内容：</a:t>
            </a:r>
            <a:r>
              <a:rPr lang="en-US" altLang="zh-CN" sz="1200" dirty="0">
                <a:cs typeface="Verdana" panose="020B0604030504040204" charset="0"/>
              </a:rPr>
              <a:t>12-18px</a:t>
            </a:r>
            <a:endParaRPr lang="en-US" altLang="zh-CN" sz="1200" dirty="0">
              <a:cs typeface="Verdana" panose="020B0604030504040204" charset="0"/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-1724025" y="977900"/>
            <a:ext cx="113982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 b="1">
                <a:solidFill>
                  <a:schemeClr val="accent1">
                    <a:lumMod val="75000"/>
                  </a:schemeClr>
                </a:solidFill>
                <a:cs typeface="Verdana" panose="020B0604030504040204" charset="0"/>
              </a:defRPr>
            </a:lvl1pPr>
          </a:lstStyle>
          <a:p>
            <a:pPr lvl="0"/>
            <a:r>
              <a:rPr lang="zh-CN" altLang="en-US" dirty="0"/>
              <a:t>强调色：</a:t>
            </a:r>
            <a:endParaRPr lang="zh-CN" altLang="en-US" dirty="0"/>
          </a:p>
        </p:txBody>
      </p:sp>
      <p:sp>
        <p:nvSpPr>
          <p:cNvPr id="21" name="文本框 20"/>
          <p:cNvSpPr txBox="1"/>
          <p:nvPr userDrawn="1"/>
        </p:nvSpPr>
        <p:spPr>
          <a:xfrm>
            <a:off x="-1772920" y="4000500"/>
            <a:ext cx="113982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rgbClr val="2E689D"/>
                </a:solidFill>
                <a:cs typeface="Verdana" panose="020B0604030504040204" charset="0"/>
              </a:rPr>
              <a:t>形状：</a:t>
            </a:r>
            <a:endParaRPr lang="zh-CN" altLang="en-US" sz="1200" b="1" dirty="0">
              <a:solidFill>
                <a:srgbClr val="2E689D"/>
              </a:solidFill>
              <a:cs typeface="Verdana" panose="020B0604030504040204" charset="0"/>
            </a:endParaRPr>
          </a:p>
        </p:txBody>
      </p:sp>
      <p:sp>
        <p:nvSpPr>
          <p:cNvPr id="23" name="矩形 22"/>
          <p:cNvSpPr/>
          <p:nvPr userDrawn="1"/>
        </p:nvSpPr>
        <p:spPr>
          <a:xfrm>
            <a:off x="-1600835" y="4276090"/>
            <a:ext cx="918210" cy="24066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形状一</a:t>
            </a:r>
            <a:endParaRPr lang="zh-CN" altLang="en-US" sz="1200"/>
          </a:p>
        </p:txBody>
      </p:sp>
      <p:sp>
        <p:nvSpPr>
          <p:cNvPr id="24" name="矩形 23"/>
          <p:cNvSpPr/>
          <p:nvPr userDrawn="1"/>
        </p:nvSpPr>
        <p:spPr>
          <a:xfrm>
            <a:off x="-1611630" y="4586605"/>
            <a:ext cx="932815" cy="21145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形状二</a:t>
            </a:r>
            <a:endParaRPr lang="zh-CN" altLang="en-US" sz="1200"/>
          </a:p>
        </p:txBody>
      </p:sp>
      <p:sp>
        <p:nvSpPr>
          <p:cNvPr id="25" name="矩形 24"/>
          <p:cNvSpPr/>
          <p:nvPr userDrawn="1"/>
        </p:nvSpPr>
        <p:spPr>
          <a:xfrm>
            <a:off x="-1601470" y="4886325"/>
            <a:ext cx="912495" cy="230505"/>
          </a:xfrm>
          <a:prstGeom prst="rect">
            <a:avLst/>
          </a:prstGeom>
          <a:solidFill>
            <a:srgbClr val="F08F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形状三</a:t>
            </a:r>
            <a:endParaRPr lang="zh-CN" altLang="en-US" sz="1200"/>
          </a:p>
        </p:txBody>
      </p:sp>
      <p:sp>
        <p:nvSpPr>
          <p:cNvPr id="26" name="矩形 25"/>
          <p:cNvSpPr/>
          <p:nvPr userDrawn="1"/>
        </p:nvSpPr>
        <p:spPr>
          <a:xfrm>
            <a:off x="-1611630" y="5187950"/>
            <a:ext cx="923290" cy="234315"/>
          </a:xfrm>
          <a:prstGeom prst="rect">
            <a:avLst/>
          </a:prstGeom>
          <a:solidFill>
            <a:srgbClr val="7671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形状四</a:t>
            </a:r>
            <a:endParaRPr lang="zh-CN" altLang="en-US" sz="1200"/>
          </a:p>
        </p:txBody>
      </p:sp>
      <p:sp>
        <p:nvSpPr>
          <p:cNvPr id="27" name="矩形 26"/>
          <p:cNvSpPr/>
          <p:nvPr userDrawn="1"/>
        </p:nvSpPr>
        <p:spPr>
          <a:xfrm>
            <a:off x="-1616075" y="5491480"/>
            <a:ext cx="926465" cy="2336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形状五</a:t>
            </a:r>
            <a:endParaRPr lang="zh-CN" altLang="en-US" sz="1200"/>
          </a:p>
        </p:txBody>
      </p:sp>
      <p:sp>
        <p:nvSpPr>
          <p:cNvPr id="28" name="矩形 27"/>
          <p:cNvSpPr/>
          <p:nvPr userDrawn="1"/>
        </p:nvSpPr>
        <p:spPr>
          <a:xfrm>
            <a:off x="-1616075" y="5827395"/>
            <a:ext cx="927735" cy="259715"/>
          </a:xfrm>
          <a:prstGeom prst="rect">
            <a:avLst/>
          </a:prstGeom>
          <a:solidFill>
            <a:srgbClr val="F0F0F0"/>
          </a:solidFill>
          <a:ln>
            <a:solidFill>
              <a:srgbClr val="7671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</a:rPr>
              <a:t>形状六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29" name="矩形 28"/>
          <p:cNvSpPr/>
          <p:nvPr userDrawn="1"/>
        </p:nvSpPr>
        <p:spPr>
          <a:xfrm>
            <a:off x="-1615440" y="6177280"/>
            <a:ext cx="935990" cy="257175"/>
          </a:xfrm>
          <a:prstGeom prst="rect">
            <a:avLst/>
          </a:prstGeom>
          <a:solidFill>
            <a:srgbClr val="09BB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rgbClr val="F0F0F0"/>
                </a:solidFill>
              </a:rPr>
              <a:t>形状七</a:t>
            </a:r>
            <a:endParaRPr lang="zh-CN" altLang="en-US" sz="1200">
              <a:solidFill>
                <a:srgbClr val="F0F0F0"/>
              </a:solidFill>
            </a:endParaRPr>
          </a:p>
        </p:txBody>
      </p:sp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2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u="none" strike="noStrike" kern="1200" cap="none" spc="0" normalizeH="0">
          <a:solidFill>
            <a:schemeClr val="tx1"/>
          </a:solidFill>
          <a:uFillTx/>
          <a:latin typeface="Verdana" panose="020B060403050404020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file:///C:\Users\mazh\AppData\Local\Temp\wps\INetCache\7161893c177e1c57bbb3006a816c2f84" TargetMode="Externa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</a:fld>
            <a:endParaRPr lang="zh-CN" altLang="en-US">
              <a:latin typeface="Verdana" panose="020B0604030504040204" charset="0"/>
              <a:ea typeface="微软雅黑" panose="020B0503020204020204" charset="-122"/>
              <a:sym typeface="Verdana" panose="020B060403050404020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7242810" y="525145"/>
            <a:ext cx="4898390" cy="1378585"/>
            <a:chOff x="6247130" y="1179830"/>
            <a:chExt cx="4898390" cy="1378585"/>
          </a:xfrm>
        </p:grpSpPr>
        <p:sp>
          <p:nvSpPr>
            <p:cNvPr id="9" name="文本框 8"/>
            <p:cNvSpPr txBox="1"/>
            <p:nvPr/>
          </p:nvSpPr>
          <p:spPr>
            <a:xfrm>
              <a:off x="6247130" y="1179830"/>
              <a:ext cx="489839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altLang="zh-CN"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6322060" y="1497965"/>
              <a:ext cx="4476115" cy="106045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altLang="zh-CN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redo</a:t>
              </a: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缓存区，</a:t>
              </a:r>
              <a:r>
                <a:rPr lang="en-US" altLang="zh-CN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redo</a:t>
              </a: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先写到缓存区，然后写入</a:t>
              </a:r>
              <a:r>
                <a:rPr lang="en-US" altLang="zh-CN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redo</a:t>
              </a: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文件。</a:t>
              </a:r>
              <a:r>
                <a:rPr lang="en-US" altLang="zh-CN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SYNC</a:t>
              </a: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模式的</a:t>
              </a:r>
              <a:r>
                <a:rPr lang="en-US" altLang="zh-CN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logSend</a:t>
              </a: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和备机回放会优先从缓存区读</a:t>
              </a:r>
              <a:r>
                <a:rPr lang="en-US" altLang="zh-CN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redo</a:t>
              </a: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，以提高读性能。缓存区满时会淘汰旧的</a:t>
              </a:r>
              <a:r>
                <a:rPr lang="en-US" altLang="zh-CN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redo</a:t>
              </a:r>
              <a:endParaRPr lang="en-US" altLang="zh-CN" sz="1400" dirty="0">
                <a:solidFill>
                  <a:schemeClr val="tx1"/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7317740" y="2853690"/>
            <a:ext cx="4476115" cy="741680"/>
            <a:chOff x="6322060" y="4037330"/>
            <a:chExt cx="4476115" cy="741680"/>
          </a:xfrm>
        </p:grpSpPr>
        <p:sp>
          <p:nvSpPr>
            <p:cNvPr id="29" name="文本框 28"/>
            <p:cNvSpPr txBox="1"/>
            <p:nvPr/>
          </p:nvSpPr>
          <p:spPr>
            <a:xfrm>
              <a:off x="6322060" y="4364990"/>
              <a:ext cx="4476115" cy="41402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altLang="zh-CN" sz="1400" dirty="0"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logRecv</a:t>
              </a:r>
              <a:r>
                <a:rPr lang="zh-CN" altLang="en-US" sz="1400" dirty="0"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线程接收</a:t>
              </a:r>
              <a:r>
                <a:rPr lang="en-US" altLang="zh-CN" sz="1400" dirty="0"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redo</a:t>
              </a:r>
              <a:r>
                <a:rPr lang="zh-CN" altLang="en-US" sz="1400" dirty="0"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，写到</a:t>
              </a:r>
              <a:r>
                <a:rPr lang="en-US" altLang="zh-CN" sz="1400" dirty="0"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redo</a:t>
              </a:r>
              <a:r>
                <a:rPr lang="zh-CN" altLang="en-US" sz="1400" dirty="0"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文件，然后回应</a:t>
              </a:r>
              <a:r>
                <a:rPr lang="en-US" altLang="zh-CN" sz="1400" dirty="0"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ack</a:t>
              </a:r>
              <a:endParaRPr lang="en-US" altLang="zh-CN" sz="1400" dirty="0">
                <a:solidFill>
                  <a:schemeClr val="tx1"/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6322060" y="4037330"/>
              <a:ext cx="2830195" cy="50673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285750" indent="-285750" algn="l">
                <a:lnSpc>
                  <a:spcPct val="150000"/>
                </a:lnSpc>
                <a:buFont typeface="Wingdings" panose="05000000000000000000" charset="0"/>
                <a:buChar char="l"/>
              </a:pPr>
              <a:r>
                <a:rPr lang="zh-CN" altLang="en-US" b="1" dirty="0">
                  <a:solidFill>
                    <a:schemeClr val="accent1">
                      <a:lumMod val="75000"/>
                    </a:schemeClr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日志接收</a:t>
              </a:r>
              <a:endParaRPr lang="zh-CN" altLang="en-US" b="1" dirty="0">
                <a:solidFill>
                  <a:schemeClr val="accent1">
                    <a:lumMod val="75000"/>
                  </a:schemeClr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7317740" y="1782445"/>
            <a:ext cx="4476115" cy="1127760"/>
            <a:chOff x="6322060" y="2558415"/>
            <a:chExt cx="4055110" cy="1127760"/>
          </a:xfrm>
        </p:grpSpPr>
        <p:sp>
          <p:nvSpPr>
            <p:cNvPr id="26" name="文本框 25"/>
            <p:cNvSpPr txBox="1"/>
            <p:nvPr/>
          </p:nvSpPr>
          <p:spPr>
            <a:xfrm>
              <a:off x="6322060" y="2948940"/>
              <a:ext cx="4055110" cy="73723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altLang="zh-CN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logSend</a:t>
              </a: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线程会将</a:t>
              </a:r>
              <a:r>
                <a:rPr lang="en-US" altLang="zh-CN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redo</a:t>
              </a: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发送到备机。</a:t>
              </a:r>
              <a:r>
                <a:rPr lang="en-US" altLang="zh-CN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ASYNC</a:t>
              </a: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模式下，是从</a:t>
              </a:r>
              <a:r>
                <a:rPr lang="en-US" altLang="zh-CN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redo</a:t>
              </a: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文件读；</a:t>
              </a:r>
              <a:r>
                <a:rPr lang="en-US" altLang="zh-CN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SYNC</a:t>
              </a: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模式下，是从</a:t>
              </a:r>
              <a:r>
                <a:rPr lang="en-US" altLang="zh-CN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Log Cache</a:t>
              </a:r>
              <a:r>
                <a:rPr lang="zh-CN" altLang="en-US" sz="1400" dirty="0">
                  <a:solidFill>
                    <a:schemeClr val="tx1"/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读</a:t>
              </a:r>
              <a:endParaRPr lang="zh-CN" altLang="en-US" sz="1400" dirty="0">
                <a:solidFill>
                  <a:schemeClr val="tx1"/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6322060" y="2558415"/>
              <a:ext cx="2830195" cy="50673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285750" indent="-285750" algn="l">
                <a:lnSpc>
                  <a:spcPct val="150000"/>
                </a:lnSpc>
                <a:buFont typeface="Wingdings" panose="05000000000000000000" charset="0"/>
                <a:buChar char="l"/>
              </a:pPr>
              <a:r>
                <a:rPr lang="zh-CN" altLang="en-US" b="1" dirty="0">
                  <a:solidFill>
                    <a:schemeClr val="accent1">
                      <a:lumMod val="75000"/>
                    </a:schemeClr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日志发送</a:t>
              </a:r>
              <a:endParaRPr lang="zh-CN" altLang="en-US" b="1" dirty="0">
                <a:solidFill>
                  <a:schemeClr val="accent1">
                    <a:lumMod val="75000"/>
                  </a:schemeClr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endParaRPr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7378065" y="481330"/>
            <a:ext cx="2830195" cy="506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 algn="l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Log Cache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10210" y="377191"/>
            <a:ext cx="2771140" cy="524510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pPr algn="l"/>
            <a:r>
              <a:rPr lang="zh-CN" altLang="en-US" sz="2800" b="1" kern="5000" spc="6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主备复制原理</a:t>
            </a:r>
            <a:endParaRPr lang="zh-CN" altLang="en-US" sz="2800" b="1" kern="5000" spc="600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cxnSp>
        <p:nvCxnSpPr>
          <p:cNvPr id="16" name="直接连接符 15"/>
          <p:cNvCxnSpPr/>
          <p:nvPr/>
        </p:nvCxnSpPr>
        <p:spPr>
          <a:xfrm flipV="1">
            <a:off x="410210" y="901700"/>
            <a:ext cx="2748915" cy="1016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 flipV="1">
            <a:off x="1260475" y="970915"/>
            <a:ext cx="2654935" cy="184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225425" y="6367460"/>
            <a:ext cx="1348740" cy="401320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pPr algn="l"/>
            <a:r>
              <a:rPr lang="zh-CN" altLang="en-US" sz="2000" b="1" kern="3000" spc="300" dirty="0">
                <a:solidFill>
                  <a:schemeClr val="bg1"/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主备复制</a:t>
            </a:r>
            <a:endParaRPr lang="zh-CN" altLang="en-US" sz="2000" b="1" kern="3000" spc="300" dirty="0">
              <a:solidFill>
                <a:schemeClr val="bg1"/>
              </a:soli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grpSp>
        <p:nvGrpSpPr>
          <p:cNvPr id="90" name="组合 89"/>
          <p:cNvGrpSpPr/>
          <p:nvPr/>
        </p:nvGrpSpPr>
        <p:grpSpPr>
          <a:xfrm>
            <a:off x="7315835" y="4538980"/>
            <a:ext cx="4476115" cy="1711325"/>
            <a:chOff x="6322060" y="4037330"/>
            <a:chExt cx="4476115" cy="1711325"/>
          </a:xfrm>
        </p:grpSpPr>
        <p:sp>
          <p:nvSpPr>
            <p:cNvPr id="102" name="文本框 101"/>
            <p:cNvSpPr txBox="1"/>
            <p:nvPr/>
          </p:nvSpPr>
          <p:spPr>
            <a:xfrm>
              <a:off x="6322060" y="4364990"/>
              <a:ext cx="4476115" cy="138366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l">
                <a:lnSpc>
                  <a:spcPct val="150000"/>
                </a:lnSpc>
              </a:pPr>
              <a:r>
                <a:rPr lang="zh-CN" altLang="en-US" sz="1400" dirty="0"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备机</a:t>
              </a:r>
              <a:r>
                <a:rPr lang="en-US" altLang="zh-CN" sz="1400" dirty="0"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stbyRcy</a:t>
              </a:r>
              <a:r>
                <a:rPr lang="zh-CN" altLang="en-US" sz="1400" dirty="0"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线程将接收到的</a:t>
              </a:r>
              <a:r>
                <a:rPr lang="en-US" altLang="zh-CN" sz="1400" dirty="0"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redo</a:t>
              </a:r>
              <a:r>
                <a:rPr lang="zh-CN" altLang="en-US" sz="1400" dirty="0"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回放，来恢复数据页面。如果</a:t>
              </a:r>
              <a:r>
                <a:rPr lang="en-US" altLang="zh-CN" sz="1400" dirty="0"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stbyRcy</a:t>
              </a:r>
              <a:r>
                <a:rPr lang="zh-CN" altLang="en-US" sz="1400" dirty="0"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发现需要的</a:t>
              </a:r>
              <a:r>
                <a:rPr lang="en-US" altLang="zh-CN" sz="1400" dirty="0"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redo</a:t>
              </a:r>
              <a:r>
                <a:rPr lang="zh-CN" altLang="en-US" sz="1400" dirty="0"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和归档都不存在，就会启动</a:t>
              </a:r>
              <a:r>
                <a:rPr lang="en-US" altLang="zh-CN" sz="1400" dirty="0"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FAL(fetch archive log)</a:t>
              </a:r>
              <a:r>
                <a:rPr lang="zh-CN" altLang="en-US" sz="1400" dirty="0"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线程，从主机获取对应</a:t>
              </a:r>
              <a:r>
                <a:rPr lang="en-US" altLang="zh-CN" sz="1400" dirty="0"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redo</a:t>
              </a:r>
              <a:r>
                <a:rPr lang="zh-CN" altLang="en-US" sz="1400" dirty="0"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的归档文件</a:t>
              </a:r>
              <a:endParaRPr lang="zh-CN" altLang="en-US" sz="1400" dirty="0">
                <a:solidFill>
                  <a:schemeClr val="tx1"/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endParaRPr>
            </a:p>
          </p:txBody>
        </p:sp>
        <p:sp>
          <p:nvSpPr>
            <p:cNvPr id="103" name="文本框 102"/>
            <p:cNvSpPr txBox="1"/>
            <p:nvPr/>
          </p:nvSpPr>
          <p:spPr>
            <a:xfrm>
              <a:off x="6322060" y="4037330"/>
              <a:ext cx="3377565" cy="50673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marL="285750" indent="-285750" algn="l">
                <a:lnSpc>
                  <a:spcPct val="150000"/>
                </a:lnSpc>
                <a:buFont typeface="Wingdings" panose="05000000000000000000" charset="0"/>
                <a:buChar char="l"/>
              </a:pPr>
              <a:r>
                <a:rPr lang="zh-CN" altLang="en-US" b="1" dirty="0">
                  <a:solidFill>
                    <a:schemeClr val="accent1">
                      <a:lumMod val="75000"/>
                    </a:schemeClr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日志回放</a:t>
              </a:r>
              <a:endParaRPr lang="zh-CN" altLang="en-US" b="1" dirty="0">
                <a:solidFill>
                  <a:schemeClr val="accent1">
                    <a:lumMod val="75000"/>
                  </a:schemeClr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7315835" y="3500755"/>
            <a:ext cx="4476115" cy="1064895"/>
            <a:chOff x="6322060" y="4037330"/>
            <a:chExt cx="4476115" cy="1064895"/>
          </a:xfrm>
        </p:grpSpPr>
        <p:sp>
          <p:nvSpPr>
            <p:cNvPr id="35" name="文本框 34"/>
            <p:cNvSpPr txBox="1"/>
            <p:nvPr/>
          </p:nvSpPr>
          <p:spPr>
            <a:xfrm>
              <a:off x="6322060" y="4364990"/>
              <a:ext cx="4476115" cy="73723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l">
                <a:lnSpc>
                  <a:spcPct val="150000"/>
                </a:lnSpc>
              </a:pPr>
              <a:r>
                <a:rPr lang="zh-CN" altLang="en-US" sz="1400" dirty="0"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因为</a:t>
              </a:r>
              <a:r>
                <a:rPr lang="en-US" altLang="zh-CN" sz="1400" dirty="0"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redo</a:t>
              </a:r>
              <a:r>
                <a:rPr lang="zh-CN" altLang="en-US" sz="1400" dirty="0"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文件是循环复用的，</a:t>
              </a:r>
              <a:r>
                <a:rPr lang="en-US" altLang="zh-CN" sz="1400" dirty="0"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archProc</a:t>
              </a:r>
              <a:r>
                <a:rPr lang="zh-CN" altLang="en-US" sz="1400" dirty="0"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线程会将</a:t>
              </a:r>
              <a:r>
                <a:rPr lang="en-US" altLang="zh-CN" sz="1400" dirty="0"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redo</a:t>
              </a:r>
              <a:r>
                <a:rPr lang="zh-CN" altLang="en-US" sz="1400" dirty="0"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文件备份为归档文件</a:t>
              </a:r>
              <a:endParaRPr lang="en-US" altLang="zh-CN" sz="1400" dirty="0">
                <a:solidFill>
                  <a:schemeClr val="tx1"/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endParaRPr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6322060" y="4037330"/>
              <a:ext cx="2830195" cy="50673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marL="285750" indent="-285750" algn="l">
                <a:lnSpc>
                  <a:spcPct val="150000"/>
                </a:lnSpc>
                <a:buFont typeface="Wingdings" panose="05000000000000000000" charset="0"/>
                <a:buChar char="l"/>
              </a:pPr>
              <a:r>
                <a:rPr lang="zh-CN" altLang="en-US" b="1" dirty="0">
                  <a:solidFill>
                    <a:schemeClr val="accent1">
                      <a:lumMod val="75000"/>
                    </a:schemeClr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归档</a:t>
              </a:r>
              <a:endParaRPr lang="zh-CN" altLang="en-US" b="1" dirty="0">
                <a:solidFill>
                  <a:schemeClr val="accent1">
                    <a:lumMod val="75000"/>
                  </a:schemeClr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endParaRPr>
            </a:p>
          </p:txBody>
        </p:sp>
      </p:grpSp>
      <p:pic>
        <p:nvPicPr>
          <p:cNvPr id="37" name="图片 36"/>
          <p:cNvPicPr>
            <a:picLocks noChangeAspect="1"/>
          </p:cNvPicPr>
          <p:nvPr/>
        </p:nvPicPr>
        <p:blipFill>
          <a:blip r:embed="rId1"/>
          <a:srcRect r="1628"/>
          <a:stretch>
            <a:fillRect/>
          </a:stretch>
        </p:blipFill>
        <p:spPr>
          <a:xfrm>
            <a:off x="44450" y="1112520"/>
            <a:ext cx="7271385" cy="47783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295015" y="1536700"/>
            <a:ext cx="7703185" cy="1001914"/>
            <a:chOff x="5740402" y="1300491"/>
            <a:chExt cx="5257798" cy="771004"/>
          </a:xfrm>
        </p:grpSpPr>
        <p:sp>
          <p:nvSpPr>
            <p:cNvPr id="5" name="文本框 4"/>
            <p:cNvSpPr txBox="1"/>
            <p:nvPr/>
          </p:nvSpPr>
          <p:spPr>
            <a:xfrm>
              <a:off x="5740402" y="1300491"/>
              <a:ext cx="1665496" cy="2834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accent1">
                      <a:lumMod val="75000"/>
                    </a:schemeClr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Switchover</a:t>
              </a:r>
              <a:endParaRPr lang="en-US" altLang="zh-CN" b="1" dirty="0">
                <a:solidFill>
                  <a:schemeClr val="accent1">
                    <a:lumMod val="75000"/>
                  </a:schemeClr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5740402" y="1669823"/>
              <a:ext cx="5257798" cy="40167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zh-CN" sz="1400" b="0" i="0" dirty="0">
                  <a:solidFill>
                    <a:schemeClr val="tx1"/>
                  </a:solidFill>
                  <a:effectLst/>
                  <a:latin typeface="Verdana" panose="020B0604030504040204" charset="0"/>
                  <a:ea typeface="微软雅黑" panose="020B0503020204020204" charset="-122"/>
                  <a:cs typeface="+mj-lt"/>
                  <a:sym typeface="Verdana" panose="020B0604030504040204" charset="0"/>
                </a:rPr>
                <a:t>在主备实例均正常的情况下，零数据丢失的完成主机和备机的角色互换。主要应用于有计划的停服、滚动升级等场景。</a:t>
              </a:r>
              <a:endParaRPr lang="zh-CN" altLang="zh-CN" sz="1400" b="0" i="0" dirty="0">
                <a:solidFill>
                  <a:schemeClr val="tx1"/>
                </a:solidFill>
                <a:effectLst/>
                <a:latin typeface="Verdana" panose="020B0604030504040204" charset="0"/>
                <a:ea typeface="微软雅黑" panose="020B0503020204020204" charset="-122"/>
                <a:cs typeface="+mj-lt"/>
                <a:sym typeface="Verdana" panose="020B0604030504040204" charset="0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3295015" y="2769870"/>
            <a:ext cx="7703185" cy="1217178"/>
            <a:chOff x="5740402" y="2533487"/>
            <a:chExt cx="5257798" cy="936657"/>
          </a:xfrm>
        </p:grpSpPr>
        <p:sp>
          <p:nvSpPr>
            <p:cNvPr id="9" name="文本框 8"/>
            <p:cNvSpPr txBox="1"/>
            <p:nvPr/>
          </p:nvSpPr>
          <p:spPr>
            <a:xfrm>
              <a:off x="5740402" y="2533487"/>
              <a:ext cx="1665496" cy="2834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1">
                      <a:lumMod val="75000"/>
                    </a:schemeClr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Failover</a:t>
              </a:r>
              <a:endParaRPr lang="en-US" b="1" dirty="0">
                <a:solidFill>
                  <a:schemeClr val="accent1">
                    <a:lumMod val="75000"/>
                  </a:schemeClr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5740402" y="2902819"/>
              <a:ext cx="5257798" cy="56732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400" b="0" i="0" dirty="0">
                  <a:solidFill>
                    <a:schemeClr val="tx1"/>
                  </a:solidFill>
                  <a:effectLst/>
                  <a:latin typeface="Verdana" panose="020B0604030504040204" charset="0"/>
                  <a:ea typeface="微软雅黑" panose="020B0503020204020204" charset="-122"/>
                  <a:cs typeface="+mj-lt"/>
                  <a:sym typeface="Verdana" panose="020B0604030504040204" charset="0"/>
                </a:rPr>
                <a:t>备机在网络断开状态（主机异常，或主备网络异常）下，可以将备机升为主机，继续对外提供服务。这种操作可能会造成数据丢失，原来的旧主机，需要手动降备。这种场景应用于故障接管场景，尽可能减少服务中断时间。</a:t>
              </a:r>
              <a:endParaRPr lang="zh-CN" altLang="en-US" sz="1400" b="0" i="0" dirty="0">
                <a:solidFill>
                  <a:schemeClr val="tx1"/>
                </a:solidFill>
                <a:effectLst/>
                <a:latin typeface="Verdana" panose="020B0604030504040204" charset="0"/>
                <a:ea typeface="微软雅黑" panose="020B0503020204020204" charset="-122"/>
                <a:cs typeface="+mj-lt"/>
                <a:sym typeface="Verdana" panose="020B0604030504040204" charset="0"/>
              </a:endParaRPr>
            </a:p>
          </p:txBody>
        </p:sp>
      </p:grpSp>
      <p:sp>
        <p:nvSpPr>
          <p:cNvPr id="8" name="灯片编号占位符 7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</a:fld>
            <a:endParaRPr lang="zh-CN" altLang="en-US">
              <a:latin typeface="Verdana" panose="020B0604030504040204" charset="0"/>
              <a:ea typeface="微软雅黑" panose="020B0503020204020204" charset="-122"/>
              <a:sym typeface="Verdana" panose="020B0604030504040204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10210" y="377191"/>
            <a:ext cx="1907540" cy="524510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pPr algn="l"/>
            <a:r>
              <a:rPr lang="zh-CN" altLang="zh-CN" sz="2800" b="1" kern="5000" spc="6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主备切换</a:t>
            </a:r>
            <a:endParaRPr lang="zh-CN" altLang="zh-CN" sz="2800" b="1" kern="5000" spc="600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cxnSp>
        <p:nvCxnSpPr>
          <p:cNvPr id="18" name="直接连接符 17"/>
          <p:cNvCxnSpPr/>
          <p:nvPr/>
        </p:nvCxnSpPr>
        <p:spPr>
          <a:xfrm flipV="1">
            <a:off x="410210" y="901700"/>
            <a:ext cx="2748915" cy="1016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 flipV="1">
            <a:off x="1260475" y="970915"/>
            <a:ext cx="2654935" cy="184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225425" y="6367460"/>
            <a:ext cx="1348740" cy="401320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pPr algn="l"/>
            <a:r>
              <a:rPr lang="zh-CN" altLang="en-US" sz="2000" b="1" kern="3000" spc="300" dirty="0">
                <a:solidFill>
                  <a:schemeClr val="bg1"/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主备切换</a:t>
            </a:r>
            <a:endParaRPr lang="zh-CN" altLang="en-US" sz="2000" b="1" kern="3000" spc="300" dirty="0">
              <a:solidFill>
                <a:schemeClr val="bg1"/>
              </a:soli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pic>
        <p:nvPicPr>
          <p:cNvPr id="102" name="图片 101"/>
          <p:cNvPicPr/>
          <p:nvPr/>
        </p:nvPicPr>
        <p:blipFill>
          <a:blip r:embed="rId1" r:link="rId2"/>
          <a:stretch>
            <a:fillRect/>
          </a:stretch>
        </p:blipFill>
        <p:spPr>
          <a:xfrm>
            <a:off x="327660" y="2172970"/>
            <a:ext cx="2532380" cy="225044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410210" y="377191"/>
            <a:ext cx="1907540" cy="524510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pPr algn="l"/>
            <a:r>
              <a:rPr lang="zh-CN" altLang="en-US" sz="2800" b="1" kern="5000" spc="6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主备切换</a:t>
            </a:r>
            <a:endParaRPr lang="zh-CN" altLang="en-US" sz="2800" b="1" kern="5000" spc="600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cxnSp>
        <p:nvCxnSpPr>
          <p:cNvPr id="16" name="直接连接符 15"/>
          <p:cNvCxnSpPr/>
          <p:nvPr/>
        </p:nvCxnSpPr>
        <p:spPr>
          <a:xfrm flipV="1">
            <a:off x="410210" y="901700"/>
            <a:ext cx="2748915" cy="1016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 flipV="1">
            <a:off x="1260475" y="970915"/>
            <a:ext cx="2654935" cy="184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225425" y="6367460"/>
            <a:ext cx="1348740" cy="401320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pPr algn="l"/>
            <a:r>
              <a:rPr lang="zh-CN" altLang="en-US" sz="2000" b="1" kern="3000" spc="300" dirty="0">
                <a:solidFill>
                  <a:schemeClr val="bg1"/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主备切换</a:t>
            </a:r>
            <a:endParaRPr lang="zh-CN" altLang="en-US" sz="2000" b="1" kern="3000" spc="300" dirty="0">
              <a:solidFill>
                <a:schemeClr val="bg1"/>
              </a:soli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415925" y="1099185"/>
            <a:ext cx="768350" cy="287655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/>
              <a:t>主机</a:t>
            </a:r>
            <a:endParaRPr lang="zh-CN" altLang="en-US" sz="1400"/>
          </a:p>
        </p:txBody>
      </p:sp>
      <p:cxnSp>
        <p:nvCxnSpPr>
          <p:cNvPr id="27" name="直接连接符 26"/>
          <p:cNvCxnSpPr/>
          <p:nvPr/>
        </p:nvCxnSpPr>
        <p:spPr>
          <a:xfrm flipH="1">
            <a:off x="798830" y="1386840"/>
            <a:ext cx="1270" cy="2730500"/>
          </a:xfrm>
          <a:prstGeom prst="line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1087755" y="2609215"/>
            <a:ext cx="14027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停止所有事务会话</a:t>
            </a:r>
            <a:endParaRPr lang="zh-CN" altLang="en-US" sz="1200"/>
          </a:p>
          <a:p>
            <a:pPr algn="ctr"/>
            <a:r>
              <a:rPr lang="zh-CN" altLang="en-US" sz="1200"/>
              <a:t>并禁止新的事务</a:t>
            </a:r>
            <a:endParaRPr lang="zh-CN" altLang="en-US" sz="1200"/>
          </a:p>
        </p:txBody>
      </p:sp>
      <p:sp>
        <p:nvSpPr>
          <p:cNvPr id="38" name="右弧形箭头 37"/>
          <p:cNvSpPr/>
          <p:nvPr/>
        </p:nvSpPr>
        <p:spPr>
          <a:xfrm>
            <a:off x="821690" y="2733040"/>
            <a:ext cx="295275" cy="280670"/>
          </a:xfrm>
          <a:prstGeom prst="curvedLef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3305810" y="4039870"/>
            <a:ext cx="56451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1200"/>
              <a:t>升主</a:t>
            </a:r>
            <a:endParaRPr lang="zh-CN" sz="1200"/>
          </a:p>
        </p:txBody>
      </p:sp>
      <p:sp>
        <p:nvSpPr>
          <p:cNvPr id="40" name="文本框 39"/>
          <p:cNvSpPr txBox="1"/>
          <p:nvPr/>
        </p:nvSpPr>
        <p:spPr>
          <a:xfrm>
            <a:off x="1009650" y="2158365"/>
            <a:ext cx="171640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向主机发送</a:t>
            </a:r>
            <a:r>
              <a:rPr lang="zh-CN" sz="1200"/>
              <a:t>降备请求</a:t>
            </a:r>
            <a:endParaRPr lang="zh-CN" sz="1200"/>
          </a:p>
        </p:txBody>
      </p:sp>
      <p:sp>
        <p:nvSpPr>
          <p:cNvPr id="41" name="右弧形箭头 40"/>
          <p:cNvSpPr/>
          <p:nvPr/>
        </p:nvSpPr>
        <p:spPr>
          <a:xfrm>
            <a:off x="2964180" y="2834640"/>
            <a:ext cx="416560" cy="697230"/>
          </a:xfrm>
          <a:prstGeom prst="curvedLeftArrow">
            <a:avLst>
              <a:gd name="adj1" fmla="val 11612"/>
              <a:gd name="adj2" fmla="val 50000"/>
              <a:gd name="adj3" fmla="val 1442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44" name="圆角矩形 43"/>
          <p:cNvSpPr/>
          <p:nvPr/>
        </p:nvSpPr>
        <p:spPr>
          <a:xfrm>
            <a:off x="2566670" y="1090295"/>
            <a:ext cx="739140" cy="287655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/>
              <a:t>备机</a:t>
            </a:r>
            <a:endParaRPr lang="zh-CN" altLang="en-US" sz="1400"/>
          </a:p>
        </p:txBody>
      </p:sp>
      <p:cxnSp>
        <p:nvCxnSpPr>
          <p:cNvPr id="45" name="直接连接符 44"/>
          <p:cNvCxnSpPr>
            <a:stCxn id="44" idx="2"/>
          </p:cNvCxnSpPr>
          <p:nvPr/>
        </p:nvCxnSpPr>
        <p:spPr>
          <a:xfrm>
            <a:off x="2936240" y="1377950"/>
            <a:ext cx="0" cy="3089910"/>
          </a:xfrm>
          <a:prstGeom prst="line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/>
          <p:cNvCxnSpPr/>
          <p:nvPr/>
        </p:nvCxnSpPr>
        <p:spPr>
          <a:xfrm flipH="1">
            <a:off x="821690" y="2425700"/>
            <a:ext cx="2080260" cy="7620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文本框 49"/>
          <p:cNvSpPr txBox="1"/>
          <p:nvPr/>
        </p:nvSpPr>
        <p:spPr>
          <a:xfrm>
            <a:off x="3232785" y="2004695"/>
            <a:ext cx="175450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检测</a:t>
            </a:r>
            <a:r>
              <a:rPr lang="en-US" altLang="zh-CN" sz="1200"/>
              <a:t>switchover</a:t>
            </a:r>
            <a:r>
              <a:rPr lang="zh-CN" altLang="en-US" sz="1200"/>
              <a:t>条件</a:t>
            </a:r>
            <a:endParaRPr lang="zh-CN" altLang="en-US" sz="1200"/>
          </a:p>
        </p:txBody>
      </p:sp>
      <p:sp>
        <p:nvSpPr>
          <p:cNvPr id="52" name="右弧形箭头 51"/>
          <p:cNvSpPr/>
          <p:nvPr/>
        </p:nvSpPr>
        <p:spPr>
          <a:xfrm>
            <a:off x="2964180" y="2004695"/>
            <a:ext cx="295275" cy="280670"/>
          </a:xfrm>
          <a:prstGeom prst="curvedLef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200">
              <a:solidFill>
                <a:schemeClr val="tx1"/>
              </a:solidFill>
            </a:endParaRPr>
          </a:p>
        </p:txBody>
      </p:sp>
      <p:cxnSp>
        <p:nvCxnSpPr>
          <p:cNvPr id="53" name="直接箭头连接符 52"/>
          <p:cNvCxnSpPr/>
          <p:nvPr/>
        </p:nvCxnSpPr>
        <p:spPr>
          <a:xfrm>
            <a:off x="790575" y="3910330"/>
            <a:ext cx="2117725" cy="8890"/>
          </a:xfrm>
          <a:prstGeom prst="straightConnector1">
            <a:avLst/>
          </a:prstGeom>
          <a:ln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文本框 53"/>
          <p:cNvSpPr txBox="1"/>
          <p:nvPr/>
        </p:nvSpPr>
        <p:spPr>
          <a:xfrm>
            <a:off x="841375" y="3615690"/>
            <a:ext cx="212280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主机降备，并通知备机升主</a:t>
            </a:r>
            <a:endParaRPr lang="en-US" altLang="zh-CN" sz="1200"/>
          </a:p>
        </p:txBody>
      </p:sp>
      <p:cxnSp>
        <p:nvCxnSpPr>
          <p:cNvPr id="42" name="直接箭头连接符 41"/>
          <p:cNvCxnSpPr/>
          <p:nvPr/>
        </p:nvCxnSpPr>
        <p:spPr>
          <a:xfrm flipH="1">
            <a:off x="2936240" y="1763395"/>
            <a:ext cx="2919730" cy="3810"/>
          </a:xfrm>
          <a:prstGeom prst="straightConnector1">
            <a:avLst/>
          </a:prstGeom>
          <a:ln w="12700"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文本框 66"/>
          <p:cNvSpPr txBox="1"/>
          <p:nvPr/>
        </p:nvSpPr>
        <p:spPr>
          <a:xfrm>
            <a:off x="3084195" y="1487805"/>
            <a:ext cx="304990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zh-CN" sz="1200"/>
              <a:t>执行</a:t>
            </a:r>
            <a:r>
              <a:rPr lang="en-US" altLang="zh-CN" sz="1200"/>
              <a:t>ALTER DATABASE SWITCHOVER</a:t>
            </a:r>
            <a:endParaRPr lang="en-US" altLang="zh-CN" sz="1200"/>
          </a:p>
        </p:txBody>
      </p:sp>
      <p:sp>
        <p:nvSpPr>
          <p:cNvPr id="28" name="文本框 27"/>
          <p:cNvSpPr txBox="1"/>
          <p:nvPr/>
        </p:nvSpPr>
        <p:spPr>
          <a:xfrm>
            <a:off x="1116965" y="3155315"/>
            <a:ext cx="11976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sz="1200"/>
              <a:t>等待备机同步所有</a:t>
            </a:r>
            <a:r>
              <a:rPr lang="en-US" altLang="zh-CN" sz="1200"/>
              <a:t>REDO</a:t>
            </a:r>
            <a:endParaRPr lang="en-US" altLang="zh-CN" sz="1200"/>
          </a:p>
        </p:txBody>
      </p:sp>
      <p:sp>
        <p:nvSpPr>
          <p:cNvPr id="30" name="右弧形箭头 29"/>
          <p:cNvSpPr/>
          <p:nvPr/>
        </p:nvSpPr>
        <p:spPr>
          <a:xfrm>
            <a:off x="821690" y="3245485"/>
            <a:ext cx="295275" cy="280670"/>
          </a:xfrm>
          <a:prstGeom prst="curvedLef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415925" y="4128770"/>
            <a:ext cx="768350" cy="28765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1400"/>
              <a:t>备机</a:t>
            </a:r>
            <a:endParaRPr lang="zh-CN" altLang="en-US" sz="1400"/>
          </a:p>
        </p:txBody>
      </p:sp>
      <p:sp>
        <p:nvSpPr>
          <p:cNvPr id="48" name="圆角矩形 47"/>
          <p:cNvSpPr/>
          <p:nvPr/>
        </p:nvSpPr>
        <p:spPr>
          <a:xfrm>
            <a:off x="2566670" y="4472940"/>
            <a:ext cx="768350" cy="28765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1400"/>
              <a:t>主机</a:t>
            </a:r>
            <a:endParaRPr lang="zh-CN" altLang="en-US" sz="1400"/>
          </a:p>
        </p:txBody>
      </p:sp>
      <p:sp>
        <p:nvSpPr>
          <p:cNvPr id="49" name="右弧形箭头 48"/>
          <p:cNvSpPr/>
          <p:nvPr/>
        </p:nvSpPr>
        <p:spPr>
          <a:xfrm>
            <a:off x="2973705" y="4054475"/>
            <a:ext cx="295275" cy="280670"/>
          </a:xfrm>
          <a:prstGeom prst="curvedLef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3382010" y="3022600"/>
            <a:ext cx="100012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1200"/>
              <a:t>回放</a:t>
            </a:r>
            <a:r>
              <a:rPr lang="en-US" altLang="zh-CN" sz="1200"/>
              <a:t>REDO</a:t>
            </a:r>
            <a:endParaRPr lang="en-US" altLang="zh-CN" sz="1200"/>
          </a:p>
        </p:txBody>
      </p:sp>
      <p:sp>
        <p:nvSpPr>
          <p:cNvPr id="57" name="文本框 56"/>
          <p:cNvSpPr txBox="1"/>
          <p:nvPr/>
        </p:nvSpPr>
        <p:spPr>
          <a:xfrm>
            <a:off x="455930" y="4759960"/>
            <a:ext cx="2628900" cy="13646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50000"/>
              </a:lnSpc>
            </a:pPr>
            <a:r>
              <a:rPr lang="en-US" altLang="zh-CN" sz="1600" b="1" dirty="0">
                <a:solidFill>
                  <a:schemeClr val="accent1">
                    <a:lumMod val="75000"/>
                  </a:schemeClr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Switchover</a:t>
            </a:r>
            <a:r>
              <a:rPr lang="zh-CN" altLang="en-US" sz="1600" b="1" dirty="0">
                <a:solidFill>
                  <a:schemeClr val="accent1">
                    <a:lumMod val="75000"/>
                  </a:schemeClr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执行条件</a:t>
            </a:r>
            <a:endParaRPr lang="en-US" altLang="zh-CN" sz="1600" b="1" dirty="0">
              <a:solidFill>
                <a:schemeClr val="accent1">
                  <a:lumMod val="75000"/>
                </a:schemeClr>
              </a:soli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  <a:p>
            <a:pPr marL="285750" indent="-28575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/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在备机执行</a:t>
            </a:r>
            <a:endParaRPr lang="zh-CN" altLang="en-US" sz="1400" dirty="0">
              <a:solidFill>
                <a:schemeClr val="tx1"/>
              </a:soli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  <a:p>
            <a:pPr marL="285750" indent="-28575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/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主机和备机网络连接正常</a:t>
            </a:r>
            <a:endParaRPr lang="zh-CN" altLang="en-US" sz="1400" dirty="0">
              <a:solidFill>
                <a:schemeClr val="tx1"/>
              </a:soli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  <a:p>
            <a:pPr marL="285750" indent="-28575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/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主机和备机处于</a:t>
            </a:r>
            <a:r>
              <a:rPr lang="en-US" altLang="zh-CN" sz="1400" dirty="0">
                <a:solidFill>
                  <a:schemeClr val="tx1"/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OPEN</a:t>
            </a:r>
            <a:r>
              <a:rPr lang="zh-CN" altLang="en-US" sz="1400" dirty="0">
                <a:solidFill>
                  <a:schemeClr val="tx1"/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状态</a:t>
            </a:r>
            <a:endParaRPr lang="zh-CN" altLang="en-US" sz="1400" dirty="0">
              <a:solidFill>
                <a:schemeClr val="tx1"/>
              </a:soli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sp>
        <p:nvSpPr>
          <p:cNvPr id="61" name="圆角矩形 60"/>
          <p:cNvSpPr/>
          <p:nvPr/>
        </p:nvSpPr>
        <p:spPr>
          <a:xfrm>
            <a:off x="6351905" y="1007745"/>
            <a:ext cx="768350" cy="287655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400">
                <a:sym typeface="+mn-ea"/>
              </a:rPr>
              <a:t>主机</a:t>
            </a:r>
            <a:endParaRPr lang="zh-CN" altLang="en-US" sz="1400">
              <a:sym typeface="+mn-ea"/>
            </a:endParaRPr>
          </a:p>
        </p:txBody>
      </p:sp>
      <p:cxnSp>
        <p:nvCxnSpPr>
          <p:cNvPr id="62" name="直接连接符 61"/>
          <p:cNvCxnSpPr/>
          <p:nvPr/>
        </p:nvCxnSpPr>
        <p:spPr>
          <a:xfrm>
            <a:off x="6736080" y="1295400"/>
            <a:ext cx="2540" cy="1397000"/>
          </a:xfrm>
          <a:prstGeom prst="line">
            <a:avLst/>
          </a:prstGeom>
          <a:ln>
            <a:solidFill>
              <a:srgbClr val="FF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文本框 64"/>
          <p:cNvSpPr txBox="1"/>
          <p:nvPr/>
        </p:nvSpPr>
        <p:spPr>
          <a:xfrm>
            <a:off x="9238615" y="3634740"/>
            <a:ext cx="56451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1200"/>
              <a:t>升主</a:t>
            </a:r>
            <a:endParaRPr lang="zh-CN" sz="1200"/>
          </a:p>
        </p:txBody>
      </p:sp>
      <p:sp>
        <p:nvSpPr>
          <p:cNvPr id="68" name="右弧形箭头 67"/>
          <p:cNvSpPr/>
          <p:nvPr/>
        </p:nvSpPr>
        <p:spPr>
          <a:xfrm>
            <a:off x="8891905" y="2423795"/>
            <a:ext cx="416560" cy="697230"/>
          </a:xfrm>
          <a:prstGeom prst="curvedLeftArrow">
            <a:avLst>
              <a:gd name="adj1" fmla="val 11612"/>
              <a:gd name="adj2" fmla="val 50000"/>
              <a:gd name="adj3" fmla="val 1442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69" name="圆角矩形 68"/>
          <p:cNvSpPr/>
          <p:nvPr/>
        </p:nvSpPr>
        <p:spPr>
          <a:xfrm>
            <a:off x="8502650" y="998855"/>
            <a:ext cx="739140" cy="287655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/>
              <a:t>备机</a:t>
            </a:r>
            <a:endParaRPr lang="zh-CN" altLang="en-US" sz="1400"/>
          </a:p>
        </p:txBody>
      </p:sp>
      <p:cxnSp>
        <p:nvCxnSpPr>
          <p:cNvPr id="70" name="直接连接符 69"/>
          <p:cNvCxnSpPr>
            <a:stCxn id="69" idx="2"/>
          </p:cNvCxnSpPr>
          <p:nvPr/>
        </p:nvCxnSpPr>
        <p:spPr>
          <a:xfrm>
            <a:off x="8872220" y="1286510"/>
            <a:ext cx="0" cy="2804160"/>
          </a:xfrm>
          <a:prstGeom prst="line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文本框 71"/>
          <p:cNvSpPr txBox="1"/>
          <p:nvPr/>
        </p:nvSpPr>
        <p:spPr>
          <a:xfrm>
            <a:off x="9168765" y="1913255"/>
            <a:ext cx="175450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检测</a:t>
            </a:r>
            <a:r>
              <a:rPr lang="en-US" altLang="zh-CN" sz="1200"/>
              <a:t>failover</a:t>
            </a:r>
            <a:r>
              <a:rPr lang="zh-CN" altLang="en-US" sz="1200"/>
              <a:t>条件</a:t>
            </a:r>
            <a:endParaRPr lang="zh-CN" altLang="en-US" sz="1200"/>
          </a:p>
        </p:txBody>
      </p:sp>
      <p:sp>
        <p:nvSpPr>
          <p:cNvPr id="73" name="右弧形箭头 72"/>
          <p:cNvSpPr/>
          <p:nvPr/>
        </p:nvSpPr>
        <p:spPr>
          <a:xfrm>
            <a:off x="8900160" y="1913255"/>
            <a:ext cx="295275" cy="280670"/>
          </a:xfrm>
          <a:prstGeom prst="curvedLef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200">
              <a:solidFill>
                <a:schemeClr val="tx1"/>
              </a:solidFill>
            </a:endParaRPr>
          </a:p>
        </p:txBody>
      </p:sp>
      <p:cxnSp>
        <p:nvCxnSpPr>
          <p:cNvPr id="74" name="直接箭头连接符 73"/>
          <p:cNvCxnSpPr/>
          <p:nvPr/>
        </p:nvCxnSpPr>
        <p:spPr>
          <a:xfrm>
            <a:off x="6734810" y="1529715"/>
            <a:ext cx="2117725" cy="8890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直接箭头连接符 75"/>
          <p:cNvCxnSpPr/>
          <p:nvPr/>
        </p:nvCxnSpPr>
        <p:spPr>
          <a:xfrm flipH="1">
            <a:off x="8872220" y="1671955"/>
            <a:ext cx="2594610" cy="3810"/>
          </a:xfrm>
          <a:prstGeom prst="straightConnector1">
            <a:avLst/>
          </a:prstGeom>
          <a:ln w="12700"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文本框 76"/>
          <p:cNvSpPr txBox="1"/>
          <p:nvPr/>
        </p:nvSpPr>
        <p:spPr>
          <a:xfrm>
            <a:off x="9020175" y="1396365"/>
            <a:ext cx="304990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zh-CN" sz="1200"/>
              <a:t>执行</a:t>
            </a:r>
            <a:r>
              <a:rPr lang="en-US" altLang="zh-CN" sz="1200"/>
              <a:t>ALTER DATABASE FAILOVER</a:t>
            </a:r>
            <a:endParaRPr lang="en-US" altLang="zh-CN" sz="1200"/>
          </a:p>
        </p:txBody>
      </p:sp>
      <p:sp>
        <p:nvSpPr>
          <p:cNvPr id="82" name="圆角矩形 81"/>
          <p:cNvSpPr/>
          <p:nvPr/>
        </p:nvSpPr>
        <p:spPr>
          <a:xfrm>
            <a:off x="8488045" y="4117340"/>
            <a:ext cx="768350" cy="28765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1400"/>
              <a:t>主机</a:t>
            </a:r>
            <a:endParaRPr lang="zh-CN" altLang="en-US" sz="1400"/>
          </a:p>
        </p:txBody>
      </p:sp>
      <p:sp>
        <p:nvSpPr>
          <p:cNvPr id="83" name="右弧形箭头 82"/>
          <p:cNvSpPr/>
          <p:nvPr/>
        </p:nvSpPr>
        <p:spPr>
          <a:xfrm>
            <a:off x="8900160" y="3288665"/>
            <a:ext cx="295275" cy="280670"/>
          </a:xfrm>
          <a:prstGeom prst="curvedLef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9309735" y="2611755"/>
            <a:ext cx="100012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1200"/>
              <a:t>回放</a:t>
            </a:r>
            <a:r>
              <a:rPr lang="en-US" altLang="zh-CN" sz="1200"/>
              <a:t>REDO</a:t>
            </a:r>
            <a:endParaRPr lang="en-US" altLang="zh-CN" sz="1200"/>
          </a:p>
        </p:txBody>
      </p:sp>
      <p:sp>
        <p:nvSpPr>
          <p:cNvPr id="85" name="文本框 84"/>
          <p:cNvSpPr txBox="1"/>
          <p:nvPr/>
        </p:nvSpPr>
        <p:spPr>
          <a:xfrm>
            <a:off x="7594600" y="1286510"/>
            <a:ext cx="2603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rgbClr val="FF0000"/>
                </a:solidFill>
              </a:rPr>
              <a:t>X</a:t>
            </a:r>
            <a:endParaRPr lang="en-US" altLang="zh-CN" sz="2400">
              <a:solidFill>
                <a:srgbClr val="FF0000"/>
              </a:solidFill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6795135" y="1675765"/>
            <a:ext cx="100012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1200"/>
              <a:t>主机故障</a:t>
            </a:r>
            <a:endParaRPr lang="zh-CN" sz="1200"/>
          </a:p>
        </p:txBody>
      </p:sp>
      <p:sp>
        <p:nvSpPr>
          <p:cNvPr id="88" name="右弧形箭头 87"/>
          <p:cNvSpPr/>
          <p:nvPr/>
        </p:nvSpPr>
        <p:spPr>
          <a:xfrm>
            <a:off x="8900160" y="3643630"/>
            <a:ext cx="295275" cy="280670"/>
          </a:xfrm>
          <a:prstGeom prst="curvedLef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9238615" y="3256280"/>
            <a:ext cx="161480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solidFill>
                  <a:schemeClr val="tx1"/>
                </a:solidFill>
              </a:rPr>
              <a:t>重置</a:t>
            </a:r>
            <a:r>
              <a:rPr lang="en-US" altLang="zh-CN" sz="1200">
                <a:solidFill>
                  <a:schemeClr val="tx1"/>
                </a:solidFill>
              </a:rPr>
              <a:t>REDO</a:t>
            </a:r>
            <a:r>
              <a:rPr lang="zh-CN" altLang="en-US" sz="1200">
                <a:solidFill>
                  <a:schemeClr val="tx1"/>
                </a:solidFill>
              </a:rPr>
              <a:t>时间线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91" name="文本框 90"/>
          <p:cNvSpPr txBox="1"/>
          <p:nvPr/>
        </p:nvSpPr>
        <p:spPr>
          <a:xfrm>
            <a:off x="6134100" y="4759960"/>
            <a:ext cx="2353945" cy="13646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50000"/>
              </a:lnSpc>
            </a:pPr>
            <a:r>
              <a:rPr lang="en-US" altLang="zh-CN" sz="1600" b="1" dirty="0">
                <a:solidFill>
                  <a:schemeClr val="accent1">
                    <a:lumMod val="75000"/>
                  </a:schemeClr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Failover</a:t>
            </a:r>
            <a:r>
              <a:rPr lang="zh-CN" altLang="en-US" sz="1600" b="1" dirty="0">
                <a:solidFill>
                  <a:schemeClr val="accent1">
                    <a:lumMod val="75000"/>
                  </a:schemeClr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执行条件</a:t>
            </a:r>
            <a:endParaRPr lang="en-US" altLang="zh-CN" sz="1600" b="1" dirty="0">
              <a:solidFill>
                <a:schemeClr val="accent1">
                  <a:lumMod val="75000"/>
                </a:schemeClr>
              </a:soli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  <a:p>
            <a:pPr marL="285750" indent="-28575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/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在备机执行</a:t>
            </a:r>
            <a:endParaRPr lang="zh-CN" altLang="en-US" sz="1400" dirty="0">
              <a:solidFill>
                <a:schemeClr val="tx1"/>
              </a:soli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  <a:p>
            <a:pPr marL="285750" indent="-28575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/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主机和备机网络断开</a:t>
            </a:r>
            <a:endParaRPr lang="zh-CN" altLang="en-US" sz="1400" dirty="0">
              <a:solidFill>
                <a:schemeClr val="tx1"/>
              </a:soli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  <a:p>
            <a:pPr marL="285750" indent="-28575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/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备机处于</a:t>
            </a:r>
            <a:r>
              <a:rPr lang="en-US" altLang="zh-CN" sz="1400" dirty="0">
                <a:solidFill>
                  <a:schemeClr val="tx1"/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OPEN</a:t>
            </a:r>
            <a:r>
              <a:rPr lang="zh-CN" altLang="en-US" sz="1400" dirty="0">
                <a:solidFill>
                  <a:schemeClr val="tx1"/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状态</a:t>
            </a:r>
            <a:endParaRPr lang="zh-CN" altLang="en-US" sz="1400" dirty="0">
              <a:solidFill>
                <a:schemeClr val="tx1"/>
              </a:soli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sp>
        <p:nvSpPr>
          <p:cNvPr id="92" name="文本框 91"/>
          <p:cNvSpPr txBox="1"/>
          <p:nvPr/>
        </p:nvSpPr>
        <p:spPr>
          <a:xfrm>
            <a:off x="8488045" y="4821555"/>
            <a:ext cx="3190875" cy="11684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因为主机发生了故障，</a:t>
            </a:r>
            <a:r>
              <a:rPr lang="en-US" altLang="zh-CN" sz="1400"/>
              <a:t>failover</a:t>
            </a:r>
            <a:r>
              <a:rPr lang="zh-CN" altLang="en-US" sz="1400"/>
              <a:t>时，备机的</a:t>
            </a:r>
            <a:r>
              <a:rPr lang="en-US" altLang="zh-CN" sz="1400"/>
              <a:t>REDO</a:t>
            </a:r>
            <a:r>
              <a:rPr lang="zh-CN" altLang="en-US" sz="1400"/>
              <a:t>可能没有完全与主机同步，从而丢失数据。</a:t>
            </a:r>
            <a:endParaRPr lang="zh-CN" altLang="en-US" sz="1400"/>
          </a:p>
          <a:p>
            <a:r>
              <a:rPr lang="zh-CN" altLang="en-US" sz="1400"/>
              <a:t>所以</a:t>
            </a:r>
            <a:r>
              <a:rPr lang="en-US" altLang="zh-CN" sz="1400"/>
              <a:t>failover</a:t>
            </a:r>
            <a:r>
              <a:rPr lang="zh-CN" altLang="en-US" sz="1400"/>
              <a:t>后重置</a:t>
            </a:r>
            <a:r>
              <a:rPr lang="en-US" altLang="zh-CN" sz="1400"/>
              <a:t>REDO</a:t>
            </a:r>
            <a:r>
              <a:rPr lang="zh-CN" altLang="en-US" sz="1400"/>
              <a:t>时间线，以便区别旧主机和新主机</a:t>
            </a:r>
            <a:r>
              <a:rPr lang="en-US" altLang="zh-CN" sz="1400"/>
              <a:t>REDO</a:t>
            </a:r>
            <a:endParaRPr lang="en-US" altLang="zh-CN" sz="140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7D9BB5D0-35E4-459D-AEF3-FE4D7C45CC19}" type="slidenum">
              <a:rPr lang="zh-CN" altLang="en-US" smtClean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</a:fld>
            <a:endParaRPr lang="zh-CN" altLang="en-US">
              <a:latin typeface="Verdana" panose="020B0604030504040204" charset="0"/>
              <a:ea typeface="微软雅黑" panose="020B0503020204020204" charset="-122"/>
              <a:sym typeface="Verdana" panose="020B06040305040402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Verdana"/>
        <a:font script="Hebr" typeface="Verdana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Verdana"/>
        <a:font script="Hebr" typeface="Verdana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868</Words>
  <Application>WPS 演示</Application>
  <PresentationFormat>宽屏</PresentationFormat>
  <Paragraphs>104</Paragraphs>
  <Slides>3</Slides>
  <Notes>38</Notes>
  <HiddenSlides>0</HiddenSlides>
  <MMClips>0</MMClips>
  <ScaleCrop>false</ScaleCrop>
  <HeadingPairs>
    <vt:vector size="6" baseType="variant">
      <vt:variant>
        <vt:lpstr>已用的字体</vt:lpstr>
      </vt:variant>
      <vt:variant>
        <vt:i4>29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33" baseType="lpstr">
      <vt:lpstr>Arial</vt:lpstr>
      <vt:lpstr>宋体</vt:lpstr>
      <vt:lpstr>Wingdings</vt:lpstr>
      <vt:lpstr>Verdana</vt:lpstr>
      <vt:lpstr>微软雅黑</vt:lpstr>
      <vt:lpstr>FrutigerNext LT Bold</vt:lpstr>
      <vt:lpstr>MS PGothic</vt:lpstr>
      <vt:lpstr>FrutigerNext LT Medium</vt:lpstr>
      <vt:lpstr>黑体</vt:lpstr>
      <vt:lpstr>FrutigerNext LT Regular</vt:lpstr>
      <vt:lpstr>华文细黑</vt:lpstr>
      <vt:lpstr>隶书</vt:lpstr>
      <vt:lpstr>Arial Unicode MS</vt:lpstr>
      <vt:lpstr>Calibri</vt:lpstr>
      <vt:lpstr>HY헤드라인M</vt:lpstr>
      <vt:lpstr>FrutigerNext LT Light</vt:lpstr>
      <vt:lpstr>Wingdings</vt:lpstr>
      <vt:lpstr>FrutigerNext LT Regular</vt:lpstr>
      <vt:lpstr>Arial Narrow</vt:lpstr>
      <vt:lpstr>楷体_GB2312</vt:lpstr>
      <vt:lpstr>Segoe Print</vt:lpstr>
      <vt:lpstr>新宋体</vt:lpstr>
      <vt:lpstr>Times New Roman</vt:lpstr>
      <vt:lpstr>华文仿宋</vt:lpstr>
      <vt:lpstr>华文宋体</vt:lpstr>
      <vt:lpstr>华文行楷</vt:lpstr>
      <vt:lpstr>华文隶书</vt:lpstr>
      <vt:lpstr>幼圆</vt:lpstr>
      <vt:lpstr>微软雅黑 Light</vt:lpstr>
      <vt:lpstr>Office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zhangjh</dc:creator>
  <cp:lastModifiedBy>无情烈火</cp:lastModifiedBy>
  <cp:revision>606</cp:revision>
  <dcterms:created xsi:type="dcterms:W3CDTF">2021-03-09T02:51:00Z</dcterms:created>
  <dcterms:modified xsi:type="dcterms:W3CDTF">2022-08-15T07:17:00Z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2052-10.1.0.7698</vt:lpwstr>
  </property>
  <property fmtid="{D5CDD505-2E9C-101B-9397-08002B2CF9AE}" pid="3" name="ICV">
    <vt:lpwstr>67D5965AE6204E53B456E4BF818AB95C</vt:lpwstr>
  </property>
</Properties>
</file>